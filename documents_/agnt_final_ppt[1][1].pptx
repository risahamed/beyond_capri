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1" r:id="rId5"/>
    <p:sldId id="262" r:id="rId6"/>
    <p:sldId id="263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82" d="100"/>
          <a:sy n="82" d="100"/>
        </p:scale>
        <p:origin x="62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64C76-0F7F-4A93-83F0-70EDC685234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C066A-E34D-4D16-9933-BC26AFC1124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64C76-0F7F-4A93-83F0-70EDC685234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C066A-E34D-4D16-9933-BC26AFC1124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64C76-0F7F-4A93-83F0-70EDC685234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C066A-E34D-4D16-9933-BC26AFC1124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64C76-0F7F-4A93-83F0-70EDC685234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C066A-E34D-4D16-9933-BC26AFC1124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64C76-0F7F-4A93-83F0-70EDC685234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C066A-E34D-4D16-9933-BC26AFC1124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64C76-0F7F-4A93-83F0-70EDC685234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C066A-E34D-4D16-9933-BC26AFC1124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64C76-0F7F-4A93-83F0-70EDC685234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C066A-E34D-4D16-9933-BC26AFC1124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64C76-0F7F-4A93-83F0-70EDC685234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C066A-E34D-4D16-9933-BC26AFC1124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64C76-0F7F-4A93-83F0-70EDC685234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C066A-E34D-4D16-9933-BC26AFC1124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64C76-0F7F-4A93-83F0-70EDC685234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C066A-E34D-4D16-9933-BC26AFC1124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64C76-0F7F-4A93-83F0-70EDC685234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C066A-E34D-4D16-9933-BC26AFC1124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F64C76-0F7F-4A93-83F0-70EDC6852346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DC066A-E34D-4D16-9933-BC26AFC11248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2250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Privacy-Preserving Multi-Agent Task Automation using A2A Collaboration and Pseudonymized Context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999" y="4937854"/>
            <a:ext cx="9144000" cy="1655762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Domain of the Project: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Artificial Intelligence and Data Science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4349" y="33894"/>
            <a:ext cx="1838367" cy="50137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2618298" y="82250"/>
            <a:ext cx="6955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800" b="1" dirty="0">
                <a:latin typeface="Arial" panose="020B0604020202020204"/>
                <a:cs typeface="Arial" panose="020B0604020202020204"/>
              </a:rPr>
              <a:t>DEPARTMENT OF COMPUTER SCIENCE AND ENGINEERING </a:t>
            </a:r>
            <a:endParaRPr lang="en-US" sz="18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1749" y="3149406"/>
            <a:ext cx="6094674" cy="657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b="1" spc="130" dirty="0">
                <a:latin typeface="Arial" panose="020B0604020202020204"/>
                <a:cs typeface="Arial" panose="020B0604020202020204"/>
              </a:rPr>
              <a:t>Name of Students</a:t>
            </a:r>
            <a:r>
              <a:rPr lang="en-IN" sz="1800" spc="-20" dirty="0">
                <a:latin typeface="Arial" panose="020B0604020202020204"/>
                <a:cs typeface="Arial" panose="020B0604020202020204"/>
              </a:rPr>
              <a:t>:  </a:t>
            </a:r>
            <a:r>
              <a:rPr lang="" altLang="en-IN" sz="1800" spc="-20" dirty="0">
                <a:latin typeface="Arial" panose="020B0604020202020204"/>
                <a:cs typeface="Arial" panose="020B0604020202020204"/>
              </a:rPr>
              <a:t>Riswan Ahamed</a:t>
            </a:r>
            <a:r>
              <a:rPr lang="en-IN" sz="1800" spc="-20" dirty="0">
                <a:latin typeface="Arial" panose="020B0604020202020204"/>
                <a:cs typeface="Arial" panose="020B0604020202020204"/>
              </a:rPr>
              <a:t> M</a:t>
            </a:r>
            <a:endParaRPr lang="en-IN" spc="-20" dirty="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20" dirty="0">
                <a:latin typeface="Arial" panose="020B0604020202020204"/>
                <a:cs typeface="Arial" panose="020B0604020202020204"/>
              </a:rPr>
              <a:t>		          </a:t>
            </a:r>
            <a:r>
              <a:rPr lang="" spc="-20" smtClean="0">
                <a:latin typeface="Arial" panose="020B0604020202020204"/>
                <a:cs typeface="Arial" panose="020B0604020202020204"/>
              </a:rPr>
              <a:t>Syed</a:t>
            </a:r>
            <a:r>
              <a:rPr lang="" altLang="en-IN" spc="-20" smtClean="0">
                <a:latin typeface="Arial" panose="020B0604020202020204"/>
                <a:cs typeface="Arial" panose="020B0604020202020204"/>
              </a:rPr>
              <a:t> </a:t>
            </a:r>
            <a:r>
              <a:rPr lang="" altLang="en-IN" spc="-20">
                <a:latin typeface="Arial" panose="020B0604020202020204"/>
                <a:cs typeface="Arial" panose="020B0604020202020204"/>
              </a:rPr>
              <a:t>Abdul </a:t>
            </a:r>
            <a:r>
              <a:rPr lang="" altLang="en-IN" spc="-20" smtClean="0">
                <a:latin typeface="Arial" panose="020B0604020202020204"/>
                <a:cs typeface="Arial" panose="020B0604020202020204"/>
              </a:rPr>
              <a:t>Aziz  </a:t>
            </a:r>
            <a:r>
              <a:rPr lang="" altLang="en-IN" spc="-20" dirty="0">
                <a:latin typeface="Arial" panose="020B0604020202020204"/>
                <a:cs typeface="Arial" panose="020B0604020202020204"/>
              </a:rPr>
              <a:t>Hussaini </a:t>
            </a:r>
            <a:endParaRPr lang="en-IN" spc="-2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28042" y="3149406"/>
            <a:ext cx="6094674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IN" sz="1800" b="1" spc="75" dirty="0">
                <a:latin typeface="Arial" panose="020B0604020202020204"/>
                <a:cs typeface="Arial" panose="020B0604020202020204"/>
              </a:rPr>
              <a:t>Supervisor: </a:t>
            </a:r>
            <a:r>
              <a:rPr lang="en-IN" sz="1800" spc="75" dirty="0">
                <a:latin typeface="Arial" panose="020B0604020202020204"/>
                <a:cs typeface="Arial" panose="020B0604020202020204"/>
              </a:rPr>
              <a:t>Dr.</a:t>
            </a:r>
            <a:r>
              <a:rPr lang="" altLang="en-IN" sz="1800" spc="75" dirty="0">
                <a:latin typeface="Arial" panose="020B0604020202020204"/>
                <a:cs typeface="Arial" panose="020B0604020202020204"/>
              </a:rPr>
              <a:t>R.</a:t>
            </a:r>
            <a:r>
              <a:rPr lang="en-IN" sz="1800" spc="75" dirty="0">
                <a:latin typeface="Arial" panose="020B0604020202020204"/>
                <a:cs typeface="Arial" panose="020B0604020202020204"/>
              </a:rPr>
              <a:t> </a:t>
            </a:r>
            <a:r>
              <a:rPr lang="" altLang="en-IN" sz="1800" spc="75" dirty="0">
                <a:latin typeface="Arial" panose="020B0604020202020204"/>
                <a:cs typeface="Arial" panose="020B0604020202020204"/>
              </a:rPr>
              <a:t>Akila</a:t>
            </a:r>
            <a:endParaRPr lang="en-IN" sz="1800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4349" y="33894"/>
            <a:ext cx="1838367" cy="50137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2618298" y="82250"/>
            <a:ext cx="6955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800" b="1" dirty="0">
                <a:latin typeface="Arial" panose="020B0604020202020204"/>
                <a:cs typeface="Arial" panose="020B0604020202020204"/>
              </a:rPr>
              <a:t>DEPARTMENT OF COMPUTER SCIENCE AND ENGINEERING </a:t>
            </a:r>
            <a:endParaRPr lang="en-US" sz="18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2752" y="815032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ABSTRACT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0359" y="1547815"/>
            <a:ext cx="117512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22655" y="1548130"/>
            <a:ext cx="10121900" cy="50101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AI agents are one of the most powerful tools for automating business tasks. Secure data handling plays a crucial role in enabling their adoption in regulated industries. While existing privacy frameworks like CAPRI rely on simple pseudonymization pipelines, they suffer from 'contextual collapse'</a:t>
            </a:r>
            <a:r>
              <a:rPr lang="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where the AI's reasoning breaks when using fake data.</a:t>
            </a:r>
          </a:p>
          <a:p>
            <a:pPr indent="0" algn="just">
              <a:buFont typeface="Arial" panose="020B0604020202020204" pitchFamily="34" charset="0"/>
              <a:buNone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Our project aims to build a novel Agent-to-Agent (A2A) framework that overcomes this limitation, enabling robust task completion on fully pseudonymized data. It also aims to introduce a 'Coordinator' agent to manage logical context and deploy specialized agents for sub-tasks. This will help businesses securely leverage cloud AI without compromising performance or privacy.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168168" y="89899"/>
            <a:ext cx="5785273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7145" algn="ctr">
              <a:spcBef>
                <a:spcPts val="135"/>
              </a:spcBef>
            </a:pPr>
            <a:r>
              <a:rPr lang="en-GB" sz="1465" b="1" dirty="0">
                <a:latin typeface="Arial" panose="020B0604020202020204"/>
                <a:cs typeface="Arial" panose="020B0604020202020204"/>
              </a:rPr>
              <a:t>DEPARTMENT OF COMPUTER SCIENCE AND ENGINEERING </a:t>
            </a:r>
            <a:endParaRPr lang="en-GB" sz="1465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70427" y="332575"/>
            <a:ext cx="6505049" cy="1007645"/>
          </a:xfrm>
          <a:prstGeom prst="rect">
            <a:avLst/>
          </a:prstGeom>
        </p:spPr>
        <p:txBody>
          <a:bodyPr vert="horz" wrap="square" lIns="0" tIns="449260" rIns="0" bIns="0" rtlCol="0" anchor="ctr">
            <a:spAutoFit/>
          </a:bodyPr>
          <a:lstStyle/>
          <a:p>
            <a:pPr marL="83185">
              <a:lnSpc>
                <a:spcPct val="100000"/>
              </a:lnSpc>
              <a:spcBef>
                <a:spcPts val="135"/>
              </a:spcBef>
            </a:pPr>
            <a:r>
              <a:rPr sz="3600" spc="107" dirty="0"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  <a:r>
              <a:rPr sz="3600" spc="53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600" spc="-13" dirty="0">
                <a:latin typeface="Arial" panose="020B0604020202020204" pitchFamily="34" charset="0"/>
                <a:cs typeface="Arial" panose="020B0604020202020204" pitchFamily="34" charset="0"/>
              </a:rPr>
              <a:t>STATEMENT</a:t>
            </a:r>
            <a:endParaRPr sz="3600" spc="-1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49367" y="6334693"/>
            <a:ext cx="187960" cy="174407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7145">
              <a:spcBef>
                <a:spcPts val="160"/>
              </a:spcBef>
            </a:pPr>
            <a:r>
              <a:rPr sz="1000" b="1" spc="-33" dirty="0">
                <a:latin typeface="Arial" panose="020B0604020202020204"/>
                <a:cs typeface="Arial" panose="020B0604020202020204"/>
              </a:rPr>
              <a:t>0C</a:t>
            </a:r>
            <a:endParaRPr sz="10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2001" y="109668"/>
            <a:ext cx="2451156" cy="66849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370205" y="1505585"/>
            <a:ext cx="11380470" cy="5024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Most AI privacy solutions use simple data redaction (blacking out PII). However, businesses need to use powerful, context-aware cloud-based agent systems to perform complex, multi-step tasks.</a:t>
            </a:r>
          </a:p>
          <a:p>
            <a:pPr indent="0" algn="just">
              <a:buFont typeface="Arial" panose="020B0604020202020204" pitchFamily="34" charset="0"/>
              <a:buNone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When simple redaction or basic pseudonymization is used, the AI's reasoning collapses, as seen in the CAPRI paper's 42% success rate. The main alternative is to run everything locally (on-premise deployment). While being secure, this is extremely expensive</a:t>
            </a:r>
            <a:r>
              <a:rPr lang="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complex to maintain</a:t>
            </a:r>
            <a:r>
              <a:rPr lang="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indent="0" algn="just">
              <a:buFont typeface="Arial" panose="020B0604020202020204" pitchFamily="34" charset="0"/>
              <a:buNone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Our project aims to combine a local "Gatekeeper" agent with a cloud-based "A2A" collaborative agent team into a single system. This system will make high-performance, accurate decisions using fully pseudonymized data. This system could help reduce the need for expensive, complex on-premise-only AI infrastructure.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8843" y="1128023"/>
          <a:ext cx="12251581" cy="56773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55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9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4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8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609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1718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en-IN" sz="1900" spc="5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</a:t>
                      </a:r>
                      <a:endParaRPr sz="1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041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en-IN" sz="1900" spc="1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Author</a:t>
                      </a:r>
                      <a:endParaRPr sz="1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041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en-IN" sz="1900" spc="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</a:t>
                      </a:r>
                      <a:endParaRPr sz="1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041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900" spc="6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Limitatio</a:t>
                      </a:r>
                      <a:r>
                        <a:rPr lang="en-IN" sz="1900" spc="6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r>
                        <a:rPr sz="1900" spc="6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  <a:endParaRPr sz="1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041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lang="en-IN" sz="1900" spc="7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Advantage</a:t>
                      </a:r>
                      <a:endParaRPr sz="1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041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6541">
                <a:tc>
                  <a:txBody>
                    <a:bodyPr/>
                    <a:lstStyle/>
                    <a:p>
                      <a:pPr marL="85725" marR="46990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lang="en-US" altLang="en-US" sz="1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CAPRI: A Context-Aware Privacy Framework for Multi-Agent Generative AI Applications</a:t>
                      </a: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lang="en-US" altLang="en-US" sz="1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Park &amp; Madisetti</a:t>
                      </a: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lang="en-IN" sz="1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2025</a:t>
                      </a:r>
                      <a:endParaRPr sz="1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159385" algn="l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lang="en-US" altLang="en-US" sz="1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en-US" sz="1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paper's own tests show that </a:t>
                      </a:r>
                      <a:r>
                        <a:rPr lang="" altLang="en-US" sz="1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</a:t>
                      </a:r>
                      <a:r>
                        <a:rPr lang="en-US" altLang="en-US" sz="1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full pseudonymization" breaks the AI's reasoning</a:t>
                      </a: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 marR="221615" algn="l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lang="en-US" altLang="en-US" sz="2000" b="0" dirty="0"/>
                        <a:t>It provides the "Gatekeeper" architecture and proves a hybrid local-cloud model is possible for privacy.</a:t>
                      </a:r>
                      <a:r>
                        <a:rPr lang="en-US" sz="2000" b="0" dirty="0"/>
                        <a:t> </a:t>
                      </a:r>
                      <a:endParaRPr sz="19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2985">
                <a:tc>
                  <a:txBody>
                    <a:bodyPr/>
                    <a:lstStyle/>
                    <a:p>
                      <a:pPr marL="85725" marR="25336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lang="en-US" altLang="en-US" sz="1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Semantically-Aware LLM Agent to Enhance Privacy in Conversational AI Services</a:t>
                      </a: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lang="en-US" altLang="en-US" sz="1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Zhang et al.</a:t>
                      </a: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2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</a:t>
                      </a:r>
                      <a:r>
                        <a:rPr lang="" sz="1900" spc="-2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222885" algn="l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lang="en-US" alt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Tries to fix pseudonymization by making the fake data semantically similar</a:t>
                      </a: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 marR="11366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lang="en-US" altLang="en-US" sz="1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Showed that "semantic-aware" pseudonymization is critical, confirming why the CAPRI model failed</a:t>
                      </a: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92985">
                <a:tc>
                  <a:txBody>
                    <a:bodyPr/>
                    <a:lstStyle/>
                    <a:p>
                      <a:pPr marL="85725" marR="46990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lang="en-US" altLang="en-US" sz="1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Enhancing LLM Reasoning Capabilities</a:t>
                      </a: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lang="en-US" altLang="en-US" sz="1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Sheokand</a:t>
                      </a:r>
                      <a:r>
                        <a:rPr lang="en-IN" sz="1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et al.</a:t>
                      </a:r>
                      <a:endParaRPr sz="19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900" spc="-2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</a:t>
                      </a:r>
                      <a:r>
                        <a:rPr lang="" sz="1900" spc="-2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121285" algn="l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lang="en-US" alt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Focuses on fixing reasoning failures in general, but not in the specific, difficult context of privacy-protected or pseudonymized data</a:t>
                      </a:r>
                      <a:r>
                        <a:rPr lang="en-US" altLang="en-US" sz="1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 marR="24130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lang="en-US" alt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Explained how a multi-agent "reflection" or "broker" system can be used to catch and fix reasoning errors, which is key to our A2A design.</a:t>
                      </a: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168168" y="89899"/>
            <a:ext cx="5785273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7145" algn="ctr">
              <a:spcBef>
                <a:spcPts val="135"/>
              </a:spcBef>
            </a:pPr>
            <a:r>
              <a:rPr lang="en-GB" sz="1465" b="1" dirty="0">
                <a:latin typeface="Arial" panose="020B0604020202020204"/>
                <a:cs typeface="Arial" panose="020B0604020202020204"/>
              </a:rPr>
              <a:t>DEPARTMENT OF COMPUTER SCIENCE AND ENGINEERING </a:t>
            </a:r>
            <a:endParaRPr lang="en-GB" sz="1465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549367" y="6334693"/>
            <a:ext cx="191347" cy="174407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7145">
              <a:spcBef>
                <a:spcPts val="160"/>
              </a:spcBef>
            </a:pPr>
            <a:r>
              <a:rPr sz="1000" b="1" spc="-33" dirty="0">
                <a:latin typeface="Arial" panose="020B0604020202020204"/>
                <a:cs typeface="Arial" panose="020B0604020202020204"/>
              </a:rPr>
              <a:t>05</a:t>
            </a:r>
            <a:endParaRPr sz="10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2001" y="109668"/>
            <a:ext cx="2451156" cy="668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365" y="574437"/>
            <a:ext cx="4109720" cy="548933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7145">
              <a:lnSpc>
                <a:spcPct val="100000"/>
              </a:lnSpc>
              <a:spcBef>
                <a:spcPts val="120"/>
              </a:spcBef>
            </a:pPr>
            <a:r>
              <a:rPr sz="3465" spc="73" dirty="0"/>
              <a:t>PROPOSED</a:t>
            </a:r>
            <a:r>
              <a:rPr sz="3465" spc="47" dirty="0"/>
              <a:t> </a:t>
            </a:r>
            <a:r>
              <a:rPr sz="3465" spc="-27" dirty="0"/>
              <a:t>WORK</a:t>
            </a:r>
            <a:endParaRPr sz="3465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966237" y="1390650"/>
          <a:ext cx="8849360" cy="59196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49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0307">
                <a:tc>
                  <a:txBody>
                    <a:bodyPr/>
                    <a:lstStyle/>
                    <a:p>
                      <a:pPr marL="85725" marR="298450" indent="40640" algn="l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lang="en-US" altLang="en-US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 design a multi-agent framework that successfully executes complex tasks by combining a local, privacy-preserving "Gatekeeper Agent" with a powerful cloud-based "Agent-to-Agent (A2A) Team</a:t>
                      </a:r>
                    </a:p>
                  </a:txBody>
                  <a:tcPr marL="0" marR="0" marT="1066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0307">
                <a:tc>
                  <a:txBody>
                    <a:bodyPr/>
                    <a:lstStyle/>
                    <a:p>
                      <a:pPr marL="371475" marR="571500" indent="-285750">
                        <a:lnSpc>
                          <a:spcPct val="100000"/>
                        </a:lnSpc>
                        <a:spcBef>
                          <a:spcPts val="63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 prompt containing private data (PII) (e.g., "Pay Amy Johnson $50").</a:t>
                      </a:r>
                    </a:p>
                    <a:p>
                      <a:pPr marL="371475" marR="571500" indent="-285750">
                        <a:lnSpc>
                          <a:spcPct val="100000"/>
                        </a:lnSpc>
                        <a:spcBef>
                          <a:spcPts val="63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Pseudonymized task data (e.g., "Pay User-72b $50").</a:t>
                      </a:r>
                    </a:p>
                    <a:p>
                      <a:pPr marL="371475" marR="571500" indent="-285750">
                        <a:lnSpc>
                          <a:spcPct val="100000"/>
                        </a:lnSpc>
                        <a:spcBef>
                          <a:spcPts val="63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Access to external tools and APIs (e.g., Venmo, calendar, or healthcare APIs).</a:t>
                      </a:r>
                    </a:p>
                  </a:txBody>
                  <a:tcPr marL="0" marR="0" marT="1066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3709">
                <a:tc>
                  <a:txBody>
                    <a:bodyPr/>
                    <a:lstStyle/>
                    <a:p>
                      <a:pPr marL="371475" marR="10795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3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en-US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Successful task completion (e.g., the payment is sent to Amy Johnson).</a:t>
                      </a:r>
                    </a:p>
                    <a:p>
                      <a:pPr marL="371475" marR="107950" indent="-285750">
                        <a:lnSpc>
                          <a:spcPct val="100000"/>
                        </a:lnSpc>
                        <a:spcBef>
                          <a:spcPts val="63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final confirmation/report for the user.</a:t>
                      </a:r>
                    </a:p>
                    <a:p>
                      <a:pPr marL="371475" marR="107950" indent="-285750">
                        <a:lnSpc>
                          <a:spcPct val="100000"/>
                        </a:lnSpc>
                        <a:spcBef>
                          <a:spcPts val="63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privacy/security trace (proving that only pseudonymized data was sent to the cloud).</a:t>
                      </a:r>
                    </a:p>
                  </a:txBody>
                  <a:tcPr marL="0" marR="0" marT="1066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5298">
                <a:tc>
                  <a:txBody>
                    <a:bodyPr/>
                    <a:lstStyle/>
                    <a:p>
                      <a:pPr marL="85725" marR="34480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lang="en-US" altLang="en-US" sz="15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Our model runs on a Multi-Agent Architecture. A local "Gatekeeper Agent" first intercepts the prompt and performs pseudonymization. The task is then sent to a cloud-based "Coordinator Agent" which manages the logical context and dispatches sub-tasks to a collaborative A2A (Agent-to-Agent) team (e.g., Search Agent, Planning Agent) which are designed to reason only on the fake data.</a:t>
                      </a:r>
                    </a:p>
                  </a:txBody>
                  <a:tcPr marL="0" marR="0" marT="1066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297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 create a secure AI framework that solves the "privacy vs. performance" trade-off.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 integrate a local, secure environment with a powerful, state-of-the-art cloud AI.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5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 explore the use of A2A collaboration to solve the "contextual collapse" problem</a:t>
                      </a:r>
                    </a:p>
                  </a:txBody>
                  <a:tcPr marL="0" marR="0" marT="10668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789232" y="5716247"/>
            <a:ext cx="925407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7145" algn="r" defTabSz="1219200">
              <a:spcBef>
                <a:spcPts val="135"/>
              </a:spcBef>
              <a:defRPr/>
            </a:pPr>
            <a:r>
              <a:rPr sz="2135" b="1" kern="0" spc="100" dirty="0">
                <a:solidFill>
                  <a:sysClr val="windowText" lastClr="000000"/>
                </a:solidFill>
                <a:latin typeface="Arial" panose="020B0604020202020204"/>
                <a:cs typeface="Arial" panose="020B0604020202020204"/>
              </a:rPr>
              <a:t>Scop</a:t>
            </a:r>
            <a:r>
              <a:rPr lang="en-IN" sz="2135" b="1" kern="0" spc="100" dirty="0">
                <a:solidFill>
                  <a:sysClr val="windowText" lastClr="000000"/>
                </a:solidFill>
                <a:latin typeface="Arial" panose="020B0604020202020204"/>
                <a:cs typeface="Arial" panose="020B0604020202020204"/>
              </a:rPr>
              <a:t>e</a:t>
            </a:r>
            <a:endParaRPr sz="2135" kern="0" dirty="0">
              <a:solidFill>
                <a:sysClr val="windowText" lastClr="00000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68168" y="89899"/>
            <a:ext cx="5785273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7145" algn="ctr">
              <a:spcBef>
                <a:spcPts val="135"/>
              </a:spcBef>
            </a:pPr>
            <a:r>
              <a:rPr lang="en-GB" sz="1465" b="1" dirty="0">
                <a:latin typeface="Arial" panose="020B0604020202020204"/>
                <a:cs typeface="Arial" panose="020B0604020202020204"/>
              </a:rPr>
              <a:t>DEPARTMENT OF COMPUTER SCIENCE AND ENGINEERING </a:t>
            </a:r>
            <a:endParaRPr lang="en-GB" sz="1465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549367" y="6334693"/>
            <a:ext cx="185420" cy="174407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7145" defTabSz="1219200">
              <a:spcBef>
                <a:spcPts val="160"/>
              </a:spcBef>
              <a:defRPr/>
            </a:pPr>
            <a:r>
              <a:rPr sz="1000" b="1" kern="0" spc="-33" dirty="0">
                <a:solidFill>
                  <a:sysClr val="windowText" lastClr="000000"/>
                </a:solidFill>
                <a:latin typeface="Arial" panose="020B0604020202020204"/>
                <a:cs typeface="Arial" panose="020B0604020202020204"/>
              </a:rPr>
              <a:t>06</a:t>
            </a:r>
            <a:endParaRPr sz="1000" kern="0">
              <a:solidFill>
                <a:sysClr val="windowText" lastClr="00000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5"/>
          <p:cNvSpPr txBox="1"/>
          <p:nvPr/>
        </p:nvSpPr>
        <p:spPr>
          <a:xfrm>
            <a:off x="32948" y="4512306"/>
            <a:ext cx="2681691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7145" algn="r" defTabSz="1219200">
              <a:spcBef>
                <a:spcPts val="135"/>
              </a:spcBef>
              <a:defRPr/>
            </a:pPr>
            <a:r>
              <a:rPr lang="en-IN" sz="2135" b="1" kern="0" spc="100" dirty="0">
                <a:solidFill>
                  <a:sysClr val="windowText" lastClr="000000"/>
                </a:solidFill>
                <a:latin typeface="Arial" panose="020B0604020202020204"/>
                <a:cs typeface="Arial" panose="020B0604020202020204"/>
              </a:rPr>
              <a:t>Algorithm Used</a:t>
            </a:r>
            <a:endParaRPr sz="2135" kern="0" dirty="0">
              <a:solidFill>
                <a:sysClr val="windowText" lastClr="00000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5"/>
          <p:cNvSpPr txBox="1"/>
          <p:nvPr/>
        </p:nvSpPr>
        <p:spPr>
          <a:xfrm>
            <a:off x="1252150" y="3256335"/>
            <a:ext cx="1462489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7145" algn="r" defTabSz="1219200">
              <a:spcBef>
                <a:spcPts val="135"/>
              </a:spcBef>
              <a:defRPr/>
            </a:pPr>
            <a:r>
              <a:rPr lang="en-IN" sz="2135" b="1" spc="100" dirty="0">
                <a:latin typeface="Arial" panose="020B0604020202020204"/>
                <a:cs typeface="Arial" panose="020B0604020202020204"/>
              </a:rPr>
              <a:t>Output</a:t>
            </a:r>
            <a:endParaRPr sz="2135" kern="0" dirty="0">
              <a:solidFill>
                <a:sysClr val="windowText" lastClr="00000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5"/>
          <p:cNvSpPr txBox="1"/>
          <p:nvPr/>
        </p:nvSpPr>
        <p:spPr>
          <a:xfrm>
            <a:off x="1756283" y="2225059"/>
            <a:ext cx="925407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7145" algn="r" defTabSz="1219200">
              <a:spcBef>
                <a:spcPts val="135"/>
              </a:spcBef>
              <a:defRPr/>
            </a:pPr>
            <a:r>
              <a:rPr lang="en-IN" sz="2135" b="1" kern="0" spc="100" dirty="0">
                <a:solidFill>
                  <a:sysClr val="windowText" lastClr="000000"/>
                </a:solidFill>
                <a:latin typeface="Arial" panose="020B0604020202020204"/>
                <a:cs typeface="Arial" panose="020B0604020202020204"/>
              </a:rPr>
              <a:t>Input</a:t>
            </a:r>
            <a:endParaRPr sz="2135" kern="0" dirty="0">
              <a:solidFill>
                <a:sysClr val="windowText" lastClr="00000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5"/>
          <p:cNvSpPr txBox="1"/>
          <p:nvPr/>
        </p:nvSpPr>
        <p:spPr>
          <a:xfrm>
            <a:off x="376404" y="1541785"/>
            <a:ext cx="2329712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7145" algn="r" defTabSz="1219200">
              <a:spcBef>
                <a:spcPts val="135"/>
              </a:spcBef>
              <a:defRPr/>
            </a:pPr>
            <a:r>
              <a:rPr lang="en-IN" sz="2135" b="1" kern="0" spc="100" dirty="0">
                <a:solidFill>
                  <a:sysClr val="windowText" lastClr="000000"/>
                </a:solidFill>
                <a:latin typeface="Arial" panose="020B0604020202020204"/>
                <a:cs typeface="Arial" panose="020B0604020202020204"/>
              </a:rPr>
              <a:t>Objective</a:t>
            </a:r>
            <a:endParaRPr sz="2135" kern="0" dirty="0">
              <a:solidFill>
                <a:sysClr val="windowText" lastClr="000000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2001" y="109668"/>
            <a:ext cx="2451156" cy="668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099" y="553137"/>
            <a:ext cx="4287520" cy="548933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7145">
              <a:lnSpc>
                <a:spcPct val="100000"/>
              </a:lnSpc>
              <a:spcBef>
                <a:spcPts val="120"/>
              </a:spcBef>
            </a:pPr>
            <a:r>
              <a:rPr sz="3465" dirty="0"/>
              <a:t>REFERENCE</a:t>
            </a:r>
            <a:r>
              <a:rPr sz="3465" spc="260" dirty="0"/>
              <a:t> </a:t>
            </a:r>
            <a:r>
              <a:rPr sz="3465" spc="-27" dirty="0"/>
              <a:t>WORK</a:t>
            </a:r>
            <a:endParaRPr sz="3465"/>
          </a:p>
        </p:txBody>
      </p:sp>
      <p:sp>
        <p:nvSpPr>
          <p:cNvPr id="3" name="object 3"/>
          <p:cNvSpPr txBox="1"/>
          <p:nvPr/>
        </p:nvSpPr>
        <p:spPr>
          <a:xfrm>
            <a:off x="831401" y="1559363"/>
            <a:ext cx="10653607" cy="509270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60045" marR="213360" indent="-342900">
              <a:lnSpc>
                <a:spcPct val="1150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Sheokand, T., Jain, G., Bahga, A., &amp; Madisetti, V. K. (2025). Enhancing LLM Reasoning Capabilities Through Brokered Multi-Expert Reflection. IEEE Access, 13, 67993-68019.</a:t>
            </a:r>
          </a:p>
          <a:p>
            <a:pPr marL="360045" marR="213360" indent="-342900">
              <a:lnSpc>
                <a:spcPct val="1150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Zhou, Y., et al. (2024). LLM Multi-Agent Systems: Challenges and Open Problems. arXiv:2402.03578. </a:t>
            </a:r>
          </a:p>
          <a:p>
            <a:pPr marL="360045" marR="213360" indent="-342900">
              <a:lnSpc>
                <a:spcPct val="1150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Zhang, Y., et al. (2025). Semantically-Aware LLM Agent to Enhance Privacy in Conversational AI Services. arXiv:2510.27016.</a:t>
            </a:r>
          </a:p>
          <a:p>
            <a:pPr marL="360045" marR="213360" indent="-342900">
              <a:lnSpc>
                <a:spcPct val="1150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Park, J. H., &amp; Madisetti, V. K. (2025). CAPRI: A Context-Aware Privacy Framework for Multi-Agent Generative AI Applications. IEEE Access, 13, 43168-43177.</a:t>
            </a:r>
          </a:p>
          <a:p>
            <a:pPr marL="360045" marR="213360" indent="-342900">
              <a:lnSpc>
                <a:spcPct val="1150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Shao, R., et al. (2025). Towards Realistic Privacy Mitigation and Evaluation for LLM-Powered Agents. arXiv:2509.17488.</a:t>
            </a:r>
          </a:p>
          <a:p>
            <a:pPr marL="360045" marR="213360" indent="-342900">
              <a:lnSpc>
                <a:spcPct val="1150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Shah, S., &amp; Madisetti, V. K. (2025). MAD-CTI: Cyber Threat Intelligence Analysis of the Dark Web Using a Multi-Agent Framework. IEEE Access, 13, 40158-40168.</a:t>
            </a:r>
          </a:p>
          <a:p>
            <a:pPr marL="360045" marR="213360" indent="-342900">
              <a:lnSpc>
                <a:spcPct val="1150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" marR="213360">
              <a:lnSpc>
                <a:spcPct val="115000"/>
              </a:lnSpc>
              <a:spcBef>
                <a:spcPts val="135"/>
              </a:spcBef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68168" y="89899"/>
            <a:ext cx="5785273" cy="2428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7145" algn="ctr">
              <a:spcBef>
                <a:spcPts val="135"/>
              </a:spcBef>
            </a:pPr>
            <a:r>
              <a:rPr lang="en-GB" sz="1465" b="1" dirty="0">
                <a:latin typeface="Arial" panose="020B0604020202020204"/>
                <a:cs typeface="Arial" panose="020B0604020202020204"/>
              </a:rPr>
              <a:t>DEPARTMENT OF COMPUTER SCIENCE AND ENGINEERING </a:t>
            </a:r>
            <a:endParaRPr lang="en-GB" sz="1465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49367" y="6334693"/>
            <a:ext cx="173567" cy="174407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7145">
              <a:spcBef>
                <a:spcPts val="160"/>
              </a:spcBef>
            </a:pPr>
            <a:r>
              <a:rPr sz="1000" b="1" spc="-33" dirty="0">
                <a:latin typeface="Arial" panose="020B0604020202020204"/>
                <a:cs typeface="Arial" panose="020B0604020202020204"/>
              </a:rPr>
              <a:t>07</a:t>
            </a:r>
            <a:endParaRPr sz="10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2001" y="109668"/>
            <a:ext cx="2451156" cy="668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7399" y="2907012"/>
            <a:ext cx="1828800" cy="145324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2792185" y="775606"/>
            <a:ext cx="6221185" cy="14043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3643680" y="3308172"/>
            <a:ext cx="1224644" cy="1143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5793919" y="3406446"/>
            <a:ext cx="1273629" cy="1143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3554653" y="5456676"/>
            <a:ext cx="3526972" cy="117565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9976757" y="3233583"/>
            <a:ext cx="1894114" cy="8001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9914163" y="3402801"/>
            <a:ext cx="19567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 err="1" smtClean="0"/>
              <a:t>OpenAI</a:t>
            </a:r>
            <a:r>
              <a:rPr lang="en-IN" sz="2000" dirty="0" smtClean="0"/>
              <a:t> / </a:t>
            </a:r>
            <a:r>
              <a:rPr lang="en-IN" sz="2000" dirty="0" err="1" smtClean="0"/>
              <a:t>Groq</a:t>
            </a:r>
            <a:endParaRPr lang="en-IN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583413" y="3387413"/>
            <a:ext cx="1828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 smtClean="0"/>
              <a:t>End User</a:t>
            </a:r>
            <a:endParaRPr lang="en-IN" sz="2200" dirty="0"/>
          </a:p>
        </p:txBody>
      </p:sp>
      <p:sp>
        <p:nvSpPr>
          <p:cNvPr id="12" name="TextBox 11"/>
          <p:cNvSpPr txBox="1"/>
          <p:nvPr/>
        </p:nvSpPr>
        <p:spPr>
          <a:xfrm>
            <a:off x="3680732" y="800100"/>
            <a:ext cx="33868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/>
              <a:t>Llama 3.1 </a:t>
            </a:r>
            <a:r>
              <a:rPr lang="en-IN" sz="2000" dirty="0" err="1" smtClean="0"/>
              <a:t>Pseudonymization</a:t>
            </a:r>
            <a:endParaRPr lang="en-IN" sz="2000" dirty="0"/>
          </a:p>
        </p:txBody>
      </p:sp>
      <p:sp>
        <p:nvSpPr>
          <p:cNvPr id="13" name="TextBox 12"/>
          <p:cNvSpPr txBox="1"/>
          <p:nvPr/>
        </p:nvSpPr>
        <p:spPr>
          <a:xfrm>
            <a:off x="2745609" y="1603667"/>
            <a:ext cx="179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Entity Detection</a:t>
            </a:r>
            <a:endParaRPr lang="en-IN" dirty="0"/>
          </a:p>
        </p:txBody>
      </p:sp>
      <p:sp>
        <p:nvSpPr>
          <p:cNvPr id="16" name="Rectangle 15"/>
          <p:cNvSpPr/>
          <p:nvPr/>
        </p:nvSpPr>
        <p:spPr>
          <a:xfrm>
            <a:off x="4995027" y="1625927"/>
            <a:ext cx="16156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Entity Mapping</a:t>
            </a:r>
            <a:endParaRPr lang="en-IN" dirty="0"/>
          </a:p>
        </p:txBody>
      </p:sp>
      <p:sp>
        <p:nvSpPr>
          <p:cNvPr id="17" name="Rectangle 16"/>
          <p:cNvSpPr/>
          <p:nvPr/>
        </p:nvSpPr>
        <p:spPr>
          <a:xfrm>
            <a:off x="7248058" y="1605927"/>
            <a:ext cx="18988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err="1" smtClean="0"/>
              <a:t>Pseudonymization</a:t>
            </a:r>
            <a:endParaRPr lang="en-IN" dirty="0"/>
          </a:p>
        </p:txBody>
      </p:sp>
      <p:sp>
        <p:nvSpPr>
          <p:cNvPr id="19" name="Right Arrow 18"/>
          <p:cNvSpPr/>
          <p:nvPr/>
        </p:nvSpPr>
        <p:spPr>
          <a:xfrm>
            <a:off x="4357630" y="1657256"/>
            <a:ext cx="687585" cy="291673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ight Arrow 19"/>
          <p:cNvSpPr/>
          <p:nvPr/>
        </p:nvSpPr>
        <p:spPr>
          <a:xfrm>
            <a:off x="6610660" y="1663291"/>
            <a:ext cx="640274" cy="331967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Down Arrow 21"/>
          <p:cNvSpPr/>
          <p:nvPr/>
        </p:nvSpPr>
        <p:spPr>
          <a:xfrm>
            <a:off x="4701422" y="2179863"/>
            <a:ext cx="1454449" cy="873580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/>
          <p:cNvSpPr/>
          <p:nvPr/>
        </p:nvSpPr>
        <p:spPr>
          <a:xfrm>
            <a:off x="3662282" y="3676013"/>
            <a:ext cx="11142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Data Base</a:t>
            </a:r>
            <a:endParaRPr lang="en-IN" dirty="0"/>
          </a:p>
        </p:txBody>
      </p:sp>
      <p:sp>
        <p:nvSpPr>
          <p:cNvPr id="24" name="Rectangle 23"/>
          <p:cNvSpPr/>
          <p:nvPr/>
        </p:nvSpPr>
        <p:spPr>
          <a:xfrm>
            <a:off x="5793919" y="3633634"/>
            <a:ext cx="13764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/>
              <a:t>Gateway API</a:t>
            </a:r>
            <a:endParaRPr lang="en-IN" dirty="0"/>
          </a:p>
        </p:txBody>
      </p:sp>
      <p:sp>
        <p:nvSpPr>
          <p:cNvPr id="25" name="Rectangle 24"/>
          <p:cNvSpPr/>
          <p:nvPr/>
        </p:nvSpPr>
        <p:spPr>
          <a:xfrm>
            <a:off x="4449439" y="5818490"/>
            <a:ext cx="1737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Re-Identification</a:t>
            </a:r>
            <a:endParaRPr lang="en-IN" dirty="0"/>
          </a:p>
        </p:txBody>
      </p:sp>
      <p:sp>
        <p:nvSpPr>
          <p:cNvPr id="26" name="Down Arrow 25"/>
          <p:cNvSpPr/>
          <p:nvPr/>
        </p:nvSpPr>
        <p:spPr>
          <a:xfrm rot="10800000">
            <a:off x="4590913" y="4575374"/>
            <a:ext cx="1454449" cy="873580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Left-Right Arrow 26"/>
          <p:cNvSpPr/>
          <p:nvPr/>
        </p:nvSpPr>
        <p:spPr>
          <a:xfrm>
            <a:off x="2116199" y="3387413"/>
            <a:ext cx="1263815" cy="800100"/>
          </a:xfrm>
          <a:prstGeom prst="left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Left-Right Arrow 27"/>
          <p:cNvSpPr/>
          <p:nvPr/>
        </p:nvSpPr>
        <p:spPr>
          <a:xfrm>
            <a:off x="8416928" y="3337254"/>
            <a:ext cx="1263815" cy="800100"/>
          </a:xfrm>
          <a:prstGeom prst="left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/>
          <p:cNvSpPr txBox="1"/>
          <p:nvPr/>
        </p:nvSpPr>
        <p:spPr>
          <a:xfrm>
            <a:off x="2792185" y="228600"/>
            <a:ext cx="62211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 smtClean="0"/>
              <a:t>Corporate </a:t>
            </a:r>
            <a:r>
              <a:rPr lang="en-IN" sz="2200" b="1" dirty="0" err="1" smtClean="0"/>
              <a:t>Enviorment</a:t>
            </a:r>
            <a:r>
              <a:rPr lang="en-IN" sz="2200" b="1" dirty="0" smtClean="0"/>
              <a:t> (Local Pipeline 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30595" y="1603667"/>
            <a:ext cx="26364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 smtClean="0"/>
              <a:t>Cloud </a:t>
            </a:r>
            <a:r>
              <a:rPr lang="en-IN" sz="2200" b="1" dirty="0" err="1" smtClean="0"/>
              <a:t>Enviorment</a:t>
            </a:r>
            <a:r>
              <a:rPr lang="en-IN" sz="2200" b="1" dirty="0" smtClean="0"/>
              <a:t> (Third party LLM Pipeline 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13370" y="6059343"/>
            <a:ext cx="26639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Proposed Architecture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532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945</Words>
  <Application>Microsoft Office PowerPoint</Application>
  <PresentationFormat>Widescreen</PresentationFormat>
  <Paragraphs>81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Privacy-Preserving Multi-Agent Task Automation using A2A Collaboration and Pseudonymized Context</vt:lpstr>
      <vt:lpstr>PowerPoint Presentation</vt:lpstr>
      <vt:lpstr>PROBLEM STATEMENT</vt:lpstr>
      <vt:lpstr>PowerPoint Presentation</vt:lpstr>
      <vt:lpstr>PROPOSED WORK</vt:lpstr>
      <vt:lpstr>REFERENCE WORK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Privacy-Preserving Multi-Agent Task Automation using A2A Collaboration and Pseudonymized Context</dc:title>
  <dc:creator>Hassan Mohammed</dc:creator>
  <cp:lastModifiedBy>Syed Abdul Aziz</cp:lastModifiedBy>
  <cp:revision>12</cp:revision>
  <dcterms:created xsi:type="dcterms:W3CDTF">2025-11-09T09:07:00Z</dcterms:created>
  <dcterms:modified xsi:type="dcterms:W3CDTF">2025-11-11T04:13:52Z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D75E13F4C2CF401F84D025679C23A685_13</vt:lpwstr>
  </property>
  <property fmtid="{D5CDD505-2E9C-101B-9397-08002B2CF9AE}" pid="3" name="KSOProductBuildVer">
    <vt:lpwstr>1033-12.2.0.23155</vt:lpwstr>
  </property>
</Properties>
</file>