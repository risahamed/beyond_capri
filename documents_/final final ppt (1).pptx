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4" r:id="rId7"/>
    <p:sldId id="266" r:id="rId8"/>
    <p:sldId id="261" r:id="rId9"/>
    <p:sldId id="268" r:id="rId10"/>
    <p:sldId id="290" r:id="rId11"/>
    <p:sldId id="269" r:id="rId12"/>
    <p:sldId id="294" r:id="rId13"/>
    <p:sldId id="295" r:id="rId14"/>
    <p:sldId id="275" r:id="rId15"/>
    <p:sldId id="301" r:id="rId16"/>
    <p:sldId id="302" r:id="rId17"/>
    <p:sldId id="303" r:id="rId18"/>
    <p:sldId id="291" r:id="rId19"/>
    <p:sldId id="298" r:id="rId20"/>
    <p:sldId id="296" r:id="rId21"/>
    <p:sldId id="299" r:id="rId22"/>
    <p:sldId id="297" r:id="rId23"/>
    <p:sldId id="300" r:id="rId24"/>
    <p:sldId id="286" r:id="rId25"/>
    <p:sldId id="283" r:id="rId26"/>
    <p:sldId id="287" r:id="rId27"/>
    <p:sldId id="262" r:id="rId28"/>
    <p:sldId id="267" r:id="rId29"/>
    <p:sldId id="288" r:id="rId30"/>
    <p:sldId id="289" r:id="rId31"/>
  </p:sldIdLst>
  <p:sldSz cx="9144000" cy="5143500" type="screen16x9"/>
  <p:notesSz cx="6858000" cy="9144000"/>
  <p:embeddedFontLst>
    <p:embeddedFont>
      <p:font typeface="Calibri" panose="020F0502020204030204" pitchFamily="34" charset="0"/>
      <p:regular r:id="rId33"/>
      <p:bold r:id="rId34"/>
      <p:italic r:id="rId35"/>
      <p:boldItalic r:id="rId36"/>
    </p:embeddedFont>
    <p:embeddedFont>
      <p:font typeface="Comfortaa" panose="020F050202020403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2E5AC8-D1FD-4F38-99A3-E05809E0F263}">
  <a:tblStyle styleId="{962E5AC8-D1FD-4F38-99A3-E05809E0F26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60"/>
    <p:restoredTop sz="92105"/>
  </p:normalViewPr>
  <p:slideViewPr>
    <p:cSldViewPr snapToGrid="0">
      <p:cViewPr varScale="1">
        <p:scale>
          <a:sx n="141" d="100"/>
          <a:sy n="141" d="100"/>
        </p:scale>
        <p:origin x="48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9630aa68a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630aa68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9630aa68a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9630aa68a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9630aa68a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9630aa68a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9630aa68a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9630aa68a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9630aa68a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9630aa68a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0616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9630aa68a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9630aa68a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3939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0703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3205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561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28398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4074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1910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4918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5650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823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26587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08733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6730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6424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6839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1646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28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13168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630aa68a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630aa68a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1318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9630aa68a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9630aa68a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9630aa68a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9630aa68a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53822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9630aa68a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9630aa68a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967824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9630aa68a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9630aa68a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sssss</a:t>
            </a:r>
            <a:endParaRPr dirty="0"/>
          </a:p>
        </p:txBody>
      </p:sp>
    </p:spTree>
    <p:extLst>
      <p:ext uri="{BB962C8B-B14F-4D97-AF65-F5344CB8AC3E}">
        <p14:creationId xmlns:p14="http://schemas.microsoft.com/office/powerpoint/2010/main" val="223059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429600" y="1110075"/>
            <a:ext cx="8336100" cy="1551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latin typeface="+mj-lt"/>
              </a:rPr>
              <a:t>Speech Emotion Recognition using</a:t>
            </a:r>
          </a:p>
          <a:p>
            <a:pPr marL="0" lvl="0" indent="0" algn="ctr" rtl="0">
              <a:spcBef>
                <a:spcPts val="0"/>
              </a:spcBef>
              <a:spcAft>
                <a:spcPts val="0"/>
              </a:spcAft>
              <a:buNone/>
            </a:pPr>
            <a:r>
              <a:rPr lang="en-IN" b="1" dirty="0">
                <a:latin typeface="+mj-lt"/>
              </a:rPr>
              <a:t> Constant-Q Transform and RNN</a:t>
            </a:r>
            <a:endParaRPr b="1" dirty="0">
              <a:latin typeface="+mj-lt"/>
              <a:ea typeface="Comfortaa"/>
              <a:cs typeface="Comfortaa"/>
              <a:sym typeface="Comfortaa"/>
            </a:endParaRPr>
          </a:p>
        </p:txBody>
      </p:sp>
      <p:sp>
        <p:nvSpPr>
          <p:cNvPr id="55" name="Google Shape;55;p13"/>
          <p:cNvSpPr txBox="1">
            <a:spLocks noGrp="1"/>
          </p:cNvSpPr>
          <p:nvPr>
            <p:ph type="subTitle" idx="1"/>
          </p:nvPr>
        </p:nvSpPr>
        <p:spPr>
          <a:xfrm>
            <a:off x="701300" y="2571750"/>
            <a:ext cx="4007400" cy="1612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1600" b="1" dirty="0">
                <a:latin typeface="Comfortaa"/>
                <a:ea typeface="Comfortaa"/>
                <a:cs typeface="Comfortaa"/>
                <a:sym typeface="Comfortaa"/>
              </a:rPr>
              <a:t>Name of students:</a:t>
            </a:r>
            <a:endParaRPr sz="1600" b="1" dirty="0">
              <a:latin typeface="Comfortaa"/>
              <a:ea typeface="Comfortaa"/>
              <a:cs typeface="Comfortaa"/>
              <a:sym typeface="Comfortaa"/>
            </a:endParaRPr>
          </a:p>
          <a:p>
            <a:pPr marL="0" lvl="0" indent="0" algn="ctr" rtl="0">
              <a:spcBef>
                <a:spcPts val="0"/>
              </a:spcBef>
              <a:spcAft>
                <a:spcPts val="0"/>
              </a:spcAft>
              <a:buNone/>
            </a:pPr>
            <a:endParaRPr sz="1600" dirty="0">
              <a:latin typeface="Comfortaa"/>
              <a:ea typeface="Comfortaa"/>
              <a:cs typeface="Comfortaa"/>
              <a:sym typeface="Comfortaa"/>
            </a:endParaRPr>
          </a:p>
          <a:p>
            <a:pPr marL="0" lvl="0" indent="0" algn="ctr" rtl="0">
              <a:spcBef>
                <a:spcPts val="0"/>
              </a:spcBef>
              <a:spcAft>
                <a:spcPts val="0"/>
              </a:spcAft>
              <a:buNone/>
            </a:pPr>
            <a:r>
              <a:rPr lang="en-GB" sz="1400" dirty="0">
                <a:latin typeface="Comfortaa"/>
                <a:ea typeface="Comfortaa"/>
                <a:cs typeface="Comfortaa"/>
                <a:sym typeface="Comfortaa"/>
              </a:rPr>
              <a:t>SALMAN FARIS SYED: 210071601160</a:t>
            </a:r>
            <a:endParaRPr sz="1400" dirty="0">
              <a:latin typeface="Comfortaa"/>
              <a:ea typeface="Comfortaa"/>
              <a:cs typeface="Comfortaa"/>
              <a:sym typeface="Comfortaa"/>
            </a:endParaRPr>
          </a:p>
          <a:p>
            <a:pPr marL="0" lvl="0" indent="0" algn="ctr" rtl="0">
              <a:spcBef>
                <a:spcPts val="0"/>
              </a:spcBef>
              <a:spcAft>
                <a:spcPts val="0"/>
              </a:spcAft>
              <a:buNone/>
            </a:pPr>
            <a:r>
              <a:rPr lang="en-GB" sz="1400" dirty="0">
                <a:latin typeface="Comfortaa"/>
                <a:ea typeface="Comfortaa"/>
                <a:cs typeface="Comfortaa"/>
                <a:sym typeface="Comfortaa"/>
              </a:rPr>
              <a:t>MOHAMMED ZAHAAN K : 210071601130 </a:t>
            </a:r>
            <a:endParaRPr sz="1400" dirty="0">
              <a:latin typeface="Comfortaa"/>
              <a:ea typeface="Comfortaa"/>
              <a:cs typeface="Comfortaa"/>
              <a:sym typeface="Comfortaa"/>
            </a:endParaRPr>
          </a:p>
        </p:txBody>
      </p:sp>
      <p:sp>
        <p:nvSpPr>
          <p:cNvPr id="56" name="Google Shape;56;p13"/>
          <p:cNvSpPr txBox="1">
            <a:spLocks noGrp="1"/>
          </p:cNvSpPr>
          <p:nvPr>
            <p:ph type="subTitle" idx="1"/>
          </p:nvPr>
        </p:nvSpPr>
        <p:spPr>
          <a:xfrm>
            <a:off x="5093425" y="2571750"/>
            <a:ext cx="3622800" cy="1235700"/>
          </a:xfrm>
          <a:prstGeom prst="rect">
            <a:avLst/>
          </a:prstGeom>
        </p:spPr>
        <p:txBody>
          <a:bodyPr spcFirstLastPara="1" wrap="square" lIns="91425" tIns="91425" rIns="91425" bIns="91425" anchor="t" anchorCtr="0">
            <a:normAutofit/>
          </a:bodyPr>
          <a:lstStyle/>
          <a:p>
            <a:pPr marL="0" lvl="0" indent="0" algn="ctr" rtl="0">
              <a:lnSpc>
                <a:spcPct val="80000"/>
              </a:lnSpc>
              <a:spcBef>
                <a:spcPts val="0"/>
              </a:spcBef>
              <a:spcAft>
                <a:spcPts val="0"/>
              </a:spcAft>
              <a:buNone/>
            </a:pPr>
            <a:r>
              <a:rPr lang="en-GB" sz="1600" b="1" dirty="0">
                <a:latin typeface="Comfortaa"/>
                <a:ea typeface="Comfortaa"/>
                <a:cs typeface="Comfortaa"/>
                <a:sym typeface="Comfortaa"/>
              </a:rPr>
              <a:t>Supervisor:</a:t>
            </a:r>
            <a:endParaRPr sz="1600" b="1" dirty="0">
              <a:latin typeface="Comfortaa"/>
              <a:ea typeface="Comfortaa"/>
              <a:cs typeface="Comfortaa"/>
              <a:sym typeface="Comfortaa"/>
            </a:endParaRPr>
          </a:p>
          <a:p>
            <a:pPr marL="0" lvl="0" indent="0" algn="ctr" rtl="0">
              <a:lnSpc>
                <a:spcPct val="80000"/>
              </a:lnSpc>
              <a:spcBef>
                <a:spcPts val="0"/>
              </a:spcBef>
              <a:spcAft>
                <a:spcPts val="0"/>
              </a:spcAft>
              <a:buNone/>
            </a:pPr>
            <a:endParaRPr sz="1600" dirty="0">
              <a:latin typeface="Comfortaa"/>
              <a:ea typeface="Comfortaa"/>
              <a:cs typeface="Comfortaa"/>
              <a:sym typeface="Comfortaa"/>
            </a:endParaRPr>
          </a:p>
          <a:p>
            <a:pPr marL="0" lvl="0" indent="0" algn="ctr" rtl="0">
              <a:lnSpc>
                <a:spcPct val="80000"/>
              </a:lnSpc>
              <a:spcBef>
                <a:spcPts val="0"/>
              </a:spcBef>
              <a:spcAft>
                <a:spcPts val="0"/>
              </a:spcAft>
              <a:buNone/>
            </a:pPr>
            <a:r>
              <a:rPr lang="en-GB" sz="1600" dirty="0">
                <a:latin typeface="Comfortaa"/>
                <a:ea typeface="Comfortaa"/>
                <a:cs typeface="Comfortaa"/>
                <a:sym typeface="Comfortaa"/>
              </a:rPr>
              <a:t>Dr. S Revathi</a:t>
            </a:r>
            <a:endParaRPr sz="1600" dirty="0">
              <a:latin typeface="Comfortaa"/>
              <a:ea typeface="Comfortaa"/>
              <a:cs typeface="Comfortaa"/>
              <a:sym typeface="Comfortaa"/>
            </a:endParaRPr>
          </a:p>
          <a:p>
            <a:pPr marL="0" lvl="0" indent="0" algn="ctr" rtl="0">
              <a:lnSpc>
                <a:spcPct val="80000"/>
              </a:lnSpc>
              <a:spcBef>
                <a:spcPts val="0"/>
              </a:spcBef>
              <a:spcAft>
                <a:spcPts val="0"/>
              </a:spcAft>
              <a:buNone/>
            </a:pPr>
            <a:endParaRPr sz="1600" dirty="0">
              <a:latin typeface="Comfortaa"/>
              <a:ea typeface="Comfortaa"/>
              <a:cs typeface="Comfortaa"/>
              <a:sym typeface="Comfortaa"/>
            </a:endParaRPr>
          </a:p>
        </p:txBody>
      </p:sp>
      <p:sp>
        <p:nvSpPr>
          <p:cNvPr id="57" name="Google Shape;57;p13"/>
          <p:cNvSpPr txBox="1">
            <a:spLocks noGrp="1"/>
          </p:cNvSpPr>
          <p:nvPr>
            <p:ph type="subTitle" idx="1"/>
          </p:nvPr>
        </p:nvSpPr>
        <p:spPr>
          <a:xfrm>
            <a:off x="479100" y="4184550"/>
            <a:ext cx="8237100" cy="62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000" b="1" dirty="0">
                <a:latin typeface="Comfortaa"/>
                <a:ea typeface="Comfortaa"/>
                <a:cs typeface="Comfortaa"/>
                <a:sym typeface="Comfortaa"/>
              </a:rPr>
              <a:t>Domain of project : MACHINE LEARNING</a:t>
            </a:r>
            <a:endParaRPr sz="2000" dirty="0">
              <a:latin typeface="Comfortaa"/>
              <a:ea typeface="Comfortaa"/>
              <a:cs typeface="Comfortaa"/>
              <a:sym typeface="Comfortaa"/>
            </a:endParaRPr>
          </a:p>
          <a:p>
            <a:pPr marL="0" lvl="0" indent="0" algn="ctr" rtl="0">
              <a:spcBef>
                <a:spcPts val="0"/>
              </a:spcBef>
              <a:spcAft>
                <a:spcPts val="0"/>
              </a:spcAft>
              <a:buNone/>
            </a:pPr>
            <a:endParaRPr sz="2000" dirty="0">
              <a:latin typeface="Comfortaa"/>
              <a:ea typeface="Comfortaa"/>
              <a:cs typeface="Comfortaa"/>
              <a:sym typeface="Comfortaa"/>
            </a:endParaRPr>
          </a:p>
          <a:p>
            <a:pPr marL="0" lvl="0" indent="0" algn="ctr" rtl="0">
              <a:spcBef>
                <a:spcPts val="0"/>
              </a:spcBef>
              <a:spcAft>
                <a:spcPts val="0"/>
              </a:spcAft>
              <a:buNone/>
            </a:pPr>
            <a:endParaRPr sz="2000" dirty="0">
              <a:latin typeface="Comfortaa"/>
              <a:ea typeface="Comfortaa"/>
              <a:cs typeface="Comfortaa"/>
              <a:sym typeface="Comfortaa"/>
            </a:endParaRPr>
          </a:p>
          <a:p>
            <a:pPr marL="0" lvl="0" indent="0" algn="ctr" rtl="0">
              <a:spcBef>
                <a:spcPts val="0"/>
              </a:spcBef>
              <a:spcAft>
                <a:spcPts val="0"/>
              </a:spcAft>
              <a:buNone/>
            </a:pPr>
            <a:endParaRPr sz="2000" dirty="0">
              <a:latin typeface="Comfortaa"/>
              <a:ea typeface="Comfortaa"/>
              <a:cs typeface="Comfortaa"/>
              <a:sym typeface="Comfortaa"/>
            </a:endParaRPr>
          </a:p>
        </p:txBody>
      </p:sp>
      <p:sp>
        <p:nvSpPr>
          <p:cNvPr id="59" name="Google Shape;59;p13"/>
          <p:cNvSpPr txBox="1">
            <a:spLocks noGrp="1"/>
          </p:cNvSpPr>
          <p:nvPr>
            <p:ph type="subTitle" idx="1"/>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60" name="Google Shape;60;p13"/>
          <p:cNvSpPr txBox="1">
            <a:spLocks noGrp="1"/>
          </p:cNvSpPr>
          <p:nvPr>
            <p:ph type="subTitle" idx="1"/>
          </p:nvPr>
        </p:nvSpPr>
        <p:spPr>
          <a:xfrm>
            <a:off x="8589000" y="4686600"/>
            <a:ext cx="555000" cy="456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100" b="1">
                <a:latin typeface="Comfortaa"/>
                <a:ea typeface="Comfortaa"/>
                <a:cs typeface="Comfortaa"/>
                <a:sym typeface="Comfortaa"/>
              </a:rPr>
              <a:t>01</a:t>
            </a:r>
            <a:endParaRPr sz="1100" b="1">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02136C2E-2ECC-E8B4-8BA3-73BAC7998253}"/>
              </a:ext>
            </a:extLst>
          </p:cNvPr>
          <p:cNvPicPr preferRelativeResize="0"/>
          <p:nvPr/>
        </p:nvPicPr>
        <p:blipFill>
          <a:blip r:embed="rId3">
            <a:alphaModFix/>
          </a:blip>
          <a:stretch>
            <a:fillRect/>
          </a:stretch>
        </p:blipFill>
        <p:spPr>
          <a:xfrm>
            <a:off x="6992250" y="183609"/>
            <a:ext cx="2073075" cy="535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subTitle" idx="4294967295"/>
          </p:nvPr>
        </p:nvSpPr>
        <p:spPr>
          <a:xfrm>
            <a:off x="961925" y="1120499"/>
            <a:ext cx="7063200" cy="3566101"/>
          </a:xfrm>
          <a:prstGeom prst="rect">
            <a:avLst/>
          </a:prstGeom>
        </p:spPr>
        <p:txBody>
          <a:bodyPr spcFirstLastPara="1" wrap="square" lIns="91425" tIns="91425" rIns="91425" bIns="91425" anchor="t" anchorCtr="0">
            <a:normAutofit fontScale="92500"/>
          </a:bodyPr>
          <a:lstStyle/>
          <a:p>
            <a:r>
              <a:rPr lang="en-IN" dirty="0"/>
              <a:t>Recognizing emotions in speech is complex, with traditional methods often failing to capture nuanced expressions.</a:t>
            </a:r>
          </a:p>
          <a:p>
            <a:pPr marL="114300" indent="0">
              <a:buNone/>
            </a:pPr>
            <a:endParaRPr lang="en-IN" dirty="0"/>
          </a:p>
          <a:p>
            <a:r>
              <a:rPr lang="en-US" dirty="0"/>
              <a:t>It uses CQT and RNNs to catch emotional patterns in how something is said, not just what’s said.</a:t>
            </a:r>
          </a:p>
          <a:p>
            <a:pPr marL="114300" indent="0">
              <a:buNone/>
            </a:pPr>
            <a:endParaRPr lang="en-IN" dirty="0"/>
          </a:p>
          <a:p>
            <a:r>
              <a:rPr lang="en-US" dirty="0"/>
              <a:t>Users can record or upload voice clips and get instant results showing both text and detected emotion.</a:t>
            </a:r>
          </a:p>
          <a:p>
            <a:pPr marL="114300" indent="0">
              <a:buNone/>
            </a:pPr>
            <a:endParaRPr lang="en-IN" dirty="0"/>
          </a:p>
          <a:p>
            <a:r>
              <a:rPr lang="en-US" dirty="0"/>
              <a:t>Useful in mental health, education, and customer support—this tech brings machines closer to understanding humans emotionally.</a:t>
            </a:r>
            <a:endParaRPr lang="en-IN" b="1" dirty="0">
              <a:latin typeface="Comfortaa"/>
              <a:ea typeface="Comfortaa"/>
              <a:cs typeface="Comfortaa"/>
              <a:sym typeface="Comfortaa"/>
            </a:endParaRPr>
          </a:p>
        </p:txBody>
      </p:sp>
      <p:sp>
        <p:nvSpPr>
          <p:cNvPr id="67" name="Google Shape;67;p14"/>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32500" lnSpcReduction="20000"/>
          </a:bodyPr>
          <a:lstStyle/>
          <a:p>
            <a:pPr marL="0" lvl="0" indent="0" algn="ctr" rtl="0">
              <a:spcBef>
                <a:spcPts val="0"/>
              </a:spcBef>
              <a:spcAft>
                <a:spcPts val="0"/>
              </a:spcAft>
              <a:buNone/>
            </a:pPr>
            <a:r>
              <a:rPr lang="en-IN" sz="2400" dirty="0">
                <a:latin typeface="+mj-lt"/>
              </a:rPr>
              <a:t>Speech Emotion Recognition using</a:t>
            </a:r>
          </a:p>
          <a:p>
            <a:pPr marL="0" lvl="0" indent="0" algn="ctr" rtl="0">
              <a:spcBef>
                <a:spcPts val="0"/>
              </a:spcBef>
              <a:spcAft>
                <a:spcPts val="0"/>
              </a:spcAft>
              <a:buNone/>
            </a:pPr>
            <a:r>
              <a:rPr lang="en-IN" sz="2400" dirty="0">
                <a:latin typeface="+mj-lt"/>
              </a:rPr>
              <a:t> Constant-Q Transform and RNN</a:t>
            </a:r>
            <a:endParaRPr lang="en-IN" sz="2400" dirty="0">
              <a:latin typeface="+mj-lt"/>
              <a:ea typeface="Comfortaa"/>
              <a:cs typeface="Comfortaa"/>
              <a:sym typeface="Comfortaa"/>
            </a:endParaRPr>
          </a:p>
        </p:txBody>
      </p:sp>
      <p:sp>
        <p:nvSpPr>
          <p:cNvPr id="68" name="Google Shape;68;p14"/>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69" name="Google Shape;69;p14"/>
          <p:cNvSpPr txBox="1">
            <a:spLocks noGrp="1"/>
          </p:cNvSpPr>
          <p:nvPr>
            <p:ph type="subTitle" idx="4294967295"/>
          </p:nvPr>
        </p:nvSpPr>
        <p:spPr>
          <a:xfrm>
            <a:off x="217075" y="350700"/>
            <a:ext cx="4636500" cy="769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GB" sz="2800" b="1" dirty="0">
                <a:latin typeface="Comfortaa"/>
                <a:ea typeface="Comfortaa"/>
                <a:cs typeface="Comfortaa"/>
                <a:sym typeface="Comfortaa"/>
              </a:rPr>
              <a:t>ABSTRACT</a:t>
            </a:r>
            <a:endParaRPr sz="2800" b="1" dirty="0">
              <a:latin typeface="Comfortaa"/>
              <a:ea typeface="Comfortaa"/>
              <a:cs typeface="Comfortaa"/>
              <a:sym typeface="Comfortaa"/>
            </a:endParaRPr>
          </a:p>
        </p:txBody>
      </p:sp>
      <p:sp>
        <p:nvSpPr>
          <p:cNvPr id="70" name="Google Shape;70;p14"/>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a:latin typeface="Comfortaa"/>
                <a:ea typeface="Comfortaa"/>
                <a:cs typeface="Comfortaa"/>
                <a:sym typeface="Comfortaa"/>
              </a:rPr>
              <a:t>02</a:t>
            </a:r>
            <a:endParaRPr sz="1100" b="1">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249AE272-0A61-1C1D-CD0E-55A5D2D7A6E2}"/>
              </a:ext>
            </a:extLst>
          </p:cNvPr>
          <p:cNvPicPr preferRelativeResize="0"/>
          <p:nvPr/>
        </p:nvPicPr>
        <p:blipFill>
          <a:blip r:embed="rId3">
            <a:alphaModFix/>
          </a:blip>
          <a:stretch>
            <a:fillRect/>
          </a:stretch>
        </p:blipFill>
        <p:spPr>
          <a:xfrm>
            <a:off x="6988587" y="207090"/>
            <a:ext cx="2073075" cy="535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subTitle" idx="4294967295"/>
          </p:nvPr>
        </p:nvSpPr>
        <p:spPr>
          <a:xfrm>
            <a:off x="961925" y="1120500"/>
            <a:ext cx="7063200" cy="3412086"/>
          </a:xfrm>
          <a:prstGeom prst="rect">
            <a:avLst/>
          </a:prstGeom>
        </p:spPr>
        <p:txBody>
          <a:bodyPr spcFirstLastPara="1" wrap="square" lIns="91425" tIns="91425" rIns="91425" bIns="91425" anchor="t" anchorCtr="0">
            <a:normAutofit/>
          </a:bodyPr>
          <a:lstStyle/>
          <a:p>
            <a:r>
              <a:rPr lang="en-IN" sz="1600" dirty="0"/>
              <a:t>Accurately detecting emotions in speech signals is a challenging task within affective computing.</a:t>
            </a:r>
          </a:p>
          <a:p>
            <a:pPr marL="114300" indent="0">
              <a:buNone/>
            </a:pPr>
            <a:endParaRPr lang="en-IN" sz="1600" dirty="0"/>
          </a:p>
          <a:p>
            <a:r>
              <a:rPr lang="en-IN" sz="1600" dirty="0"/>
              <a:t>Current approaches often rely on traditional signal processing and handcrafted features, which may miss subtle emotional cues.</a:t>
            </a:r>
          </a:p>
          <a:p>
            <a:pPr marL="114300" indent="0">
              <a:buNone/>
            </a:pPr>
            <a:endParaRPr lang="en-IN" sz="1600" dirty="0"/>
          </a:p>
          <a:p>
            <a:r>
              <a:rPr lang="en-IN" sz="1600" dirty="0"/>
              <a:t>There is a demand for more sophisticated methods that can effectively capture the nuances of emotional expression in speech.</a:t>
            </a:r>
          </a:p>
          <a:p>
            <a:pPr marL="114300" indent="0">
              <a:buNone/>
            </a:pPr>
            <a:endParaRPr lang="en-IN" sz="1600" dirty="0"/>
          </a:p>
          <a:p>
            <a:r>
              <a:rPr lang="en-IN" sz="1600" dirty="0"/>
              <a:t>Inadequate emotion recognition hinders advancements in applications like human-computer interaction and mental health monitoring.</a:t>
            </a:r>
          </a:p>
        </p:txBody>
      </p:sp>
      <p:sp>
        <p:nvSpPr>
          <p:cNvPr id="77" name="Google Shape;77;p15"/>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32500" lnSpcReduction="20000"/>
          </a:bodyPr>
          <a:lstStyle/>
          <a:p>
            <a:pPr marL="0" lvl="0" indent="0" algn="ctr" rtl="0">
              <a:spcBef>
                <a:spcPts val="0"/>
              </a:spcBef>
              <a:spcAft>
                <a:spcPts val="0"/>
              </a:spcAft>
              <a:buNone/>
            </a:pPr>
            <a:r>
              <a:rPr lang="en-IN" sz="2400" dirty="0">
                <a:latin typeface="+mj-lt"/>
              </a:rPr>
              <a:t>Speech Emotion Recognition using</a:t>
            </a:r>
          </a:p>
          <a:p>
            <a:pPr marL="0" lvl="0" indent="0" algn="ctr" rtl="0">
              <a:spcBef>
                <a:spcPts val="0"/>
              </a:spcBef>
              <a:spcAft>
                <a:spcPts val="0"/>
              </a:spcAft>
              <a:buNone/>
            </a:pPr>
            <a:r>
              <a:rPr lang="en-IN" sz="2400" dirty="0">
                <a:latin typeface="+mj-lt"/>
              </a:rPr>
              <a:t> Constant-Q Transform and RNN</a:t>
            </a:r>
            <a:endParaRPr lang="en-IN" sz="2400" dirty="0">
              <a:latin typeface="+mj-lt"/>
              <a:ea typeface="Comfortaa"/>
              <a:cs typeface="Comfortaa"/>
              <a:sym typeface="Comfortaa"/>
            </a:endParaRPr>
          </a:p>
        </p:txBody>
      </p:sp>
      <p:sp>
        <p:nvSpPr>
          <p:cNvPr id="78" name="Google Shape;78;p15"/>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79" name="Google Shape;79;p15"/>
          <p:cNvSpPr txBox="1">
            <a:spLocks noGrp="1"/>
          </p:cNvSpPr>
          <p:nvPr>
            <p:ph type="subTitle" idx="4294967295"/>
          </p:nvPr>
        </p:nvSpPr>
        <p:spPr>
          <a:xfrm>
            <a:off x="217075" y="350700"/>
            <a:ext cx="4636500" cy="769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GB" sz="2800" b="1">
                <a:latin typeface="Comfortaa"/>
                <a:ea typeface="Comfortaa"/>
                <a:cs typeface="Comfortaa"/>
                <a:sym typeface="Comfortaa"/>
              </a:rPr>
              <a:t>PROBLEM STATEMENT</a:t>
            </a:r>
            <a:endParaRPr sz="2800" b="1">
              <a:latin typeface="Comfortaa"/>
              <a:ea typeface="Comfortaa"/>
              <a:cs typeface="Comfortaa"/>
              <a:sym typeface="Comfortaa"/>
            </a:endParaRPr>
          </a:p>
        </p:txBody>
      </p:sp>
      <p:sp>
        <p:nvSpPr>
          <p:cNvPr id="80" name="Google Shape;80;p15"/>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a:latin typeface="Comfortaa"/>
                <a:ea typeface="Comfortaa"/>
                <a:cs typeface="Comfortaa"/>
                <a:sym typeface="Comfortaa"/>
              </a:rPr>
              <a:t>03</a:t>
            </a:r>
            <a:endParaRPr sz="1100" b="1">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7812A4A6-8C9D-055E-DF81-01AF0C5CDAD2}"/>
              </a:ext>
            </a:extLst>
          </p:cNvPr>
          <p:cNvPicPr preferRelativeResize="0"/>
          <p:nvPr/>
        </p:nvPicPr>
        <p:blipFill>
          <a:blip r:embed="rId3">
            <a:alphaModFix/>
          </a:blip>
          <a:stretch>
            <a:fillRect/>
          </a:stretch>
        </p:blipFill>
        <p:spPr>
          <a:xfrm>
            <a:off x="6988587" y="199675"/>
            <a:ext cx="2073075" cy="535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subTitle" idx="4294967295"/>
          </p:nvPr>
        </p:nvSpPr>
        <p:spPr>
          <a:xfrm>
            <a:off x="217075" y="350700"/>
            <a:ext cx="34791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sz="2800" b="1" dirty="0">
                <a:latin typeface="Comfortaa"/>
                <a:ea typeface="Comfortaa"/>
                <a:cs typeface="Comfortaa"/>
                <a:sym typeface="Comfortaa"/>
              </a:rPr>
              <a:t>RELATED WORK</a:t>
            </a:r>
            <a:endParaRPr sz="2800" b="1" dirty="0">
              <a:latin typeface="Comfortaa"/>
              <a:ea typeface="Comfortaa"/>
              <a:cs typeface="Comfortaa"/>
              <a:sym typeface="Comfortaa"/>
            </a:endParaRPr>
          </a:p>
        </p:txBody>
      </p:sp>
      <p:graphicFrame>
        <p:nvGraphicFramePr>
          <p:cNvPr id="86" name="Google Shape;86;p16"/>
          <p:cNvGraphicFramePr/>
          <p:nvPr>
            <p:extLst>
              <p:ext uri="{D42A27DB-BD31-4B8C-83A1-F6EECF244321}">
                <p14:modId xmlns:p14="http://schemas.microsoft.com/office/powerpoint/2010/main" val="3474308428"/>
              </p:ext>
            </p:extLst>
          </p:nvPr>
        </p:nvGraphicFramePr>
        <p:xfrm>
          <a:off x="351587" y="886500"/>
          <a:ext cx="8440825" cy="3906300"/>
        </p:xfrm>
        <a:graphic>
          <a:graphicData uri="http://schemas.openxmlformats.org/drawingml/2006/table">
            <a:tbl>
              <a:tblPr>
                <a:noFill/>
                <a:tableStyleId>{962E5AC8-D1FD-4F38-99A3-E05809E0F263}</a:tableStyleId>
              </a:tblPr>
              <a:tblGrid>
                <a:gridCol w="2073775">
                  <a:extLst>
                    <a:ext uri="{9D8B030D-6E8A-4147-A177-3AD203B41FA5}">
                      <a16:colId xmlns:a16="http://schemas.microsoft.com/office/drawing/2014/main" val="20000"/>
                    </a:ext>
                  </a:extLst>
                </a:gridCol>
                <a:gridCol w="1492725">
                  <a:extLst>
                    <a:ext uri="{9D8B030D-6E8A-4147-A177-3AD203B41FA5}">
                      <a16:colId xmlns:a16="http://schemas.microsoft.com/office/drawing/2014/main" val="20001"/>
                    </a:ext>
                  </a:extLst>
                </a:gridCol>
                <a:gridCol w="849225">
                  <a:extLst>
                    <a:ext uri="{9D8B030D-6E8A-4147-A177-3AD203B41FA5}">
                      <a16:colId xmlns:a16="http://schemas.microsoft.com/office/drawing/2014/main" val="20002"/>
                    </a:ext>
                  </a:extLst>
                </a:gridCol>
                <a:gridCol w="2073575">
                  <a:extLst>
                    <a:ext uri="{9D8B030D-6E8A-4147-A177-3AD203B41FA5}">
                      <a16:colId xmlns:a16="http://schemas.microsoft.com/office/drawing/2014/main" val="20003"/>
                    </a:ext>
                  </a:extLst>
                </a:gridCol>
                <a:gridCol w="1951525">
                  <a:extLst>
                    <a:ext uri="{9D8B030D-6E8A-4147-A177-3AD203B41FA5}">
                      <a16:colId xmlns:a16="http://schemas.microsoft.com/office/drawing/2014/main" val="20004"/>
                    </a:ext>
                  </a:extLst>
                </a:gridCol>
              </a:tblGrid>
              <a:tr h="454703">
                <a:tc>
                  <a:txBody>
                    <a:bodyPr/>
                    <a:lstStyle/>
                    <a:p>
                      <a:pPr marL="0" lvl="0" indent="0" algn="l" rtl="0">
                        <a:spcBef>
                          <a:spcPts val="0"/>
                        </a:spcBef>
                        <a:spcAft>
                          <a:spcPts val="0"/>
                        </a:spcAft>
                        <a:buNone/>
                      </a:pPr>
                      <a:r>
                        <a:rPr lang="en-GB">
                          <a:latin typeface="Comfortaa"/>
                          <a:ea typeface="Comfortaa"/>
                          <a:cs typeface="Comfortaa"/>
                          <a:sym typeface="Comfortaa"/>
                        </a:rPr>
                        <a:t>Title </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Author</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Year</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Limitations</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Advantage</a:t>
                      </a:r>
                      <a:endParaRPr>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0"/>
                  </a:ext>
                </a:extLst>
              </a:tr>
              <a:tr h="1947500">
                <a:tc>
                  <a:txBody>
                    <a:bodyPr/>
                    <a:lstStyle/>
                    <a:p>
                      <a:r>
                        <a:rPr lang="en-US" sz="1200" b="0" i="0" u="none" strike="noStrike" cap="none" dirty="0">
                          <a:solidFill>
                            <a:srgbClr val="000000"/>
                          </a:solidFill>
                          <a:effectLst/>
                          <a:latin typeface="Arial"/>
                          <a:ea typeface="Arial"/>
                          <a:cs typeface="Arial"/>
                          <a:sym typeface="Arial"/>
                        </a:rPr>
                        <a:t>Speech Emotion</a:t>
                      </a:r>
                    </a:p>
                    <a:p>
                      <a:r>
                        <a:rPr lang="en-US" sz="1200" b="0" i="0" u="none" strike="noStrike" cap="none" dirty="0">
                          <a:solidFill>
                            <a:srgbClr val="000000"/>
                          </a:solidFill>
                          <a:effectLst/>
                          <a:latin typeface="Arial"/>
                          <a:ea typeface="Arial"/>
                          <a:cs typeface="Arial"/>
                          <a:sym typeface="Arial"/>
                        </a:rPr>
                        <a:t>Recognition Via CNN-Transformer and Multidimensional Attention Mechanism</a:t>
                      </a:r>
                    </a:p>
                    <a:p>
                      <a:pPr marL="0" lvl="0" indent="0" algn="l" rtl="0">
                        <a:spcBef>
                          <a:spcPts val="0"/>
                        </a:spcBef>
                        <a:spcAft>
                          <a:spcPts val="0"/>
                        </a:spcAft>
                        <a:buNone/>
                      </a:pPr>
                      <a:endParaRPr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200" b="0" i="0" u="none" strike="noStrike" cap="none" dirty="0" err="1">
                          <a:solidFill>
                            <a:srgbClr val="000000"/>
                          </a:solidFill>
                          <a:effectLst/>
                          <a:highlight>
                            <a:srgbClr val="FFFFFF"/>
                          </a:highlight>
                          <a:latin typeface="Arial"/>
                          <a:ea typeface="Arial"/>
                          <a:cs typeface="Arial"/>
                          <a:sym typeface="Arial"/>
                        </a:rPr>
                        <a:t>Xiaoyu</a:t>
                      </a:r>
                      <a:r>
                        <a:rPr lang="en-US" sz="1200" b="0" i="0" u="none" strike="noStrike" cap="none" dirty="0">
                          <a:solidFill>
                            <a:srgbClr val="000000"/>
                          </a:solidFill>
                          <a:effectLst/>
                          <a:highlight>
                            <a:srgbClr val="FFFFFF"/>
                          </a:highlight>
                          <a:latin typeface="Arial"/>
                          <a:ea typeface="Arial"/>
                          <a:cs typeface="Arial"/>
                          <a:sym typeface="Arial"/>
                        </a:rPr>
                        <a:t> Tang, </a:t>
                      </a:r>
                      <a:r>
                        <a:rPr lang="en-US" sz="1200" b="0" i="0" u="none" strike="noStrike" cap="none" dirty="0" err="1">
                          <a:solidFill>
                            <a:srgbClr val="000000"/>
                          </a:solidFill>
                          <a:effectLst/>
                          <a:highlight>
                            <a:srgbClr val="FFFFFF"/>
                          </a:highlight>
                          <a:latin typeface="Arial"/>
                          <a:ea typeface="Arial"/>
                          <a:cs typeface="Arial"/>
                          <a:sym typeface="Arial"/>
                        </a:rPr>
                        <a:t>Yixin</a:t>
                      </a:r>
                      <a:r>
                        <a:rPr lang="en-US" sz="1200" b="0" i="0" u="none" strike="noStrike" cap="none" dirty="0">
                          <a:solidFill>
                            <a:srgbClr val="000000"/>
                          </a:solidFill>
                          <a:effectLst/>
                          <a:highlight>
                            <a:srgbClr val="FFFFFF"/>
                          </a:highlight>
                          <a:latin typeface="Arial"/>
                          <a:ea typeface="Arial"/>
                          <a:cs typeface="Arial"/>
                          <a:sym typeface="Arial"/>
                        </a:rPr>
                        <a:t> Lin, Ting Dang, </a:t>
                      </a:r>
                      <a:r>
                        <a:rPr lang="en-US" sz="1200" b="0" i="0" u="none" strike="noStrike" cap="none" dirty="0" err="1">
                          <a:solidFill>
                            <a:srgbClr val="000000"/>
                          </a:solidFill>
                          <a:effectLst/>
                          <a:highlight>
                            <a:srgbClr val="FFFFFF"/>
                          </a:highlight>
                          <a:latin typeface="Arial"/>
                          <a:ea typeface="Arial"/>
                          <a:cs typeface="Arial"/>
                          <a:sym typeface="Arial"/>
                        </a:rPr>
                        <a:t>Yuanfang</a:t>
                      </a:r>
                      <a:r>
                        <a:rPr lang="en-US" sz="1200" b="0" i="0" u="none" strike="noStrike" cap="none" dirty="0">
                          <a:solidFill>
                            <a:srgbClr val="000000"/>
                          </a:solidFill>
                          <a:effectLst/>
                          <a:highlight>
                            <a:srgbClr val="FFFFFF"/>
                          </a:highlight>
                          <a:latin typeface="Arial"/>
                          <a:ea typeface="Arial"/>
                          <a:cs typeface="Arial"/>
                          <a:sym typeface="Arial"/>
                        </a:rPr>
                        <a:t> Zhang, Jintao Cheng</a:t>
                      </a:r>
                    </a:p>
                    <a:p>
                      <a:pPr marL="0" lvl="0" indent="0" algn="l" rtl="0">
                        <a:spcBef>
                          <a:spcPts val="0"/>
                        </a:spcBef>
                        <a:spcAft>
                          <a:spcPts val="0"/>
                        </a:spcAft>
                        <a:buClr>
                          <a:schemeClr val="dk1"/>
                        </a:buClr>
                        <a:buSzPts val="1100"/>
                        <a:buFont typeface="Arial"/>
                        <a:buNone/>
                      </a:pPr>
                      <a:endParaRPr sz="1500" dirty="0">
                        <a:solidFill>
                          <a:schemeClr val="dk1"/>
                        </a:solidFill>
                        <a:highlight>
                          <a:srgbClr val="FFFFFF"/>
                        </a:highlight>
                      </a:endParaRPr>
                    </a:p>
                  </a:txBody>
                  <a:tcPr marL="91425" marR="91425" marT="91425" marB="91425"/>
                </a:tc>
                <a:tc>
                  <a:txBody>
                    <a:bodyPr/>
                    <a:lstStyle/>
                    <a:p>
                      <a:pPr marL="0" lvl="0" indent="0" algn="l" rtl="0">
                        <a:spcBef>
                          <a:spcPts val="0"/>
                        </a:spcBef>
                        <a:spcAft>
                          <a:spcPts val="0"/>
                        </a:spcAft>
                        <a:buNone/>
                      </a:pPr>
                      <a:r>
                        <a:rPr lang="en-US" sz="1200" dirty="0"/>
                        <a:t>2024</a:t>
                      </a:r>
                      <a:endParaRPr sz="1200" dirty="0"/>
                    </a:p>
                  </a:txBody>
                  <a:tcPr marL="91425" marR="91425" marT="91425" marB="91425"/>
                </a:tc>
                <a:tc>
                  <a:txBody>
                    <a:bodyPr/>
                    <a:lstStyle/>
                    <a:p>
                      <a:pPr marL="0" lvl="0" indent="0" algn="l" rtl="0">
                        <a:spcBef>
                          <a:spcPts val="0"/>
                        </a:spcBef>
                        <a:spcAft>
                          <a:spcPts val="0"/>
                        </a:spcAft>
                        <a:buNone/>
                      </a:pPr>
                      <a:r>
                        <a:rPr lang="en-US" sz="1200" dirty="0"/>
                        <a:t>High computational cost and needs large datasets to perform well.</a:t>
                      </a:r>
                      <a:endParaRPr sz="1200" dirty="0"/>
                    </a:p>
                  </a:txBody>
                  <a:tcPr marL="91425" marR="91425" marT="91425" marB="91425"/>
                </a:tc>
                <a:tc>
                  <a:txBody>
                    <a:bodyPr/>
                    <a:lstStyle/>
                    <a:p>
                      <a:pPr marL="0" lvl="0" indent="0" algn="l" rtl="0">
                        <a:spcBef>
                          <a:spcPts val="0"/>
                        </a:spcBef>
                        <a:spcAft>
                          <a:spcPts val="0"/>
                        </a:spcAft>
                        <a:buNone/>
                      </a:pPr>
                      <a:r>
                        <a:rPr lang="en-US" sz="1200" dirty="0"/>
                        <a:t>Combines CNN and Transformer with attention, improving emotion detection and temporal modeling</a:t>
                      </a:r>
                      <a:endParaRPr sz="1200" dirty="0"/>
                    </a:p>
                  </a:txBody>
                  <a:tcPr marL="91425" marR="91425" marT="91425" marB="91425"/>
                </a:tc>
                <a:extLst>
                  <a:ext uri="{0D108BD9-81ED-4DB2-BD59-A6C34878D82A}">
                    <a16:rowId xmlns:a16="http://schemas.microsoft.com/office/drawing/2014/main" val="10001"/>
                  </a:ext>
                </a:extLst>
              </a:tr>
              <a:tr h="1504097">
                <a:tc>
                  <a:txBody>
                    <a:bodyPr/>
                    <a:lstStyle/>
                    <a:p>
                      <a:r>
                        <a:rPr lang="en-IN" sz="1200" b="0" i="0" u="none" strike="noStrike" cap="none" dirty="0">
                          <a:solidFill>
                            <a:srgbClr val="000000"/>
                          </a:solidFill>
                          <a:effectLst/>
                          <a:latin typeface="Arial"/>
                          <a:ea typeface="Arial"/>
                          <a:cs typeface="Arial"/>
                          <a:sym typeface="Arial"/>
                        </a:rPr>
                        <a:t>Speech Emotion Recognition Using Attention Model</a:t>
                      </a:r>
                    </a:p>
                    <a:p>
                      <a:br>
                        <a:rPr lang="en-IN" sz="1200" dirty="0"/>
                      </a:b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IN" sz="1200" dirty="0" err="1"/>
                        <a:t>Jagjeet</a:t>
                      </a:r>
                      <a:r>
                        <a:rPr lang="en-IN" sz="1200" dirty="0"/>
                        <a:t> Singh, Lakshmi </a:t>
                      </a:r>
                      <a:r>
                        <a:rPr lang="en-IN" sz="1200" dirty="0" err="1"/>
                        <a:t>Saheer</a:t>
                      </a:r>
                      <a:r>
                        <a:rPr lang="en-IN" sz="1200" dirty="0"/>
                        <a:t>, Oliver Faust</a:t>
                      </a:r>
                      <a:endParaRPr sz="1200" dirty="0"/>
                    </a:p>
                  </a:txBody>
                  <a:tcPr marL="91425" marR="91425" marT="91425" marB="91425"/>
                </a:tc>
                <a:tc>
                  <a:txBody>
                    <a:bodyPr/>
                    <a:lstStyle/>
                    <a:p>
                      <a:pPr marL="0" lvl="0" indent="0" algn="l" rtl="0">
                        <a:spcBef>
                          <a:spcPts val="0"/>
                        </a:spcBef>
                        <a:spcAft>
                          <a:spcPts val="0"/>
                        </a:spcAft>
                        <a:buNone/>
                      </a:pPr>
                      <a:r>
                        <a:rPr lang="en-US" sz="1200" dirty="0"/>
                        <a:t>2023</a:t>
                      </a:r>
                      <a:endParaRPr sz="1200" dirty="0"/>
                    </a:p>
                  </a:txBody>
                  <a:tcPr marL="91425" marR="91425" marT="91425" marB="91425"/>
                </a:tc>
                <a:tc>
                  <a:txBody>
                    <a:bodyPr/>
                    <a:lstStyle/>
                    <a:p>
                      <a:pPr marL="0" lvl="0" indent="0" algn="l" rtl="0">
                        <a:spcBef>
                          <a:spcPts val="0"/>
                        </a:spcBef>
                        <a:spcAft>
                          <a:spcPts val="0"/>
                        </a:spcAft>
                        <a:buNone/>
                      </a:pPr>
                      <a:r>
                        <a:rPr lang="en-US" sz="1200" dirty="0"/>
                        <a:t>Limited handling of long-term emotional changes and may struggle with generalization.</a:t>
                      </a:r>
                      <a:endParaRPr dirty="0"/>
                    </a:p>
                  </a:txBody>
                  <a:tcPr marL="91425" marR="91425" marT="91425" marB="91425"/>
                </a:tc>
                <a:tc>
                  <a:txBody>
                    <a:bodyPr/>
                    <a:lstStyle/>
                    <a:p>
                      <a:pPr marL="0" lvl="0" indent="0" algn="l" rtl="0">
                        <a:spcBef>
                          <a:spcPts val="0"/>
                        </a:spcBef>
                        <a:spcAft>
                          <a:spcPts val="0"/>
                        </a:spcAft>
                        <a:buNone/>
                      </a:pPr>
                      <a:r>
                        <a:rPr lang="en-US" sz="1200" dirty="0"/>
                        <a:t>Attention model highlights emotional features with a simpler architecture.</a:t>
                      </a:r>
                      <a:endParaRPr sz="1200" dirty="0"/>
                    </a:p>
                  </a:txBody>
                  <a:tcPr marL="91425" marR="91425" marT="91425" marB="91425"/>
                </a:tc>
                <a:extLst>
                  <a:ext uri="{0D108BD9-81ED-4DB2-BD59-A6C34878D82A}">
                    <a16:rowId xmlns:a16="http://schemas.microsoft.com/office/drawing/2014/main" val="10002"/>
                  </a:ext>
                </a:extLst>
              </a:tr>
            </a:tbl>
          </a:graphicData>
        </a:graphic>
      </p:graphicFrame>
      <p:sp>
        <p:nvSpPr>
          <p:cNvPr id="88" name="Google Shape;88;p16"/>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89" name="Google Shape;89;p16"/>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a:latin typeface="Comfortaa"/>
                <a:ea typeface="Comfortaa"/>
                <a:cs typeface="Comfortaa"/>
                <a:sym typeface="Comfortaa"/>
              </a:rPr>
              <a:t>04</a:t>
            </a:r>
            <a:endParaRPr sz="1100" b="1">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D4403714-06C7-0299-2363-F7C5DB575518}"/>
              </a:ext>
            </a:extLst>
          </p:cNvPr>
          <p:cNvPicPr preferRelativeResize="0"/>
          <p:nvPr/>
        </p:nvPicPr>
        <p:blipFill>
          <a:blip r:embed="rId3">
            <a:alphaModFix/>
          </a:blip>
          <a:stretch>
            <a:fillRect/>
          </a:stretch>
        </p:blipFill>
        <p:spPr>
          <a:xfrm>
            <a:off x="7000133" y="175219"/>
            <a:ext cx="2073075" cy="535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graphicFrame>
        <p:nvGraphicFramePr>
          <p:cNvPr id="94" name="Google Shape;94;p17"/>
          <p:cNvGraphicFramePr/>
          <p:nvPr>
            <p:extLst>
              <p:ext uri="{D42A27DB-BD31-4B8C-83A1-F6EECF244321}">
                <p14:modId xmlns:p14="http://schemas.microsoft.com/office/powerpoint/2010/main" val="3769762751"/>
              </p:ext>
            </p:extLst>
          </p:nvPr>
        </p:nvGraphicFramePr>
        <p:xfrm>
          <a:off x="280644" y="358260"/>
          <a:ext cx="8440825" cy="4785240"/>
        </p:xfrm>
        <a:graphic>
          <a:graphicData uri="http://schemas.openxmlformats.org/drawingml/2006/table">
            <a:tbl>
              <a:tblPr>
                <a:noFill/>
                <a:tableStyleId>{962E5AC8-D1FD-4F38-99A3-E05809E0F263}</a:tableStyleId>
              </a:tblPr>
              <a:tblGrid>
                <a:gridCol w="2282775">
                  <a:extLst>
                    <a:ext uri="{9D8B030D-6E8A-4147-A177-3AD203B41FA5}">
                      <a16:colId xmlns:a16="http://schemas.microsoft.com/office/drawing/2014/main" val="20000"/>
                    </a:ext>
                  </a:extLst>
                </a:gridCol>
                <a:gridCol w="1466600">
                  <a:extLst>
                    <a:ext uri="{9D8B030D-6E8A-4147-A177-3AD203B41FA5}">
                      <a16:colId xmlns:a16="http://schemas.microsoft.com/office/drawing/2014/main" val="20001"/>
                    </a:ext>
                  </a:extLst>
                </a:gridCol>
                <a:gridCol w="744725">
                  <a:extLst>
                    <a:ext uri="{9D8B030D-6E8A-4147-A177-3AD203B41FA5}">
                      <a16:colId xmlns:a16="http://schemas.microsoft.com/office/drawing/2014/main" val="20002"/>
                    </a:ext>
                  </a:extLst>
                </a:gridCol>
                <a:gridCol w="2258550">
                  <a:extLst>
                    <a:ext uri="{9D8B030D-6E8A-4147-A177-3AD203B41FA5}">
                      <a16:colId xmlns:a16="http://schemas.microsoft.com/office/drawing/2014/main" val="20003"/>
                    </a:ext>
                  </a:extLst>
                </a:gridCol>
                <a:gridCol w="1688175">
                  <a:extLst>
                    <a:ext uri="{9D8B030D-6E8A-4147-A177-3AD203B41FA5}">
                      <a16:colId xmlns:a16="http://schemas.microsoft.com/office/drawing/2014/main" val="20004"/>
                    </a:ext>
                  </a:extLst>
                </a:gridCol>
              </a:tblGrid>
              <a:tr h="361977">
                <a:tc>
                  <a:txBody>
                    <a:bodyPr/>
                    <a:lstStyle/>
                    <a:p>
                      <a:pPr marL="0" lvl="0" indent="0" algn="l" rtl="0">
                        <a:spcBef>
                          <a:spcPts val="0"/>
                        </a:spcBef>
                        <a:spcAft>
                          <a:spcPts val="0"/>
                        </a:spcAft>
                        <a:buNone/>
                      </a:pPr>
                      <a:r>
                        <a:rPr lang="en-GB">
                          <a:latin typeface="Comfortaa"/>
                          <a:ea typeface="Comfortaa"/>
                          <a:cs typeface="Comfortaa"/>
                          <a:sym typeface="Comfortaa"/>
                        </a:rPr>
                        <a:t>Title </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Author</a:t>
                      </a:r>
                      <a:endParaRPr dirty="0">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Year</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Limitations</a:t>
                      </a:r>
                      <a:endParaRPr dirty="0">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Advantage</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0"/>
                  </a:ext>
                </a:extLst>
              </a:tr>
              <a:tr h="1169525">
                <a:tc>
                  <a:txBody>
                    <a:bodyPr/>
                    <a:lstStyle/>
                    <a:p>
                      <a:r>
                        <a:rPr lang="en-US" sz="1200" b="0" i="0" u="none" strike="noStrike" cap="none" dirty="0">
                          <a:solidFill>
                            <a:srgbClr val="000000"/>
                          </a:solidFill>
                          <a:effectLst/>
                          <a:latin typeface="Arial"/>
                          <a:ea typeface="Arial"/>
                          <a:cs typeface="Arial"/>
                          <a:sym typeface="Arial"/>
                        </a:rPr>
                        <a:t>Multi-Scale Temporal Transformer For Speech Emotion Recognition</a:t>
                      </a:r>
                    </a:p>
                    <a:p>
                      <a:pPr marL="0" lvl="0" indent="0" algn="l" rtl="0">
                        <a:spcBef>
                          <a:spcPts val="0"/>
                        </a:spcBef>
                        <a:spcAft>
                          <a:spcPts val="0"/>
                        </a:spcAft>
                        <a:buNone/>
                      </a:pPr>
                      <a:endParaRPr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err="1">
                          <a:solidFill>
                            <a:srgbClr val="000000"/>
                          </a:solidFill>
                          <a:effectLst/>
                          <a:latin typeface="Arial"/>
                          <a:ea typeface="Arial"/>
                          <a:cs typeface="Arial"/>
                          <a:sym typeface="Arial"/>
                        </a:rPr>
                        <a:t>Zhipeng</a:t>
                      </a:r>
                      <a:r>
                        <a:rPr lang="en-US" sz="1200" b="0" i="0" u="none" strike="noStrike" cap="none" dirty="0">
                          <a:solidFill>
                            <a:srgbClr val="000000"/>
                          </a:solidFill>
                          <a:effectLst/>
                          <a:latin typeface="Arial"/>
                          <a:ea typeface="Arial"/>
                          <a:cs typeface="Arial"/>
                          <a:sym typeface="Arial"/>
                        </a:rPr>
                        <a:t> Li, </a:t>
                      </a:r>
                      <a:r>
                        <a:rPr lang="en-US" sz="1200" b="0" i="0" u="none" strike="noStrike" cap="none" dirty="0" err="1">
                          <a:solidFill>
                            <a:srgbClr val="000000"/>
                          </a:solidFill>
                          <a:effectLst/>
                          <a:latin typeface="Arial"/>
                          <a:ea typeface="Arial"/>
                          <a:cs typeface="Arial"/>
                          <a:sym typeface="Arial"/>
                        </a:rPr>
                        <a:t>Xiaofen</a:t>
                      </a:r>
                      <a:r>
                        <a:rPr lang="en-US" sz="1200" b="0" i="0" u="none" strike="noStrike" cap="none" dirty="0">
                          <a:solidFill>
                            <a:srgbClr val="000000"/>
                          </a:solidFill>
                          <a:effectLst/>
                          <a:latin typeface="Arial"/>
                          <a:ea typeface="Arial"/>
                          <a:cs typeface="Arial"/>
                          <a:sym typeface="Arial"/>
                        </a:rPr>
                        <a:t> Xing, </a:t>
                      </a:r>
                      <a:r>
                        <a:rPr lang="en-US" sz="1200" b="0" i="0" u="none" strike="noStrike" cap="none" dirty="0" err="1">
                          <a:solidFill>
                            <a:srgbClr val="000000"/>
                          </a:solidFill>
                          <a:effectLst/>
                          <a:latin typeface="Arial"/>
                          <a:ea typeface="Arial"/>
                          <a:cs typeface="Arial"/>
                          <a:sym typeface="Arial"/>
                        </a:rPr>
                        <a:t>Yuanbo</a:t>
                      </a:r>
                      <a:r>
                        <a:rPr lang="en-US" sz="1200" b="0" i="0" u="none" strike="noStrike" cap="none" dirty="0">
                          <a:solidFill>
                            <a:srgbClr val="000000"/>
                          </a:solidFill>
                          <a:effectLst/>
                          <a:latin typeface="Arial"/>
                          <a:ea typeface="Arial"/>
                          <a:cs typeface="Arial"/>
                          <a:sym typeface="Arial"/>
                        </a:rPr>
                        <a:t> Fang, </a:t>
                      </a:r>
                      <a:r>
                        <a:rPr lang="en-US" sz="1200" b="0" i="0" u="none" strike="noStrike" cap="none" dirty="0" err="1">
                          <a:solidFill>
                            <a:srgbClr val="000000"/>
                          </a:solidFill>
                          <a:effectLst/>
                          <a:latin typeface="Arial"/>
                          <a:ea typeface="Arial"/>
                          <a:cs typeface="Arial"/>
                          <a:sym typeface="Arial"/>
                        </a:rPr>
                        <a:t>Weibin</a:t>
                      </a:r>
                      <a:r>
                        <a:rPr lang="en-US" sz="1200" b="0" i="0" u="none" strike="noStrike" cap="none" dirty="0">
                          <a:solidFill>
                            <a:srgbClr val="000000"/>
                          </a:solidFill>
                          <a:effectLst/>
                          <a:latin typeface="Arial"/>
                          <a:ea typeface="Arial"/>
                          <a:cs typeface="Arial"/>
                          <a:sym typeface="Arial"/>
                        </a:rPr>
                        <a:t> Zhang, </a:t>
                      </a:r>
                      <a:r>
                        <a:rPr lang="en-US" sz="1200" b="0" i="0" u="none" strike="noStrike" cap="none" dirty="0" err="1">
                          <a:solidFill>
                            <a:srgbClr val="000000"/>
                          </a:solidFill>
                          <a:effectLst/>
                          <a:latin typeface="Arial"/>
                          <a:ea typeface="Arial"/>
                          <a:cs typeface="Arial"/>
                          <a:sym typeface="Arial"/>
                        </a:rPr>
                        <a:t>Hengsheng</a:t>
                      </a:r>
                      <a:r>
                        <a:rPr lang="en-US" sz="1200" b="0" i="0" u="none" strike="noStrike" cap="none" dirty="0">
                          <a:solidFill>
                            <a:srgbClr val="000000"/>
                          </a:solidFill>
                          <a:effectLst/>
                          <a:latin typeface="Arial"/>
                          <a:ea typeface="Arial"/>
                          <a:cs typeface="Arial"/>
                          <a:sym typeface="Arial"/>
                        </a:rPr>
                        <a:t> Fan, </a:t>
                      </a:r>
                      <a:r>
                        <a:rPr lang="en-US" sz="1200" b="0" i="0" u="none" strike="noStrike" cap="none" dirty="0" err="1">
                          <a:solidFill>
                            <a:srgbClr val="000000"/>
                          </a:solidFill>
                          <a:effectLst/>
                          <a:latin typeface="Arial"/>
                          <a:ea typeface="Arial"/>
                          <a:cs typeface="Arial"/>
                          <a:sym typeface="Arial"/>
                        </a:rPr>
                        <a:t>Xiangmin</a:t>
                      </a:r>
                      <a:endParaRPr lang="en-US" sz="1200" b="0" i="0" u="none" strike="noStrike" cap="none" dirty="0">
                        <a:solidFill>
                          <a:srgbClr val="000000"/>
                        </a:solidFill>
                        <a:effectLst/>
                        <a:latin typeface="Arial"/>
                        <a:ea typeface="Arial"/>
                        <a:cs typeface="Arial"/>
                        <a:sym typeface="Arial"/>
                      </a:endParaRPr>
                    </a:p>
                    <a:p>
                      <a:r>
                        <a:rPr lang="en-US" sz="1200" b="0" i="0" u="none" strike="noStrike" cap="none" dirty="0">
                          <a:solidFill>
                            <a:srgbClr val="000000"/>
                          </a:solidFill>
                          <a:effectLst/>
                          <a:latin typeface="Arial"/>
                          <a:ea typeface="Arial"/>
                          <a:cs typeface="Arial"/>
                          <a:sym typeface="Arial"/>
                        </a:rPr>
                        <a:t>Xu</a:t>
                      </a:r>
                    </a:p>
                  </a:txBody>
                  <a:tcPr marL="91425" marR="91425" marT="91425" marB="91425"/>
                </a:tc>
                <a:tc>
                  <a:txBody>
                    <a:bodyPr/>
                    <a:lstStyle/>
                    <a:p>
                      <a:pPr marL="0" lvl="0" indent="0" algn="l" rtl="0">
                        <a:spcBef>
                          <a:spcPts val="0"/>
                        </a:spcBef>
                        <a:spcAft>
                          <a:spcPts val="0"/>
                        </a:spcAft>
                        <a:buNone/>
                      </a:pPr>
                      <a:r>
                        <a:rPr lang="en-US" sz="1200" dirty="0"/>
                        <a:t>2024</a:t>
                      </a:r>
                      <a:endParaRPr sz="1200" dirty="0"/>
                    </a:p>
                  </a:txBody>
                  <a:tcPr marL="91425" marR="91425" marT="91425" marB="91425"/>
                </a:tc>
                <a:tc>
                  <a:txBody>
                    <a:bodyPr/>
                    <a:lstStyle/>
                    <a:p>
                      <a:pPr marL="0" lvl="0" indent="0" algn="l" rtl="0">
                        <a:spcBef>
                          <a:spcPts val="0"/>
                        </a:spcBef>
                        <a:spcAft>
                          <a:spcPts val="0"/>
                        </a:spcAft>
                        <a:buNone/>
                      </a:pPr>
                      <a:r>
                        <a:rPr lang="en-US" sz="1200" dirty="0"/>
                        <a:t>Computationally heavy and prone to overfitting on small or similar data.</a:t>
                      </a:r>
                      <a:endParaRPr sz="1200" dirty="0"/>
                    </a:p>
                  </a:txBody>
                  <a:tcPr marL="91425" marR="91425" marT="91425" marB="91425"/>
                </a:tc>
                <a:tc>
                  <a:txBody>
                    <a:bodyPr/>
                    <a:lstStyle/>
                    <a:p>
                      <a:pPr marL="0" lvl="0" indent="0" algn="l" rtl="0">
                        <a:spcBef>
                          <a:spcPts val="0"/>
                        </a:spcBef>
                        <a:spcAft>
                          <a:spcPts val="0"/>
                        </a:spcAft>
                        <a:buNone/>
                      </a:pPr>
                      <a:r>
                        <a:rPr lang="en-US" sz="1200" dirty="0"/>
                        <a:t>Multi-scale temporal structure captures short- and long-term emotional cues effectively.</a:t>
                      </a:r>
                      <a:endParaRPr sz="1200" dirty="0"/>
                    </a:p>
                  </a:txBody>
                  <a:tcPr marL="91425" marR="91425" marT="91425" marB="91425"/>
                </a:tc>
                <a:extLst>
                  <a:ext uri="{0D108BD9-81ED-4DB2-BD59-A6C34878D82A}">
                    <a16:rowId xmlns:a16="http://schemas.microsoft.com/office/drawing/2014/main" val="10001"/>
                  </a:ext>
                </a:extLst>
              </a:tr>
              <a:tr h="589963">
                <a:tc>
                  <a:txBody>
                    <a:bodyPr/>
                    <a:lstStyle/>
                    <a:p>
                      <a:r>
                        <a:rPr lang="en-US" sz="1200" dirty="0">
                          <a:solidFill>
                            <a:srgbClr val="000000"/>
                          </a:solidFill>
                          <a:effectLst/>
                          <a:latin typeface="Arial" panose="020B0604020202020204" pitchFamily="34" charset="0"/>
                        </a:rPr>
                        <a:t>Emotion Neural</a:t>
                      </a:r>
                    </a:p>
                    <a:p>
                      <a:r>
                        <a:rPr lang="en-US" sz="1200" dirty="0">
                          <a:solidFill>
                            <a:srgbClr val="000000"/>
                          </a:solidFill>
                          <a:effectLst/>
                          <a:latin typeface="Arial" panose="020B0604020202020204" pitchFamily="34" charset="0"/>
                        </a:rPr>
                        <a:t>Transducer for Fine-Grained Speech Emotion Recognition</a:t>
                      </a:r>
                    </a:p>
                    <a:p>
                      <a:pPr marL="0" lvl="0" indent="0" algn="l" rtl="0">
                        <a:spcBef>
                          <a:spcPts val="0"/>
                        </a:spcBef>
                        <a:spcAft>
                          <a:spcPts val="0"/>
                        </a:spcAft>
                        <a:buNone/>
                      </a:pPr>
                      <a:endParaRPr dirty="0"/>
                    </a:p>
                  </a:txBody>
                  <a:tcPr marL="91425" marR="91425" marT="91425" marB="91425"/>
                </a:tc>
                <a:tc>
                  <a:txBody>
                    <a:bodyPr/>
                    <a:lstStyle/>
                    <a:p>
                      <a:r>
                        <a:rPr lang="en-US" sz="1200" b="0" i="0" u="none" strike="noStrike" cap="none" dirty="0" err="1">
                          <a:solidFill>
                            <a:srgbClr val="000000"/>
                          </a:solidFill>
                          <a:effectLst/>
                          <a:latin typeface="Arial"/>
                          <a:ea typeface="Arial"/>
                          <a:cs typeface="Arial"/>
                          <a:sym typeface="Arial"/>
                        </a:rPr>
                        <a:t>Siyuan</a:t>
                      </a:r>
                      <a:r>
                        <a:rPr lang="en-US" sz="1200" b="0" i="0" u="none" strike="noStrike" cap="none" dirty="0">
                          <a:solidFill>
                            <a:srgbClr val="000000"/>
                          </a:solidFill>
                          <a:effectLst/>
                          <a:latin typeface="Arial"/>
                          <a:ea typeface="Arial"/>
                          <a:cs typeface="Arial"/>
                          <a:sym typeface="Arial"/>
                        </a:rPr>
                        <a:t> Shen, Yu Gao, Feng Liu, </a:t>
                      </a:r>
                      <a:r>
                        <a:rPr lang="en-US" sz="1200" b="0" i="0" u="none" strike="noStrike" cap="none" dirty="0" err="1">
                          <a:solidFill>
                            <a:srgbClr val="000000"/>
                          </a:solidFill>
                          <a:effectLst/>
                          <a:latin typeface="Arial"/>
                          <a:ea typeface="Arial"/>
                          <a:cs typeface="Arial"/>
                          <a:sym typeface="Arial"/>
                        </a:rPr>
                        <a:t>Hanyang</a:t>
                      </a:r>
                      <a:r>
                        <a:rPr lang="en-US" sz="1200" b="0" i="0" u="none" strike="noStrike" cap="none" dirty="0">
                          <a:solidFill>
                            <a:srgbClr val="000000"/>
                          </a:solidFill>
                          <a:effectLst/>
                          <a:latin typeface="Arial"/>
                          <a:ea typeface="Arial"/>
                          <a:cs typeface="Arial"/>
                          <a:sym typeface="Arial"/>
                        </a:rPr>
                        <a:t> Wang, </a:t>
                      </a:r>
                      <a:r>
                        <a:rPr lang="en-US" sz="1200" b="0" i="0" u="none" strike="noStrike" cap="none" dirty="0" err="1">
                          <a:solidFill>
                            <a:srgbClr val="000000"/>
                          </a:solidFill>
                          <a:effectLst/>
                          <a:latin typeface="Arial"/>
                          <a:ea typeface="Arial"/>
                          <a:cs typeface="Arial"/>
                          <a:sym typeface="Arial"/>
                        </a:rPr>
                        <a:t>Aimin</a:t>
                      </a:r>
                      <a:r>
                        <a:rPr lang="en-US" sz="1200" b="0" i="0" u="none" strike="noStrike" cap="none" dirty="0">
                          <a:solidFill>
                            <a:srgbClr val="000000"/>
                          </a:solidFill>
                          <a:effectLst/>
                          <a:latin typeface="Arial"/>
                          <a:ea typeface="Arial"/>
                          <a:cs typeface="Arial"/>
                          <a:sym typeface="Arial"/>
                        </a:rPr>
                        <a:t> Zhou</a:t>
                      </a:r>
                    </a:p>
                    <a:p>
                      <a:pPr marL="0" lvl="0" indent="0" algn="l" rtl="0">
                        <a:spcBef>
                          <a:spcPts val="0"/>
                        </a:spcBef>
                        <a:spcAft>
                          <a:spcPts val="0"/>
                        </a:spcAft>
                        <a:buNone/>
                      </a:pPr>
                      <a:br>
                        <a:rPr lang="en-IN" dirty="0"/>
                      </a:br>
                      <a:endParaRPr lang="en-IN" dirty="0"/>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sz="1200" dirty="0"/>
                        <a:t>2024</a:t>
                      </a: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Sensitive to noise and requires detailed annotations.</a:t>
                      </a: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Frame-level emotion detection enables fine-grained emotional tracking.</a:t>
                      </a:r>
                      <a:endParaRPr sz="1200" dirty="0"/>
                    </a:p>
                  </a:txBody>
                  <a:tcPr marL="91425" marR="91425" marT="91425" marB="91425"/>
                </a:tc>
                <a:extLst>
                  <a:ext uri="{0D108BD9-81ED-4DB2-BD59-A6C34878D82A}">
                    <a16:rowId xmlns:a16="http://schemas.microsoft.com/office/drawing/2014/main" val="10002"/>
                  </a:ext>
                </a:extLst>
              </a:tr>
              <a:tr h="1253065">
                <a:tc>
                  <a:txBody>
                    <a:bodyPr/>
                    <a:lstStyle/>
                    <a:p>
                      <a:r>
                        <a:rPr lang="en-US" sz="1200" dirty="0">
                          <a:solidFill>
                            <a:srgbClr val="000000"/>
                          </a:solidFill>
                          <a:effectLst/>
                          <a:latin typeface="Arial" panose="020B0604020202020204" pitchFamily="34" charset="0"/>
                        </a:rPr>
                        <a:t>Integrating Emotion Recognition with</a:t>
                      </a:r>
                    </a:p>
                    <a:p>
                      <a:r>
                        <a:rPr lang="en-US" sz="1200" dirty="0">
                          <a:solidFill>
                            <a:srgbClr val="000000"/>
                          </a:solidFill>
                          <a:effectLst/>
                          <a:latin typeface="Arial" panose="020B0604020202020204" pitchFamily="34" charset="0"/>
                        </a:rPr>
                        <a:t>Speech Recognition and Speaker </a:t>
                      </a:r>
                      <a:r>
                        <a:rPr lang="en-US" sz="1200" dirty="0" err="1">
                          <a:solidFill>
                            <a:srgbClr val="000000"/>
                          </a:solidFill>
                          <a:effectLst/>
                          <a:latin typeface="Arial" panose="020B0604020202020204" pitchFamily="34" charset="0"/>
                        </a:rPr>
                        <a:t>Diarisation</a:t>
                      </a:r>
                      <a:r>
                        <a:rPr lang="en-US" sz="1200" dirty="0">
                          <a:solidFill>
                            <a:srgbClr val="000000"/>
                          </a:solidFill>
                          <a:effectLst/>
                          <a:latin typeface="Arial" panose="020B0604020202020204" pitchFamily="34" charset="0"/>
                        </a:rPr>
                        <a:t> for Conversations</a:t>
                      </a:r>
                    </a:p>
                    <a:p>
                      <a:pPr marL="0" lvl="0" indent="0" algn="l" rtl="0">
                        <a:spcBef>
                          <a:spcPts val="0"/>
                        </a:spcBef>
                        <a:spcAft>
                          <a:spcPts val="0"/>
                        </a:spcAft>
                        <a:buNone/>
                      </a:pPr>
                      <a:endParaRPr dirty="0"/>
                    </a:p>
                  </a:txBody>
                  <a:tcPr marL="91425" marR="91425" marT="91425" marB="91425"/>
                </a:tc>
                <a:tc>
                  <a:txBody>
                    <a:bodyPr/>
                    <a:lstStyle/>
                    <a:p>
                      <a:r>
                        <a:rPr lang="en-US" sz="1200" dirty="0">
                          <a:solidFill>
                            <a:srgbClr val="000000"/>
                          </a:solidFill>
                          <a:effectLst/>
                          <a:latin typeface="Arial" panose="020B0604020202020204" pitchFamily="34" charset="0"/>
                        </a:rPr>
                        <a:t>Wen Wu, Chao Zhang, Philip C. Woodland</a:t>
                      </a:r>
                    </a:p>
                    <a:p>
                      <a:pPr marL="0" lvl="0" indent="0" algn="l" rtl="0">
                        <a:spcBef>
                          <a:spcPts val="0"/>
                        </a:spcBef>
                        <a:spcAft>
                          <a:spcPts val="0"/>
                        </a:spcAft>
                        <a:buNone/>
                      </a:pPr>
                      <a:br>
                        <a:rPr lang="en-IN" dirty="0"/>
                      </a:br>
                      <a:endParaRPr lang="en-IN" dirty="0"/>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sz="1200" dirty="0"/>
                        <a:t>2023</a:t>
                      </a: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System complexity is high and depends on accurate speech/speaker modules.</a:t>
                      </a:r>
                      <a:endParaRPr sz="1200" dirty="0"/>
                    </a:p>
                  </a:txBody>
                  <a:tcPr marL="91425" marR="91425" marT="91425" marB="91425"/>
                </a:tc>
                <a:tc>
                  <a:txBody>
                    <a:bodyPr/>
                    <a:lstStyle/>
                    <a:p>
                      <a:pPr marL="0" lvl="0" indent="0" algn="l" rtl="0">
                        <a:spcBef>
                          <a:spcPts val="0"/>
                        </a:spcBef>
                        <a:spcAft>
                          <a:spcPts val="0"/>
                        </a:spcAft>
                        <a:buNone/>
                      </a:pPr>
                      <a:r>
                        <a:rPr lang="en-US" sz="1200" dirty="0"/>
                        <a:t>Integrates emotion, speech, and speaker recognition for conversation analysis.</a:t>
                      </a:r>
                      <a:endParaRPr sz="1200" dirty="0"/>
                    </a:p>
                  </a:txBody>
                  <a:tcPr marL="91425" marR="91425" marT="91425" marB="91425"/>
                </a:tc>
                <a:extLst>
                  <a:ext uri="{0D108BD9-81ED-4DB2-BD59-A6C34878D82A}">
                    <a16:rowId xmlns:a16="http://schemas.microsoft.com/office/drawing/2014/main" val="10003"/>
                  </a:ext>
                </a:extLst>
              </a:tr>
            </a:tbl>
          </a:graphicData>
        </a:graphic>
      </p:graphicFrame>
      <p:sp>
        <p:nvSpPr>
          <p:cNvPr id="96" name="Google Shape;96;p17"/>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97" name="Google Shape;97;p17"/>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a:latin typeface="Comfortaa"/>
                <a:ea typeface="Comfortaa"/>
                <a:cs typeface="Comfortaa"/>
                <a:sym typeface="Comfortaa"/>
              </a:rPr>
              <a:t>05</a:t>
            </a:r>
            <a:endParaRPr sz="1100" b="1">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27EF4FCC-D894-EE3A-9F58-9E473F7BA81D}"/>
              </a:ext>
            </a:extLst>
          </p:cNvPr>
          <p:cNvPicPr preferRelativeResize="0"/>
          <p:nvPr/>
        </p:nvPicPr>
        <p:blipFill>
          <a:blip r:embed="rId3">
            <a:alphaModFix/>
          </a:blip>
          <a:stretch>
            <a:fillRect/>
          </a:stretch>
        </p:blipFill>
        <p:spPr>
          <a:xfrm>
            <a:off x="7575331" y="39037"/>
            <a:ext cx="1574225" cy="3192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graphicFrame>
        <p:nvGraphicFramePr>
          <p:cNvPr id="94" name="Google Shape;94;p17"/>
          <p:cNvGraphicFramePr/>
          <p:nvPr>
            <p:extLst>
              <p:ext uri="{D42A27DB-BD31-4B8C-83A1-F6EECF244321}">
                <p14:modId xmlns:p14="http://schemas.microsoft.com/office/powerpoint/2010/main" val="3912034741"/>
              </p:ext>
            </p:extLst>
          </p:nvPr>
        </p:nvGraphicFramePr>
        <p:xfrm>
          <a:off x="280644" y="358262"/>
          <a:ext cx="8440825" cy="4949861"/>
        </p:xfrm>
        <a:graphic>
          <a:graphicData uri="http://schemas.openxmlformats.org/drawingml/2006/table">
            <a:tbl>
              <a:tblPr>
                <a:noFill/>
                <a:tableStyleId>{962E5AC8-D1FD-4F38-99A3-E05809E0F263}</a:tableStyleId>
              </a:tblPr>
              <a:tblGrid>
                <a:gridCol w="2282775">
                  <a:extLst>
                    <a:ext uri="{9D8B030D-6E8A-4147-A177-3AD203B41FA5}">
                      <a16:colId xmlns:a16="http://schemas.microsoft.com/office/drawing/2014/main" val="20000"/>
                    </a:ext>
                  </a:extLst>
                </a:gridCol>
                <a:gridCol w="1466600">
                  <a:extLst>
                    <a:ext uri="{9D8B030D-6E8A-4147-A177-3AD203B41FA5}">
                      <a16:colId xmlns:a16="http://schemas.microsoft.com/office/drawing/2014/main" val="20001"/>
                    </a:ext>
                  </a:extLst>
                </a:gridCol>
                <a:gridCol w="744725">
                  <a:extLst>
                    <a:ext uri="{9D8B030D-6E8A-4147-A177-3AD203B41FA5}">
                      <a16:colId xmlns:a16="http://schemas.microsoft.com/office/drawing/2014/main" val="20002"/>
                    </a:ext>
                  </a:extLst>
                </a:gridCol>
                <a:gridCol w="2177849">
                  <a:extLst>
                    <a:ext uri="{9D8B030D-6E8A-4147-A177-3AD203B41FA5}">
                      <a16:colId xmlns:a16="http://schemas.microsoft.com/office/drawing/2014/main" val="20003"/>
                    </a:ext>
                  </a:extLst>
                </a:gridCol>
                <a:gridCol w="1768876">
                  <a:extLst>
                    <a:ext uri="{9D8B030D-6E8A-4147-A177-3AD203B41FA5}">
                      <a16:colId xmlns:a16="http://schemas.microsoft.com/office/drawing/2014/main" val="20004"/>
                    </a:ext>
                  </a:extLst>
                </a:gridCol>
              </a:tblGrid>
              <a:tr h="383006">
                <a:tc>
                  <a:txBody>
                    <a:bodyPr/>
                    <a:lstStyle/>
                    <a:p>
                      <a:pPr marL="0" lvl="0" indent="0" algn="l" rtl="0">
                        <a:spcBef>
                          <a:spcPts val="0"/>
                        </a:spcBef>
                        <a:spcAft>
                          <a:spcPts val="0"/>
                        </a:spcAft>
                        <a:buNone/>
                      </a:pPr>
                      <a:r>
                        <a:rPr lang="en-GB">
                          <a:latin typeface="Comfortaa"/>
                          <a:ea typeface="Comfortaa"/>
                          <a:cs typeface="Comfortaa"/>
                          <a:sym typeface="Comfortaa"/>
                        </a:rPr>
                        <a:t>Title </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Author</a:t>
                      </a:r>
                      <a:endParaRPr dirty="0">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Year</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Limitations</a:t>
                      </a:r>
                      <a:endParaRPr dirty="0">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Advantage</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0"/>
                  </a:ext>
                </a:extLst>
              </a:tr>
              <a:tr h="1767826">
                <a:tc>
                  <a:txBody>
                    <a:bodyPr/>
                    <a:lstStyle/>
                    <a:p>
                      <a:r>
                        <a:rPr lang="en-US" sz="1200" dirty="0">
                          <a:solidFill>
                            <a:srgbClr val="000000"/>
                          </a:solidFill>
                          <a:effectLst/>
                          <a:latin typeface="Arial" panose="020B0604020202020204" pitchFamily="34" charset="0"/>
                        </a:rPr>
                        <a:t>Lightweight Neural Networks</a:t>
                      </a:r>
                    </a:p>
                    <a:p>
                      <a:r>
                        <a:rPr lang="en-US" sz="1200" dirty="0">
                          <a:solidFill>
                            <a:srgbClr val="000000"/>
                          </a:solidFill>
                          <a:effectLst/>
                          <a:latin typeface="Arial" panose="020B0604020202020204" pitchFamily="34" charset="0"/>
                        </a:rPr>
                        <a:t>for Speech Emotion Recognition using Layer-wise Adaptive Quantization</a:t>
                      </a:r>
                    </a:p>
                    <a:p>
                      <a:pPr marL="0" lvl="0" indent="0" algn="l" rtl="0">
                        <a:spcBef>
                          <a:spcPts val="0"/>
                        </a:spcBef>
                        <a:spcAft>
                          <a:spcPts val="0"/>
                        </a:spcAft>
                        <a:buNone/>
                      </a:pPr>
                      <a:endParaRPr dirty="0"/>
                    </a:p>
                  </a:txBody>
                  <a:tcPr marL="91425" marR="91425" marT="91425" marB="91425"/>
                </a:tc>
                <a:tc>
                  <a:txBody>
                    <a:bodyPr/>
                    <a:lstStyle/>
                    <a:p>
                      <a:r>
                        <a:rPr lang="en-US" sz="1200" dirty="0">
                          <a:solidFill>
                            <a:srgbClr val="000000"/>
                          </a:solidFill>
                          <a:effectLst/>
                          <a:latin typeface="Arial" panose="020B0604020202020204" pitchFamily="34" charset="0"/>
                        </a:rPr>
                        <a:t>Tushar Shinde, Ritika Jain, </a:t>
                      </a:r>
                      <a:r>
                        <a:rPr lang="en-US" sz="1200" dirty="0" err="1">
                          <a:solidFill>
                            <a:srgbClr val="000000"/>
                          </a:solidFill>
                          <a:effectLst/>
                          <a:latin typeface="Arial" panose="020B0604020202020204" pitchFamily="34" charset="0"/>
                        </a:rPr>
                        <a:t>Avinash</a:t>
                      </a:r>
                      <a:r>
                        <a:rPr lang="en-US" sz="1200" dirty="0">
                          <a:solidFill>
                            <a:srgbClr val="000000"/>
                          </a:solidFill>
                          <a:effectLst/>
                          <a:latin typeface="Arial" panose="020B0604020202020204" pitchFamily="34" charset="0"/>
                        </a:rPr>
                        <a:t> Kumar Sharma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lang="en-IN" sz="1400" b="0" i="0" u="none" strike="noStrike" cap="none" dirty="0">
                          <a:solidFill>
                            <a:srgbClr val="000000"/>
                          </a:solidFill>
                          <a:effectLst/>
                          <a:latin typeface="Arial"/>
                          <a:ea typeface="Arial"/>
                          <a:cs typeface="Arial"/>
                          <a:sym typeface="Arial"/>
                        </a:rPr>
                      </a:br>
                      <a:endParaRPr lang="en-IN" sz="14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sz="1200" dirty="0"/>
                    </a:p>
                  </a:txBody>
                  <a:tcPr marL="91425" marR="91425" marT="91425" marB="91425"/>
                </a:tc>
                <a:tc>
                  <a:txBody>
                    <a:bodyPr/>
                    <a:lstStyle/>
                    <a:p>
                      <a:pPr marL="0" lvl="0" indent="0" algn="l" rtl="0">
                        <a:spcBef>
                          <a:spcPts val="0"/>
                        </a:spcBef>
                        <a:spcAft>
                          <a:spcPts val="0"/>
                        </a:spcAft>
                        <a:buNone/>
                      </a:pPr>
                      <a:r>
                        <a:rPr lang="en-US" sz="1200" dirty="0"/>
                        <a:t>2024</a:t>
                      </a:r>
                      <a:endParaRPr sz="1200" dirty="0"/>
                    </a:p>
                  </a:txBody>
                  <a:tcPr marL="91425" marR="91425" marT="91425" marB="91425"/>
                </a:tc>
                <a:tc>
                  <a:txBody>
                    <a:bodyPr/>
                    <a:lstStyle/>
                    <a:p>
                      <a:pPr marL="0" lvl="0" indent="0" algn="l" rtl="0">
                        <a:spcBef>
                          <a:spcPts val="0"/>
                        </a:spcBef>
                        <a:spcAft>
                          <a:spcPts val="0"/>
                        </a:spcAft>
                        <a:buNone/>
                      </a:pPr>
                      <a:r>
                        <a:rPr lang="en-US" sz="1200" dirty="0"/>
                        <a:t>Slight drop in accuracy and limited emotional expression handling.</a:t>
                      </a:r>
                      <a:endParaRPr sz="1200" dirty="0"/>
                    </a:p>
                  </a:txBody>
                  <a:tcPr marL="91425" marR="91425" marT="91425" marB="91425"/>
                </a:tc>
                <a:tc>
                  <a:txBody>
                    <a:bodyPr/>
                    <a:lstStyle/>
                    <a:p>
                      <a:pPr marL="0" lvl="0" indent="0" algn="l" rtl="0">
                        <a:spcBef>
                          <a:spcPts val="0"/>
                        </a:spcBef>
                        <a:spcAft>
                          <a:spcPts val="0"/>
                        </a:spcAft>
                        <a:buNone/>
                      </a:pPr>
                      <a:r>
                        <a:rPr lang="en-US" sz="1200" dirty="0"/>
                        <a:t>Lightweight model with adaptive quantization suits low-power devices.</a:t>
                      </a:r>
                      <a:endParaRPr sz="1200" dirty="0"/>
                    </a:p>
                  </a:txBody>
                  <a:tcPr marL="91425" marR="91425" marT="91425" marB="91425"/>
                </a:tc>
                <a:extLst>
                  <a:ext uri="{0D108BD9-81ED-4DB2-BD59-A6C34878D82A}">
                    <a16:rowId xmlns:a16="http://schemas.microsoft.com/office/drawing/2014/main" val="10001"/>
                  </a:ext>
                </a:extLst>
              </a:tr>
              <a:tr h="1414255">
                <a:tc>
                  <a:txBody>
                    <a:bodyPr/>
                    <a:lstStyle/>
                    <a:p>
                      <a:r>
                        <a:rPr lang="en-US" sz="1200" dirty="0">
                          <a:solidFill>
                            <a:srgbClr val="000000"/>
                          </a:solidFill>
                          <a:effectLst/>
                          <a:latin typeface="Arial" panose="020B0604020202020204" pitchFamily="34" charset="0"/>
                        </a:rPr>
                        <a:t>An Empirical Study and Improvement for Speech</a:t>
                      </a:r>
                    </a:p>
                    <a:p>
                      <a:r>
                        <a:rPr lang="en-US" sz="1200" dirty="0">
                          <a:solidFill>
                            <a:srgbClr val="000000"/>
                          </a:solidFill>
                          <a:effectLst/>
                          <a:latin typeface="Arial" panose="020B0604020202020204" pitchFamily="34" charset="0"/>
                        </a:rPr>
                        <a:t>Emotion Recognition</a:t>
                      </a:r>
                    </a:p>
                  </a:txBody>
                  <a:tcPr marL="91425" marR="91425" marT="91425" marB="91425"/>
                </a:tc>
                <a:tc>
                  <a:txBody>
                    <a:bodyPr/>
                    <a:lstStyle/>
                    <a:p>
                      <a:r>
                        <a:rPr lang="en-US" sz="1200" dirty="0">
                          <a:solidFill>
                            <a:srgbClr val="000000"/>
                          </a:solidFill>
                          <a:effectLst/>
                          <a:latin typeface="Arial" panose="020B0604020202020204" pitchFamily="34" charset="0"/>
                        </a:rPr>
                        <a:t>Zhen Wu, </a:t>
                      </a:r>
                      <a:r>
                        <a:rPr lang="en-US" sz="1200" dirty="0" err="1">
                          <a:solidFill>
                            <a:srgbClr val="000000"/>
                          </a:solidFill>
                          <a:effectLst/>
                          <a:latin typeface="Arial" panose="020B0604020202020204" pitchFamily="34" charset="0"/>
                        </a:rPr>
                        <a:t>Yizhe</a:t>
                      </a:r>
                      <a:r>
                        <a:rPr lang="en-US" sz="1200" dirty="0">
                          <a:solidFill>
                            <a:srgbClr val="000000"/>
                          </a:solidFill>
                          <a:effectLst/>
                          <a:latin typeface="Arial" panose="020B0604020202020204" pitchFamily="34" charset="0"/>
                        </a:rPr>
                        <a:t> Lu, </a:t>
                      </a:r>
                      <a:r>
                        <a:rPr lang="en-US" sz="1200" dirty="0" err="1">
                          <a:solidFill>
                            <a:srgbClr val="000000"/>
                          </a:solidFill>
                          <a:effectLst/>
                          <a:latin typeface="Arial" panose="020B0604020202020204" pitchFamily="34" charset="0"/>
                        </a:rPr>
                        <a:t>Xinyu</a:t>
                      </a:r>
                      <a:r>
                        <a:rPr lang="en-US" sz="1200" dirty="0">
                          <a:solidFill>
                            <a:srgbClr val="000000"/>
                          </a:solidFill>
                          <a:effectLst/>
                          <a:latin typeface="Arial" panose="020B0604020202020204" pitchFamily="34" charset="0"/>
                        </a:rPr>
                        <a:t> Da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lang="en-IN" dirty="0"/>
                      </a:br>
                      <a:endParaRPr lang="en-IN"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dirty="0"/>
                    </a:p>
                  </a:txBody>
                  <a:tcPr marL="91425" marR="91425" marT="91425" marB="91425"/>
                </a:tc>
                <a:tc>
                  <a:txBody>
                    <a:bodyPr/>
                    <a:lstStyle/>
                    <a:p>
                      <a:pPr marL="0" lvl="0" indent="0" algn="l" rtl="0">
                        <a:spcBef>
                          <a:spcPts val="0"/>
                        </a:spcBef>
                        <a:spcAft>
                          <a:spcPts val="0"/>
                        </a:spcAft>
                        <a:buNone/>
                      </a:pPr>
                      <a:r>
                        <a:rPr lang="en-US" sz="1200" dirty="0"/>
                        <a:t>2023</a:t>
                      </a:r>
                      <a:endParaRPr sz="1200" dirty="0"/>
                    </a:p>
                  </a:txBody>
                  <a:tcPr marL="91425" marR="91425" marT="91425" marB="91425"/>
                </a:tc>
                <a:tc>
                  <a:txBody>
                    <a:bodyPr/>
                    <a:lstStyle/>
                    <a:p>
                      <a:pPr marL="0" lvl="0" indent="0" algn="l" rtl="0">
                        <a:spcBef>
                          <a:spcPts val="0"/>
                        </a:spcBef>
                        <a:spcAft>
                          <a:spcPts val="0"/>
                        </a:spcAft>
                        <a:buNone/>
                      </a:pPr>
                      <a:r>
                        <a:rPr lang="en-US" sz="1200" dirty="0"/>
                        <a:t>Lacks novelty and contributions are mostly incremental.</a:t>
                      </a:r>
                      <a:endParaRPr sz="1200" dirty="0"/>
                    </a:p>
                  </a:txBody>
                  <a:tcPr marL="91425" marR="91425" marT="91425" marB="91425"/>
                </a:tc>
                <a:tc>
                  <a:txBody>
                    <a:bodyPr/>
                    <a:lstStyle/>
                    <a:p>
                      <a:pPr marL="0" lvl="0" indent="0" algn="l" rtl="0">
                        <a:spcBef>
                          <a:spcPts val="0"/>
                        </a:spcBef>
                        <a:spcAft>
                          <a:spcPts val="0"/>
                        </a:spcAft>
                        <a:buNone/>
                      </a:pPr>
                      <a:r>
                        <a:rPr lang="en-US" sz="1200" dirty="0"/>
                        <a:t>Offers practical improvements and strong benchmarking of SER models.</a:t>
                      </a:r>
                      <a:endParaRPr sz="1200" dirty="0"/>
                    </a:p>
                  </a:txBody>
                  <a:tcPr marL="91425" marR="91425" marT="91425" marB="91425"/>
                </a:tc>
                <a:extLst>
                  <a:ext uri="{0D108BD9-81ED-4DB2-BD59-A6C34878D82A}">
                    <a16:rowId xmlns:a16="http://schemas.microsoft.com/office/drawing/2014/main" val="10002"/>
                  </a:ext>
                </a:extLst>
              </a:tr>
              <a:tr h="1149077">
                <a:tc>
                  <a:txBody>
                    <a:bodyPr/>
                    <a:lstStyle/>
                    <a:p>
                      <a:r>
                        <a:rPr lang="en-US" sz="1200" dirty="0">
                          <a:solidFill>
                            <a:srgbClr val="000000"/>
                          </a:solidFill>
                          <a:effectLst/>
                          <a:latin typeface="Arial" panose="020B0604020202020204" pitchFamily="34" charset="0"/>
                        </a:rPr>
                        <a:t>Double Multi-Head Attention</a:t>
                      </a:r>
                    </a:p>
                    <a:p>
                      <a:r>
                        <a:rPr lang="en-US" sz="1200" dirty="0">
                          <a:solidFill>
                            <a:srgbClr val="000000"/>
                          </a:solidFill>
                          <a:effectLst/>
                          <a:latin typeface="Arial" panose="020B0604020202020204" pitchFamily="34" charset="0"/>
                        </a:rPr>
                        <a:t>Multimodal System for Odyssey 2024 Speech Emotion Recognition Challenge</a:t>
                      </a:r>
                    </a:p>
                    <a:p>
                      <a:pPr marL="0" lvl="0" indent="0" algn="l" rtl="0">
                        <a:spcBef>
                          <a:spcPts val="0"/>
                        </a:spcBef>
                        <a:spcAft>
                          <a:spcPts val="0"/>
                        </a:spcAft>
                        <a:buNone/>
                      </a:pPr>
                      <a:endParaRPr dirty="0"/>
                    </a:p>
                  </a:txBody>
                  <a:tcPr marL="91425" marR="91425" marT="91425" marB="91425"/>
                </a:tc>
                <a:tc>
                  <a:txBody>
                    <a:bodyPr/>
                    <a:lstStyle/>
                    <a:p>
                      <a:r>
                        <a:rPr lang="en-US" sz="1200" b="0" i="0" u="none" strike="noStrike" cap="none" dirty="0">
                          <a:solidFill>
                            <a:srgbClr val="000000"/>
                          </a:solidFill>
                          <a:effectLst/>
                          <a:latin typeface="Arial"/>
                          <a:ea typeface="Arial"/>
                          <a:cs typeface="Arial"/>
                          <a:sym typeface="Arial"/>
                        </a:rPr>
                        <a:t>Federico Costa, Miquel India, Javier Hernando</a:t>
                      </a:r>
                    </a:p>
                    <a:p>
                      <a:pPr marL="0" lvl="0" indent="0" algn="l" rtl="0">
                        <a:spcBef>
                          <a:spcPts val="0"/>
                        </a:spcBef>
                        <a:spcAft>
                          <a:spcPts val="0"/>
                        </a:spcAft>
                        <a:buNone/>
                      </a:pPr>
                      <a:br>
                        <a:rPr lang="en-IN" dirty="0"/>
                      </a:br>
                      <a:endParaRPr lang="en-IN" dirty="0"/>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sz="1200" dirty="0"/>
                        <a:t>2024</a:t>
                      </a: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Complex and resource-heavy, less suited for real-time use.</a:t>
                      </a:r>
                      <a:endParaRPr sz="1200" dirty="0"/>
                    </a:p>
                  </a:txBody>
                  <a:tcPr marL="91425" marR="91425" marT="91425" marB="91425"/>
                </a:tc>
                <a:tc>
                  <a:txBody>
                    <a:bodyPr/>
                    <a:lstStyle/>
                    <a:p>
                      <a:pPr marL="0" lvl="0" indent="0" algn="l" rtl="0">
                        <a:spcBef>
                          <a:spcPts val="0"/>
                        </a:spcBef>
                        <a:spcAft>
                          <a:spcPts val="0"/>
                        </a:spcAft>
                        <a:buNone/>
                      </a:pPr>
                      <a:r>
                        <a:rPr lang="en-US" sz="1200" dirty="0"/>
                        <a:t>Multi-head attention with multimodal inputs boosts accuracy.</a:t>
                      </a:r>
                      <a:endParaRPr sz="1200" dirty="0"/>
                    </a:p>
                  </a:txBody>
                  <a:tcPr marL="91425" marR="91425" marT="91425" marB="91425"/>
                </a:tc>
                <a:extLst>
                  <a:ext uri="{0D108BD9-81ED-4DB2-BD59-A6C34878D82A}">
                    <a16:rowId xmlns:a16="http://schemas.microsoft.com/office/drawing/2014/main" val="10003"/>
                  </a:ext>
                </a:extLst>
              </a:tr>
            </a:tbl>
          </a:graphicData>
        </a:graphic>
      </p:graphicFrame>
      <p:sp>
        <p:nvSpPr>
          <p:cNvPr id="96" name="Google Shape;96;p17"/>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97" name="Google Shape;97;p17"/>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06</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BD9C67D9-133A-696E-ABA2-4B68E63ED333}"/>
              </a:ext>
            </a:extLst>
          </p:cNvPr>
          <p:cNvPicPr preferRelativeResize="0"/>
          <p:nvPr/>
        </p:nvPicPr>
        <p:blipFill>
          <a:blip r:embed="rId3">
            <a:alphaModFix/>
          </a:blip>
          <a:stretch>
            <a:fillRect/>
          </a:stretch>
        </p:blipFill>
        <p:spPr>
          <a:xfrm>
            <a:off x="7606861" y="0"/>
            <a:ext cx="1485165" cy="266820"/>
          </a:xfrm>
          <a:prstGeom prst="rect">
            <a:avLst/>
          </a:prstGeom>
          <a:noFill/>
          <a:ln>
            <a:noFill/>
          </a:ln>
        </p:spPr>
      </p:pic>
    </p:spTree>
    <p:extLst>
      <p:ext uri="{BB962C8B-B14F-4D97-AF65-F5344CB8AC3E}">
        <p14:creationId xmlns:p14="http://schemas.microsoft.com/office/powerpoint/2010/main" val="4200074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graphicFrame>
        <p:nvGraphicFramePr>
          <p:cNvPr id="94" name="Google Shape;94;p17"/>
          <p:cNvGraphicFramePr/>
          <p:nvPr>
            <p:extLst>
              <p:ext uri="{D42A27DB-BD31-4B8C-83A1-F6EECF244321}">
                <p14:modId xmlns:p14="http://schemas.microsoft.com/office/powerpoint/2010/main" val="2017661457"/>
              </p:ext>
            </p:extLst>
          </p:nvPr>
        </p:nvGraphicFramePr>
        <p:xfrm>
          <a:off x="280644" y="358261"/>
          <a:ext cx="8440825" cy="4610554"/>
        </p:xfrm>
        <a:graphic>
          <a:graphicData uri="http://schemas.openxmlformats.org/drawingml/2006/table">
            <a:tbl>
              <a:tblPr>
                <a:noFill/>
                <a:tableStyleId>{962E5AC8-D1FD-4F38-99A3-E05809E0F263}</a:tableStyleId>
              </a:tblPr>
              <a:tblGrid>
                <a:gridCol w="2282775">
                  <a:extLst>
                    <a:ext uri="{9D8B030D-6E8A-4147-A177-3AD203B41FA5}">
                      <a16:colId xmlns:a16="http://schemas.microsoft.com/office/drawing/2014/main" val="20000"/>
                    </a:ext>
                  </a:extLst>
                </a:gridCol>
                <a:gridCol w="1466600">
                  <a:extLst>
                    <a:ext uri="{9D8B030D-6E8A-4147-A177-3AD203B41FA5}">
                      <a16:colId xmlns:a16="http://schemas.microsoft.com/office/drawing/2014/main" val="20001"/>
                    </a:ext>
                  </a:extLst>
                </a:gridCol>
                <a:gridCol w="744725">
                  <a:extLst>
                    <a:ext uri="{9D8B030D-6E8A-4147-A177-3AD203B41FA5}">
                      <a16:colId xmlns:a16="http://schemas.microsoft.com/office/drawing/2014/main" val="20002"/>
                    </a:ext>
                  </a:extLst>
                </a:gridCol>
                <a:gridCol w="2177849">
                  <a:extLst>
                    <a:ext uri="{9D8B030D-6E8A-4147-A177-3AD203B41FA5}">
                      <a16:colId xmlns:a16="http://schemas.microsoft.com/office/drawing/2014/main" val="20003"/>
                    </a:ext>
                  </a:extLst>
                </a:gridCol>
                <a:gridCol w="1768876">
                  <a:extLst>
                    <a:ext uri="{9D8B030D-6E8A-4147-A177-3AD203B41FA5}">
                      <a16:colId xmlns:a16="http://schemas.microsoft.com/office/drawing/2014/main" val="20004"/>
                    </a:ext>
                  </a:extLst>
                </a:gridCol>
              </a:tblGrid>
              <a:tr h="418456">
                <a:tc>
                  <a:txBody>
                    <a:bodyPr/>
                    <a:lstStyle/>
                    <a:p>
                      <a:pPr marL="0" lvl="0" indent="0" algn="l" rtl="0">
                        <a:spcBef>
                          <a:spcPts val="0"/>
                        </a:spcBef>
                        <a:spcAft>
                          <a:spcPts val="0"/>
                        </a:spcAft>
                        <a:buNone/>
                      </a:pPr>
                      <a:r>
                        <a:rPr lang="en-GB">
                          <a:latin typeface="Comfortaa"/>
                          <a:ea typeface="Comfortaa"/>
                          <a:cs typeface="Comfortaa"/>
                          <a:sym typeface="Comfortaa"/>
                        </a:rPr>
                        <a:t>Title </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Author</a:t>
                      </a:r>
                      <a:endParaRPr dirty="0">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a:latin typeface="Comfortaa"/>
                          <a:ea typeface="Comfortaa"/>
                          <a:cs typeface="Comfortaa"/>
                          <a:sym typeface="Comfortaa"/>
                        </a:rPr>
                        <a:t>Year</a:t>
                      </a:r>
                      <a:endParaRPr>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Limitations</a:t>
                      </a:r>
                      <a:endParaRPr dirty="0">
                        <a:latin typeface="Comfortaa"/>
                        <a:ea typeface="Comfortaa"/>
                        <a:cs typeface="Comfortaa"/>
                        <a:sym typeface="Comfortaa"/>
                      </a:endParaRPr>
                    </a:p>
                  </a:txBody>
                  <a:tcPr marL="91425" marR="91425" marT="91425" marB="91425"/>
                </a:tc>
                <a:tc>
                  <a:txBody>
                    <a:bodyPr/>
                    <a:lstStyle/>
                    <a:p>
                      <a:pPr marL="0" lvl="0" indent="0" algn="l" rtl="0">
                        <a:spcBef>
                          <a:spcPts val="0"/>
                        </a:spcBef>
                        <a:spcAft>
                          <a:spcPts val="0"/>
                        </a:spcAft>
                        <a:buNone/>
                      </a:pPr>
                      <a:r>
                        <a:rPr lang="en-GB" dirty="0">
                          <a:latin typeface="Comfortaa"/>
                          <a:ea typeface="Comfortaa"/>
                          <a:cs typeface="Comfortaa"/>
                          <a:sym typeface="Comfortaa"/>
                        </a:rPr>
                        <a:t>Advantage</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0"/>
                  </a:ext>
                </a:extLst>
              </a:tr>
              <a:tr h="1545153">
                <a:tc>
                  <a:txBody>
                    <a:bodyPr/>
                    <a:lstStyle/>
                    <a:p>
                      <a:r>
                        <a:rPr lang="en-US" sz="1200" b="0" i="0" u="none" strike="noStrike" cap="none" dirty="0">
                          <a:solidFill>
                            <a:srgbClr val="000000"/>
                          </a:solidFill>
                          <a:effectLst/>
                          <a:latin typeface="Arial"/>
                          <a:ea typeface="Arial"/>
                          <a:cs typeface="Arial"/>
                          <a:sym typeface="Arial"/>
                        </a:rPr>
                        <a:t>Speech Emotion Recognition with Distilled Prosodic</a:t>
                      </a:r>
                    </a:p>
                    <a:p>
                      <a:r>
                        <a:rPr lang="en-US" sz="1200" b="0" i="0" u="none" strike="noStrike" cap="none" dirty="0">
                          <a:solidFill>
                            <a:srgbClr val="000000"/>
                          </a:solidFill>
                          <a:effectLst/>
                          <a:latin typeface="Arial"/>
                          <a:ea typeface="Arial"/>
                          <a:cs typeface="Arial"/>
                          <a:sym typeface="Arial"/>
                        </a:rPr>
                        <a:t>and Linguistic Affect Representations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err="1">
                          <a:solidFill>
                            <a:srgbClr val="000000"/>
                          </a:solidFill>
                          <a:effectLst/>
                          <a:latin typeface="Arial"/>
                          <a:ea typeface="Arial"/>
                          <a:cs typeface="Arial"/>
                          <a:sym typeface="Arial"/>
                        </a:rPr>
                        <a:t>Debaditya</a:t>
                      </a:r>
                      <a:r>
                        <a:rPr lang="en-US" sz="1200" b="0" i="0" u="none" strike="noStrike" cap="none" dirty="0">
                          <a:solidFill>
                            <a:srgbClr val="000000"/>
                          </a:solidFill>
                          <a:effectLst/>
                          <a:latin typeface="Arial"/>
                          <a:ea typeface="Arial"/>
                          <a:cs typeface="Arial"/>
                          <a:sym typeface="Arial"/>
                        </a:rPr>
                        <a:t> </a:t>
                      </a:r>
                      <a:r>
                        <a:rPr lang="en-US" sz="1200" b="0" i="0" u="none" strike="noStrike" cap="none" dirty="0" err="1">
                          <a:solidFill>
                            <a:srgbClr val="000000"/>
                          </a:solidFill>
                          <a:effectLst/>
                          <a:latin typeface="Arial"/>
                          <a:ea typeface="Arial"/>
                          <a:cs typeface="Arial"/>
                          <a:sym typeface="Arial"/>
                        </a:rPr>
                        <a:t>Shome</a:t>
                      </a:r>
                      <a:r>
                        <a:rPr lang="en-US" sz="1200" b="0" i="0" u="none" strike="noStrike" cap="none" dirty="0">
                          <a:solidFill>
                            <a:srgbClr val="000000"/>
                          </a:solidFill>
                          <a:effectLst/>
                          <a:latin typeface="Arial"/>
                          <a:ea typeface="Arial"/>
                          <a:cs typeface="Arial"/>
                          <a:sym typeface="Arial"/>
                        </a:rPr>
                        <a:t>, Ali </a:t>
                      </a:r>
                      <a:r>
                        <a:rPr lang="en-US" sz="1200" b="0" i="0" u="none" strike="noStrike" cap="none" dirty="0" err="1">
                          <a:solidFill>
                            <a:srgbClr val="000000"/>
                          </a:solidFill>
                          <a:effectLst/>
                          <a:latin typeface="Arial"/>
                          <a:ea typeface="Arial"/>
                          <a:cs typeface="Arial"/>
                          <a:sym typeface="Arial"/>
                        </a:rPr>
                        <a:t>Etemad</a:t>
                      </a:r>
                      <a:endParaRPr lang="en-US" sz="12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lang="en-IN" dirty="0"/>
                      </a:br>
                      <a:endParaRPr lang="en-IN"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dirty="0"/>
                    </a:p>
                  </a:txBody>
                  <a:tcPr marL="91425" marR="91425" marT="91425" marB="91425"/>
                </a:tc>
                <a:tc>
                  <a:txBody>
                    <a:bodyPr/>
                    <a:lstStyle/>
                    <a:p>
                      <a:pPr marL="0" lvl="0" indent="0" algn="l" rtl="0">
                        <a:spcBef>
                          <a:spcPts val="0"/>
                        </a:spcBef>
                        <a:spcAft>
                          <a:spcPts val="0"/>
                        </a:spcAft>
                        <a:buNone/>
                      </a:pPr>
                      <a:r>
                        <a:rPr lang="en-US" sz="1200" dirty="0"/>
                        <a:t>2023</a:t>
                      </a:r>
                      <a:endParaRPr sz="1200" dirty="0"/>
                    </a:p>
                  </a:txBody>
                  <a:tcPr marL="91425" marR="91425" marT="91425" marB="91425"/>
                </a:tc>
                <a:tc>
                  <a:txBody>
                    <a:bodyPr/>
                    <a:lstStyle/>
                    <a:p>
                      <a:pPr marL="0" lvl="0" indent="0" algn="l" rtl="0">
                        <a:spcBef>
                          <a:spcPts val="0"/>
                        </a:spcBef>
                        <a:spcAft>
                          <a:spcPts val="0"/>
                        </a:spcAft>
                        <a:buNone/>
                      </a:pPr>
                      <a:r>
                        <a:rPr lang="en-US" sz="1200" dirty="0"/>
                        <a:t>Performance depends on accurate feature extraction.</a:t>
                      </a:r>
                      <a:endParaRPr sz="1200" dirty="0"/>
                    </a:p>
                  </a:txBody>
                  <a:tcPr marL="91425" marR="91425" marT="91425" marB="91425"/>
                </a:tc>
                <a:tc>
                  <a:txBody>
                    <a:bodyPr/>
                    <a:lstStyle/>
                    <a:p>
                      <a:pPr marL="0" lvl="0" indent="0" algn="l" rtl="0">
                        <a:spcBef>
                          <a:spcPts val="0"/>
                        </a:spcBef>
                        <a:spcAft>
                          <a:spcPts val="0"/>
                        </a:spcAft>
                        <a:buNone/>
                      </a:pPr>
                      <a:r>
                        <a:rPr lang="en-US" sz="1200" dirty="0"/>
                        <a:t>Combines prosodic and linguistic cues for better emotion detection.</a:t>
                      </a:r>
                      <a:endParaRPr sz="1200" dirty="0"/>
                    </a:p>
                  </a:txBody>
                  <a:tcPr marL="91425" marR="91425" marT="91425" marB="91425"/>
                </a:tc>
                <a:extLst>
                  <a:ext uri="{0D108BD9-81ED-4DB2-BD59-A6C34878D82A}">
                    <a16:rowId xmlns:a16="http://schemas.microsoft.com/office/drawing/2014/main" val="10002"/>
                  </a:ext>
                </a:extLst>
              </a:tr>
              <a:tr h="2646945">
                <a:tc>
                  <a:txBody>
                    <a:bodyPr/>
                    <a:lstStyle/>
                    <a:p>
                      <a:r>
                        <a:rPr lang="en-US" sz="1200" b="0" i="0" u="none" strike="noStrike" cap="none" dirty="0">
                          <a:solidFill>
                            <a:srgbClr val="000000"/>
                          </a:solidFill>
                          <a:effectLst/>
                          <a:latin typeface="Arial"/>
                          <a:ea typeface="Arial"/>
                          <a:cs typeface="Arial"/>
                          <a:sym typeface="Arial"/>
                        </a:rPr>
                        <a:t>Enhancing Speech Emotion Recognition Through Differentiable Architecture Search</a:t>
                      </a:r>
                    </a:p>
                    <a:p>
                      <a:pPr marL="0" lvl="0" indent="0" algn="l" rtl="0">
                        <a:spcBef>
                          <a:spcPts val="0"/>
                        </a:spcBef>
                        <a:spcAft>
                          <a:spcPts val="0"/>
                        </a:spcAft>
                        <a:buNone/>
                      </a:pPr>
                      <a:endParaRPr dirty="0"/>
                    </a:p>
                  </a:txBody>
                  <a:tcPr marL="91425" marR="91425" marT="91425" marB="91425"/>
                </a:tc>
                <a:tc>
                  <a:txBody>
                    <a:bodyPr/>
                    <a:lstStyle/>
                    <a:p>
                      <a:r>
                        <a:rPr lang="en-US" sz="1200" dirty="0" err="1">
                          <a:solidFill>
                            <a:srgbClr val="000000"/>
                          </a:solidFill>
                          <a:effectLst/>
                          <a:latin typeface="Arial" panose="020B0604020202020204" pitchFamily="34" charset="0"/>
                        </a:rPr>
                        <a:t>Thejan</a:t>
                      </a:r>
                      <a:r>
                        <a:rPr lang="en-US" sz="1200" dirty="0">
                          <a:solidFill>
                            <a:srgbClr val="000000"/>
                          </a:solidFill>
                          <a:effectLst/>
                          <a:latin typeface="Arial" panose="020B0604020202020204" pitchFamily="34" charset="0"/>
                        </a:rPr>
                        <a:t> </a:t>
                      </a:r>
                      <a:r>
                        <a:rPr lang="en-US" sz="1200" dirty="0" err="1">
                          <a:solidFill>
                            <a:srgbClr val="000000"/>
                          </a:solidFill>
                          <a:effectLst/>
                          <a:latin typeface="Arial" panose="020B0604020202020204" pitchFamily="34" charset="0"/>
                        </a:rPr>
                        <a:t>Rajapakshe</a:t>
                      </a:r>
                      <a:r>
                        <a:rPr lang="en-US" sz="1200" dirty="0">
                          <a:solidFill>
                            <a:srgbClr val="000000"/>
                          </a:solidFill>
                          <a:effectLst/>
                          <a:latin typeface="Arial" panose="020B0604020202020204" pitchFamily="34" charset="0"/>
                        </a:rPr>
                        <a:t>, </a:t>
                      </a:r>
                      <a:r>
                        <a:rPr lang="en-US" sz="1200" dirty="0" err="1">
                          <a:solidFill>
                            <a:srgbClr val="000000"/>
                          </a:solidFill>
                          <a:effectLst/>
                          <a:latin typeface="Arial" panose="020B0604020202020204" pitchFamily="34" charset="0"/>
                        </a:rPr>
                        <a:t>Rajib</a:t>
                      </a:r>
                      <a:r>
                        <a:rPr lang="en-US" sz="1200" dirty="0">
                          <a:solidFill>
                            <a:srgbClr val="000000"/>
                          </a:solidFill>
                          <a:effectLst/>
                          <a:latin typeface="Arial" panose="020B0604020202020204" pitchFamily="34" charset="0"/>
                        </a:rPr>
                        <a:t> Rana, Sara Khalifa, </a:t>
                      </a:r>
                      <a:r>
                        <a:rPr lang="en-US" sz="1200" dirty="0" err="1">
                          <a:solidFill>
                            <a:srgbClr val="000000"/>
                          </a:solidFill>
                          <a:effectLst/>
                          <a:latin typeface="Arial" panose="020B0604020202020204" pitchFamily="34" charset="0"/>
                        </a:rPr>
                        <a:t>Berrak</a:t>
                      </a:r>
                      <a:r>
                        <a:rPr lang="en-US" sz="1200" dirty="0">
                          <a:solidFill>
                            <a:srgbClr val="000000"/>
                          </a:solidFill>
                          <a:effectLst/>
                          <a:latin typeface="Arial" panose="020B0604020202020204" pitchFamily="34" charset="0"/>
                        </a:rPr>
                        <a:t> </a:t>
                      </a:r>
                      <a:r>
                        <a:rPr lang="en-US" sz="1200" dirty="0" err="1">
                          <a:solidFill>
                            <a:srgbClr val="000000"/>
                          </a:solidFill>
                          <a:effectLst/>
                          <a:latin typeface="Arial" panose="020B0604020202020204" pitchFamily="34" charset="0"/>
                        </a:rPr>
                        <a:t>Sisman</a:t>
                      </a:r>
                      <a:r>
                        <a:rPr lang="en-US" sz="1200" dirty="0">
                          <a:solidFill>
                            <a:srgbClr val="000000"/>
                          </a:solidFill>
                          <a:effectLst/>
                          <a:latin typeface="Arial" panose="020B0604020202020204" pitchFamily="34" charset="0"/>
                        </a:rPr>
                        <a:t>, Björn Schuller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lang="en-IN" dirty="0"/>
                      </a:br>
                      <a:endParaRPr lang="en-IN"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dirty="0"/>
                    </a:p>
                    <a:p>
                      <a:pPr marL="0" lvl="0" indent="0" algn="l" rtl="0">
                        <a:spcBef>
                          <a:spcPts val="0"/>
                        </a:spcBef>
                        <a:spcAft>
                          <a:spcPts val="0"/>
                        </a:spcAft>
                        <a:buNone/>
                      </a:pPr>
                      <a:br>
                        <a:rPr lang="en-IN" dirty="0"/>
                      </a:br>
                      <a:endParaRPr lang="en-IN" dirty="0"/>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sz="1200" dirty="0"/>
                        <a:t>2023</a:t>
                      </a:r>
                      <a:endParaRPr sz="1200"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High computational cost and limited interpretability.</a:t>
                      </a:r>
                      <a:endParaRPr sz="1200" dirty="0"/>
                    </a:p>
                  </a:txBody>
                  <a:tcPr marL="91425" marR="91425" marT="91425" marB="91425"/>
                </a:tc>
                <a:tc>
                  <a:txBody>
                    <a:bodyPr/>
                    <a:lstStyle/>
                    <a:p>
                      <a:pPr marL="0" lvl="0" indent="0" algn="l" rtl="0">
                        <a:spcBef>
                          <a:spcPts val="0"/>
                        </a:spcBef>
                        <a:spcAft>
                          <a:spcPts val="0"/>
                        </a:spcAft>
                        <a:buNone/>
                      </a:pPr>
                      <a:r>
                        <a:rPr lang="en-US" sz="1200" dirty="0"/>
                        <a:t>Auto-designed models via architecture search yield strong results.</a:t>
                      </a:r>
                      <a:endParaRPr sz="1200" dirty="0"/>
                    </a:p>
                  </a:txBody>
                  <a:tcPr marL="91425" marR="91425" marT="91425" marB="91425"/>
                </a:tc>
                <a:extLst>
                  <a:ext uri="{0D108BD9-81ED-4DB2-BD59-A6C34878D82A}">
                    <a16:rowId xmlns:a16="http://schemas.microsoft.com/office/drawing/2014/main" val="10003"/>
                  </a:ext>
                </a:extLst>
              </a:tr>
            </a:tbl>
          </a:graphicData>
        </a:graphic>
      </p:graphicFrame>
      <p:sp>
        <p:nvSpPr>
          <p:cNvPr id="96" name="Google Shape;96;p17"/>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97" name="Google Shape;97;p17"/>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07</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CDD2426F-C83D-1A20-5E33-270BB287B036}"/>
              </a:ext>
            </a:extLst>
          </p:cNvPr>
          <p:cNvPicPr preferRelativeResize="0"/>
          <p:nvPr/>
        </p:nvPicPr>
        <p:blipFill>
          <a:blip r:embed="rId3">
            <a:alphaModFix/>
          </a:blip>
          <a:stretch>
            <a:fillRect/>
          </a:stretch>
        </p:blipFill>
        <p:spPr>
          <a:xfrm>
            <a:off x="7330813" y="13492"/>
            <a:ext cx="1813187" cy="331265"/>
          </a:xfrm>
          <a:prstGeom prst="rect">
            <a:avLst/>
          </a:prstGeom>
          <a:noFill/>
          <a:ln>
            <a:noFill/>
          </a:ln>
        </p:spPr>
      </p:pic>
    </p:spTree>
    <p:extLst>
      <p:ext uri="{BB962C8B-B14F-4D97-AF65-F5344CB8AC3E}">
        <p14:creationId xmlns:p14="http://schemas.microsoft.com/office/powerpoint/2010/main" val="3037072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sz="2800" b="1">
                <a:latin typeface="Comfortaa"/>
                <a:ea typeface="Comfortaa"/>
                <a:cs typeface="Comfortaa"/>
                <a:sym typeface="Comfortaa"/>
              </a:rPr>
              <a:t>PROPOSED WORK</a:t>
            </a:r>
            <a:endParaRPr sz="2800" b="1">
              <a:latin typeface="Comfortaa"/>
              <a:ea typeface="Comfortaa"/>
              <a:cs typeface="Comfortaa"/>
              <a:sym typeface="Comfortaa"/>
            </a:endParaRPr>
          </a:p>
        </p:txBody>
      </p:sp>
      <p:graphicFrame>
        <p:nvGraphicFramePr>
          <p:cNvPr id="103" name="Google Shape;103;p18"/>
          <p:cNvGraphicFramePr/>
          <p:nvPr>
            <p:extLst>
              <p:ext uri="{D42A27DB-BD31-4B8C-83A1-F6EECF244321}">
                <p14:modId xmlns:p14="http://schemas.microsoft.com/office/powerpoint/2010/main" val="2346941454"/>
              </p:ext>
            </p:extLst>
          </p:nvPr>
        </p:nvGraphicFramePr>
        <p:xfrm>
          <a:off x="2288000" y="1047750"/>
          <a:ext cx="6376200" cy="3458625"/>
        </p:xfrm>
        <a:graphic>
          <a:graphicData uri="http://schemas.openxmlformats.org/drawingml/2006/table">
            <a:tbl>
              <a:tblPr>
                <a:noFill/>
                <a:tableStyleId>{962E5AC8-D1FD-4F38-99A3-E05809E0F263}</a:tableStyleId>
              </a:tblPr>
              <a:tblGrid>
                <a:gridCol w="6376200">
                  <a:extLst>
                    <a:ext uri="{9D8B030D-6E8A-4147-A177-3AD203B41FA5}">
                      <a16:colId xmlns:a16="http://schemas.microsoft.com/office/drawing/2014/main" val="20000"/>
                    </a:ext>
                  </a:extLst>
                </a:gridCol>
              </a:tblGrid>
              <a:tr h="691725">
                <a:tc>
                  <a:txBody>
                    <a:bodyPr/>
                    <a:lstStyle/>
                    <a:p>
                      <a:pPr marL="0" lvl="0" indent="0" algn="l" rtl="0">
                        <a:spcBef>
                          <a:spcPts val="0"/>
                        </a:spcBef>
                        <a:spcAft>
                          <a:spcPts val="0"/>
                        </a:spcAft>
                        <a:buNone/>
                      </a:pPr>
                      <a:r>
                        <a:rPr lang="en-IN" dirty="0"/>
                        <a:t>To enhance speech emotion recognition accuracy by integrating Constant-Q Transform with RNN.</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0"/>
                  </a:ext>
                </a:extLst>
              </a:tr>
              <a:tr h="691725">
                <a:tc>
                  <a:txBody>
                    <a:bodyPr/>
                    <a:lstStyle/>
                    <a:p>
                      <a:pPr marL="0" lvl="0" indent="0" algn="l" rtl="0">
                        <a:spcBef>
                          <a:spcPts val="0"/>
                        </a:spcBef>
                        <a:spcAft>
                          <a:spcPts val="0"/>
                        </a:spcAft>
                        <a:buNone/>
                      </a:pPr>
                      <a:r>
                        <a:rPr lang="en-IN" dirty="0"/>
                        <a:t>The system uses audio signals processed into spectrograms through Constant-Q Transform for effective feature extraction.</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1"/>
                  </a:ext>
                </a:extLst>
              </a:tr>
              <a:tr h="691725">
                <a:tc>
                  <a:txBody>
                    <a:bodyPr/>
                    <a:lstStyle/>
                    <a:p>
                      <a:pPr marL="0" lvl="0" indent="0" algn="l" rtl="0">
                        <a:spcBef>
                          <a:spcPts val="0"/>
                        </a:spcBef>
                        <a:spcAft>
                          <a:spcPts val="0"/>
                        </a:spcAft>
                        <a:buNone/>
                      </a:pPr>
                      <a:r>
                        <a:rPr lang="en-IN" dirty="0"/>
                        <a:t>The output consists of classified emotional states, providing insights into the speaker's feelings based on the analysed speech data.</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2"/>
                  </a:ext>
                </a:extLst>
              </a:tr>
              <a:tr h="691725">
                <a:tc>
                  <a:txBody>
                    <a:bodyPr/>
                    <a:lstStyle/>
                    <a:p>
                      <a:pPr marL="0" lvl="0" indent="0" algn="l" rtl="0">
                        <a:spcBef>
                          <a:spcPts val="0"/>
                        </a:spcBef>
                        <a:spcAft>
                          <a:spcPts val="0"/>
                        </a:spcAft>
                        <a:buNone/>
                      </a:pPr>
                      <a:r>
                        <a:rPr lang="en-IN" dirty="0"/>
                        <a:t>The approach employs a combination of deep learning techniques, specifically CQT,RNN for emotion classification.</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3"/>
                  </a:ext>
                </a:extLst>
              </a:tr>
              <a:tr h="691725">
                <a:tc>
                  <a:txBody>
                    <a:bodyPr/>
                    <a:lstStyle/>
                    <a:p>
                      <a:pPr marL="0" lvl="0" indent="0" algn="l" rtl="0">
                        <a:spcBef>
                          <a:spcPts val="0"/>
                        </a:spcBef>
                        <a:spcAft>
                          <a:spcPts val="0"/>
                        </a:spcAft>
                        <a:buNone/>
                      </a:pPr>
                      <a:r>
                        <a:rPr lang="en-IN" dirty="0"/>
                        <a:t>This method can be applied in various fields, including human-computer interaction, virtual assistants, and mental health monitoring.</a:t>
                      </a:r>
                      <a:endParaRPr dirty="0">
                        <a:latin typeface="Comfortaa"/>
                        <a:ea typeface="Comfortaa"/>
                        <a:cs typeface="Comfortaa"/>
                        <a:sym typeface="Comfortaa"/>
                      </a:endParaRPr>
                    </a:p>
                  </a:txBody>
                  <a:tcPr marL="91425" marR="91425" marT="91425" marB="91425"/>
                </a:tc>
                <a:extLst>
                  <a:ext uri="{0D108BD9-81ED-4DB2-BD59-A6C34878D82A}">
                    <a16:rowId xmlns:a16="http://schemas.microsoft.com/office/drawing/2014/main" val="10004"/>
                  </a:ext>
                </a:extLst>
              </a:tr>
            </a:tbl>
          </a:graphicData>
        </a:graphic>
      </p:graphicFrame>
      <p:sp>
        <p:nvSpPr>
          <p:cNvPr id="104" name="Google Shape;104;p18"/>
          <p:cNvSpPr txBox="1">
            <a:spLocks noGrp="1"/>
          </p:cNvSpPr>
          <p:nvPr>
            <p:ph type="subTitle" idx="4294967295"/>
          </p:nvPr>
        </p:nvSpPr>
        <p:spPr>
          <a:xfrm>
            <a:off x="512500" y="1047750"/>
            <a:ext cx="1571100" cy="5598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1200"/>
              </a:spcAft>
              <a:buNone/>
            </a:pPr>
            <a:r>
              <a:rPr lang="en-GB" sz="1600" b="1" dirty="0">
                <a:latin typeface="Comfortaa"/>
                <a:ea typeface="Comfortaa"/>
                <a:cs typeface="Comfortaa"/>
                <a:sym typeface="Comfortaa"/>
              </a:rPr>
              <a:t>Objective</a:t>
            </a:r>
            <a:endParaRPr sz="1600" b="1" dirty="0">
              <a:latin typeface="Comfortaa"/>
              <a:ea typeface="Comfortaa"/>
              <a:cs typeface="Comfortaa"/>
              <a:sym typeface="Comfortaa"/>
            </a:endParaRPr>
          </a:p>
        </p:txBody>
      </p:sp>
      <p:sp>
        <p:nvSpPr>
          <p:cNvPr id="105" name="Google Shape;105;p18"/>
          <p:cNvSpPr txBox="1">
            <a:spLocks noGrp="1"/>
          </p:cNvSpPr>
          <p:nvPr>
            <p:ph type="subTitle" idx="4294967295"/>
          </p:nvPr>
        </p:nvSpPr>
        <p:spPr>
          <a:xfrm>
            <a:off x="512500" y="1771475"/>
            <a:ext cx="1571100" cy="5598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1200"/>
              </a:spcAft>
              <a:buNone/>
            </a:pPr>
            <a:r>
              <a:rPr lang="en-GB" sz="1600" b="1" dirty="0">
                <a:latin typeface="Comfortaa"/>
                <a:ea typeface="Comfortaa"/>
                <a:cs typeface="Comfortaa"/>
                <a:sym typeface="Comfortaa"/>
              </a:rPr>
              <a:t>Input</a:t>
            </a:r>
            <a:endParaRPr sz="1600" b="1" dirty="0">
              <a:latin typeface="Comfortaa"/>
              <a:ea typeface="Comfortaa"/>
              <a:cs typeface="Comfortaa"/>
              <a:sym typeface="Comfortaa"/>
            </a:endParaRPr>
          </a:p>
        </p:txBody>
      </p:sp>
      <p:sp>
        <p:nvSpPr>
          <p:cNvPr id="106" name="Google Shape;106;p18"/>
          <p:cNvSpPr txBox="1">
            <a:spLocks noGrp="1"/>
          </p:cNvSpPr>
          <p:nvPr>
            <p:ph type="subTitle" idx="4294967295"/>
          </p:nvPr>
        </p:nvSpPr>
        <p:spPr>
          <a:xfrm>
            <a:off x="512500" y="2447188"/>
            <a:ext cx="1571100" cy="5598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1200"/>
              </a:spcAft>
              <a:buNone/>
            </a:pPr>
            <a:r>
              <a:rPr lang="en-GB" sz="1600" b="1">
                <a:latin typeface="Comfortaa"/>
                <a:ea typeface="Comfortaa"/>
                <a:cs typeface="Comfortaa"/>
                <a:sym typeface="Comfortaa"/>
              </a:rPr>
              <a:t>Output</a:t>
            </a:r>
            <a:endParaRPr sz="1600" b="1">
              <a:latin typeface="Comfortaa"/>
              <a:ea typeface="Comfortaa"/>
              <a:cs typeface="Comfortaa"/>
              <a:sym typeface="Comfortaa"/>
            </a:endParaRPr>
          </a:p>
        </p:txBody>
      </p:sp>
      <p:sp>
        <p:nvSpPr>
          <p:cNvPr id="107" name="Google Shape;107;p18"/>
          <p:cNvSpPr txBox="1">
            <a:spLocks noGrp="1"/>
          </p:cNvSpPr>
          <p:nvPr>
            <p:ph type="subTitle" idx="4294967295"/>
          </p:nvPr>
        </p:nvSpPr>
        <p:spPr>
          <a:xfrm>
            <a:off x="-74000" y="3122925"/>
            <a:ext cx="2157600" cy="659700"/>
          </a:xfrm>
          <a:prstGeom prst="rect">
            <a:avLst/>
          </a:prstGeom>
        </p:spPr>
        <p:txBody>
          <a:bodyPr spcFirstLastPara="1" wrap="square" lIns="91425" tIns="91425" rIns="91425" bIns="91425" anchor="ctr" anchorCtr="0">
            <a:normAutofit/>
          </a:bodyPr>
          <a:lstStyle/>
          <a:p>
            <a:pPr marL="0" lvl="0" indent="0" algn="r" rtl="0">
              <a:spcBef>
                <a:spcPts val="0"/>
              </a:spcBef>
              <a:spcAft>
                <a:spcPts val="1200"/>
              </a:spcAft>
              <a:buNone/>
            </a:pPr>
            <a:r>
              <a:rPr lang="en-GB" sz="1600" b="1" dirty="0">
                <a:latin typeface="Comfortaa"/>
                <a:ea typeface="Comfortaa"/>
                <a:cs typeface="Comfortaa"/>
                <a:sym typeface="Comfortaa"/>
              </a:rPr>
              <a:t>Algorithm Used</a:t>
            </a:r>
            <a:endParaRPr sz="1600" b="1" dirty="0">
              <a:latin typeface="Comfortaa"/>
              <a:ea typeface="Comfortaa"/>
              <a:cs typeface="Comfortaa"/>
              <a:sym typeface="Comfortaa"/>
            </a:endParaRPr>
          </a:p>
        </p:txBody>
      </p:sp>
      <p:sp>
        <p:nvSpPr>
          <p:cNvPr id="108" name="Google Shape;108;p18"/>
          <p:cNvSpPr txBox="1">
            <a:spLocks noGrp="1"/>
          </p:cNvSpPr>
          <p:nvPr>
            <p:ph type="subTitle" idx="4294967295"/>
          </p:nvPr>
        </p:nvSpPr>
        <p:spPr>
          <a:xfrm>
            <a:off x="512500" y="3846625"/>
            <a:ext cx="1571100" cy="659700"/>
          </a:xfrm>
          <a:prstGeom prst="rect">
            <a:avLst/>
          </a:prstGeom>
        </p:spPr>
        <p:txBody>
          <a:bodyPr spcFirstLastPara="1" wrap="square" lIns="91425" tIns="91425" rIns="91425" bIns="91425" anchor="ctr" anchorCtr="0">
            <a:normAutofit/>
          </a:bodyPr>
          <a:lstStyle/>
          <a:p>
            <a:pPr marL="0" lvl="0" indent="0" algn="r" rtl="0">
              <a:spcBef>
                <a:spcPts val="0"/>
              </a:spcBef>
              <a:spcAft>
                <a:spcPts val="1200"/>
              </a:spcAft>
              <a:buNone/>
            </a:pPr>
            <a:r>
              <a:rPr lang="en-GB" sz="1600" b="1">
                <a:latin typeface="Comfortaa"/>
                <a:ea typeface="Comfortaa"/>
                <a:cs typeface="Comfortaa"/>
                <a:sym typeface="Comfortaa"/>
              </a:rPr>
              <a:t>Scope</a:t>
            </a:r>
            <a:endParaRPr sz="1600" b="1">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08</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METHODOLOGY</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09</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pic>
        <p:nvPicPr>
          <p:cNvPr id="4" name="Picture 3">
            <a:extLst>
              <a:ext uri="{FF2B5EF4-FFF2-40B4-BE49-F238E27FC236}">
                <a16:creationId xmlns:a16="http://schemas.microsoft.com/office/drawing/2014/main" id="{F0226A0C-BD5A-7672-63ED-7BAFBC0DED19}"/>
              </a:ext>
            </a:extLst>
          </p:cNvPr>
          <p:cNvPicPr>
            <a:picLocks noChangeAspect="1"/>
          </p:cNvPicPr>
          <p:nvPr/>
        </p:nvPicPr>
        <p:blipFill>
          <a:blip r:embed="rId4"/>
          <a:stretch>
            <a:fillRect/>
          </a:stretch>
        </p:blipFill>
        <p:spPr>
          <a:xfrm>
            <a:off x="2096066" y="879237"/>
            <a:ext cx="4537800" cy="3807363"/>
          </a:xfrm>
          <a:prstGeom prst="rect">
            <a:avLst/>
          </a:prstGeom>
        </p:spPr>
      </p:pic>
    </p:spTree>
    <p:extLst>
      <p:ext uri="{BB962C8B-B14F-4D97-AF65-F5344CB8AC3E}">
        <p14:creationId xmlns:p14="http://schemas.microsoft.com/office/powerpoint/2010/main" val="4285656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ARCHITECTURE</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10</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pic>
        <p:nvPicPr>
          <p:cNvPr id="3" name="Picture 2" descr="C:\Users\SPIRO-PYTHON1\Downloads\AUDIO ALL UML-Sys Arch (4).jpg">
            <a:extLst>
              <a:ext uri="{FF2B5EF4-FFF2-40B4-BE49-F238E27FC236}">
                <a16:creationId xmlns:a16="http://schemas.microsoft.com/office/drawing/2014/main" id="{6279564E-17CD-C41B-D261-8309ED1F2D3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517585" y="902425"/>
            <a:ext cx="7737894" cy="3669575"/>
          </a:xfrm>
          <a:prstGeom prst="rect">
            <a:avLst/>
          </a:prstGeom>
          <a:noFill/>
          <a:ln>
            <a:noFill/>
          </a:ln>
        </p:spPr>
      </p:pic>
    </p:spTree>
    <p:extLst>
      <p:ext uri="{BB962C8B-B14F-4D97-AF65-F5344CB8AC3E}">
        <p14:creationId xmlns:p14="http://schemas.microsoft.com/office/powerpoint/2010/main" val="295055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62738" y="270304"/>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METHODOLOGY</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11</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4" name="TextBox 3">
            <a:extLst>
              <a:ext uri="{FF2B5EF4-FFF2-40B4-BE49-F238E27FC236}">
                <a16:creationId xmlns:a16="http://schemas.microsoft.com/office/drawing/2014/main" id="{8DB4240E-7050-1D6A-15CC-21642CAFBF8E}"/>
              </a:ext>
            </a:extLst>
          </p:cNvPr>
          <p:cNvSpPr txBox="1"/>
          <p:nvPr/>
        </p:nvSpPr>
        <p:spPr>
          <a:xfrm>
            <a:off x="0" y="831098"/>
            <a:ext cx="9144000" cy="5047536"/>
          </a:xfrm>
          <a:prstGeom prst="rect">
            <a:avLst/>
          </a:prstGeom>
          <a:noFill/>
        </p:spPr>
        <p:txBody>
          <a:bodyPr wrap="square" rtlCol="0">
            <a:spAutoFit/>
          </a:bodyPr>
          <a:lstStyle/>
          <a:p>
            <a:r>
              <a:rPr lang="en-US" b="1" dirty="0"/>
              <a:t>1. Data Collection</a:t>
            </a:r>
          </a:p>
          <a:p>
            <a:r>
              <a:rPr lang="en-US" dirty="0"/>
              <a:t>The first step involves gathering a labeled speech emotion dataset. Popular datasets such as </a:t>
            </a:r>
            <a:r>
              <a:rPr lang="en-US" b="1" dirty="0"/>
              <a:t>RAVDESS</a:t>
            </a:r>
            <a:r>
              <a:rPr lang="en-US" dirty="0"/>
              <a:t>, </a:t>
            </a:r>
            <a:r>
              <a:rPr lang="en-US" b="1" dirty="0"/>
              <a:t>TESS</a:t>
            </a:r>
            <a:r>
              <a:rPr lang="en-US" dirty="0"/>
              <a:t>, or </a:t>
            </a:r>
            <a:r>
              <a:rPr lang="en-US" b="1" dirty="0"/>
              <a:t>CREMA-D</a:t>
            </a:r>
            <a:r>
              <a:rPr lang="en-US" dirty="0"/>
              <a:t> were used. These datasets consist of audio samples spoken by actors, with each clip labeled with an emotion such as </a:t>
            </a:r>
            <a:r>
              <a:rPr lang="en-US" i="1" dirty="0"/>
              <a:t>happy</a:t>
            </a:r>
            <a:r>
              <a:rPr lang="en-US" dirty="0"/>
              <a:t>, </a:t>
            </a:r>
            <a:r>
              <a:rPr lang="en-US" i="1" dirty="0"/>
              <a:t>sad</a:t>
            </a:r>
            <a:r>
              <a:rPr lang="en-US" dirty="0"/>
              <a:t>, </a:t>
            </a:r>
            <a:r>
              <a:rPr lang="en-US" i="1" dirty="0"/>
              <a:t>angry</a:t>
            </a:r>
            <a:r>
              <a:rPr lang="en-US" dirty="0"/>
              <a:t>, </a:t>
            </a:r>
            <a:r>
              <a:rPr lang="en-US" i="1" dirty="0"/>
              <a:t>neutral</a:t>
            </a:r>
            <a:r>
              <a:rPr lang="en-US" dirty="0"/>
              <a:t>, and more.</a:t>
            </a:r>
          </a:p>
          <a:p>
            <a:endParaRPr lang="en-US" b="1" dirty="0"/>
          </a:p>
          <a:p>
            <a:r>
              <a:rPr lang="en-US" b="1" dirty="0"/>
              <a:t>2. Data Preprocessing</a:t>
            </a:r>
          </a:p>
          <a:p>
            <a:r>
              <a:rPr lang="en-US" dirty="0"/>
              <a:t>Raw audio files are often noisy or inconsistent in length, so preprocessing is crucial:</a:t>
            </a:r>
          </a:p>
          <a:p>
            <a:pPr>
              <a:buFont typeface="Arial" panose="020B0604020202020204" pitchFamily="34" charset="0"/>
              <a:buChar char="•"/>
            </a:pPr>
            <a:r>
              <a:rPr lang="en-US" b="1" dirty="0"/>
              <a:t>Resampling</a:t>
            </a:r>
            <a:r>
              <a:rPr lang="en-US" dirty="0"/>
              <a:t> the audio to a consistent sampling rate (e.g., 44.1 kHz).</a:t>
            </a:r>
          </a:p>
          <a:p>
            <a:pPr>
              <a:buFont typeface="Arial" panose="020B0604020202020204" pitchFamily="34" charset="0"/>
              <a:buChar char="•"/>
            </a:pPr>
            <a:r>
              <a:rPr lang="en-US" b="1" dirty="0"/>
              <a:t>Trimming</a:t>
            </a:r>
            <a:r>
              <a:rPr lang="en-US" dirty="0"/>
              <a:t> silence at the beginning and end.</a:t>
            </a:r>
          </a:p>
          <a:p>
            <a:pPr>
              <a:buFont typeface="Arial" panose="020B0604020202020204" pitchFamily="34" charset="0"/>
              <a:buChar char="•"/>
            </a:pPr>
            <a:r>
              <a:rPr lang="en-US" b="1" dirty="0"/>
              <a:t>Normalization</a:t>
            </a:r>
            <a:r>
              <a:rPr lang="en-US" dirty="0"/>
              <a:t> of audio signals for uniform amplitude.</a:t>
            </a:r>
          </a:p>
          <a:p>
            <a:pPr>
              <a:buFont typeface="Arial" panose="020B0604020202020204" pitchFamily="34" charset="0"/>
              <a:buChar char="•"/>
            </a:pPr>
            <a:r>
              <a:rPr lang="en-US" b="1" dirty="0"/>
              <a:t>Conversion</a:t>
            </a:r>
            <a:r>
              <a:rPr lang="en-US" dirty="0"/>
              <a:t> to mono channel if stereo.</a:t>
            </a:r>
          </a:p>
          <a:p>
            <a:pPr>
              <a:buFont typeface="Arial" panose="020B0604020202020204" pitchFamily="34" charset="0"/>
              <a:buChar char="•"/>
            </a:pPr>
            <a:endParaRPr lang="en-US" dirty="0"/>
          </a:p>
          <a:p>
            <a:r>
              <a:rPr lang="en-US" b="1" dirty="0"/>
              <a:t>3. Feature Extraction using CQT</a:t>
            </a:r>
          </a:p>
          <a:p>
            <a:r>
              <a:rPr lang="en-US" dirty="0"/>
              <a:t>Instead of feeding raw audio into the model, we extract meaningful patterns:</a:t>
            </a:r>
          </a:p>
          <a:p>
            <a:pPr>
              <a:buFont typeface="Arial" panose="020B0604020202020204" pitchFamily="34" charset="0"/>
              <a:buChar char="•"/>
            </a:pPr>
            <a:r>
              <a:rPr lang="en-US" dirty="0"/>
              <a:t>The </a:t>
            </a:r>
            <a:r>
              <a:rPr lang="en-US" b="1" dirty="0"/>
              <a:t>Constant-Q Transform (CQT)</a:t>
            </a:r>
            <a:r>
              <a:rPr lang="en-US" dirty="0"/>
              <a:t> is used to generate </a:t>
            </a:r>
            <a:r>
              <a:rPr lang="en-US" b="1" dirty="0"/>
              <a:t>time-frequency spectrograms</a:t>
            </a:r>
            <a:r>
              <a:rPr lang="en-US" dirty="0"/>
              <a:t> from audio.</a:t>
            </a:r>
          </a:p>
          <a:p>
            <a:pPr>
              <a:buFont typeface="Arial" panose="020B0604020202020204" pitchFamily="34" charset="0"/>
              <a:buChar char="•"/>
            </a:pPr>
            <a:r>
              <a:rPr lang="en-US" dirty="0"/>
              <a:t>CQT offers a logarithmic frequency scale, making it more aligned with how humans perceive sound.</a:t>
            </a:r>
          </a:p>
          <a:p>
            <a:pPr>
              <a:buFont typeface="Arial" panose="020B0604020202020204" pitchFamily="34" charset="0"/>
              <a:buChar char="•"/>
            </a:pPr>
            <a:r>
              <a:rPr lang="en-US" dirty="0"/>
              <a:t>These spectrograms are visual representations of frequency content over time and are used as inputs to the model.</a:t>
            </a:r>
          </a:p>
          <a:p>
            <a:endParaRPr lang="en-US" dirty="0"/>
          </a:p>
          <a:p>
            <a:pPr>
              <a:buFont typeface="Arial" panose="020B0604020202020204" pitchFamily="34" charset="0"/>
              <a:buChar char="•"/>
            </a:pPr>
            <a:endParaRPr lang="en-US" dirty="0"/>
          </a:p>
          <a:p>
            <a:endParaRPr lang="en-US" dirty="0"/>
          </a:p>
          <a:p>
            <a:endParaRPr lang="en-US" b="1" dirty="0"/>
          </a:p>
          <a:p>
            <a:endParaRPr lang="en-US" dirty="0"/>
          </a:p>
        </p:txBody>
      </p:sp>
    </p:spTree>
    <p:extLst>
      <p:ext uri="{BB962C8B-B14F-4D97-AF65-F5344CB8AC3E}">
        <p14:creationId xmlns:p14="http://schemas.microsoft.com/office/powerpoint/2010/main" val="510736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62738" y="270304"/>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METHODOLOGY</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12</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4" name="TextBox 3">
            <a:extLst>
              <a:ext uri="{FF2B5EF4-FFF2-40B4-BE49-F238E27FC236}">
                <a16:creationId xmlns:a16="http://schemas.microsoft.com/office/drawing/2014/main" id="{8DB4240E-7050-1D6A-15CC-21642CAFBF8E}"/>
              </a:ext>
            </a:extLst>
          </p:cNvPr>
          <p:cNvSpPr txBox="1"/>
          <p:nvPr/>
        </p:nvSpPr>
        <p:spPr>
          <a:xfrm>
            <a:off x="-1" y="821767"/>
            <a:ext cx="8714793" cy="4185761"/>
          </a:xfrm>
          <a:prstGeom prst="rect">
            <a:avLst/>
          </a:prstGeom>
          <a:noFill/>
        </p:spPr>
        <p:txBody>
          <a:bodyPr wrap="square" rtlCol="0">
            <a:spAutoFit/>
          </a:bodyPr>
          <a:lstStyle/>
          <a:p>
            <a:r>
              <a:rPr lang="en-US" b="1" dirty="0"/>
              <a:t>4. Model Architecture: LSTM Network</a:t>
            </a:r>
          </a:p>
          <a:p>
            <a:r>
              <a:rPr lang="en-US" dirty="0"/>
              <a:t>Since speech is sequential in nature, a </a:t>
            </a:r>
            <a:r>
              <a:rPr lang="en-US" b="1" dirty="0"/>
              <a:t>Recurrent Neural Network (RNN)</a:t>
            </a:r>
            <a:r>
              <a:rPr lang="en-US" dirty="0"/>
              <a:t>, particularly a </a:t>
            </a:r>
            <a:r>
              <a:rPr lang="en-US" b="1" dirty="0"/>
              <a:t>Long Short-Term Memory (LSTM)</a:t>
            </a:r>
            <a:r>
              <a:rPr lang="en-US" dirty="0"/>
              <a:t> model, is employed.</a:t>
            </a:r>
          </a:p>
          <a:p>
            <a:pPr>
              <a:buFont typeface="Arial" panose="020B0604020202020204" pitchFamily="34" charset="0"/>
              <a:buChar char="•"/>
            </a:pPr>
            <a:r>
              <a:rPr lang="en-US" dirty="0"/>
              <a:t>The model receives spectrograms as input and learns </a:t>
            </a:r>
            <a:r>
              <a:rPr lang="en-US" b="1" dirty="0"/>
              <a:t>temporal dependencies</a:t>
            </a:r>
            <a:r>
              <a:rPr lang="en-US" dirty="0"/>
              <a:t> and </a:t>
            </a:r>
            <a:r>
              <a:rPr lang="en-US" b="1" dirty="0"/>
              <a:t>emotional patterns</a:t>
            </a:r>
            <a:r>
              <a:rPr lang="en-US" dirty="0"/>
              <a:t>.</a:t>
            </a:r>
          </a:p>
          <a:p>
            <a:pPr>
              <a:buFont typeface="Arial" panose="020B0604020202020204" pitchFamily="34" charset="0"/>
              <a:buChar char="•"/>
            </a:pPr>
            <a:r>
              <a:rPr lang="en-US" dirty="0"/>
              <a:t>LSTM helps in maintaining context across time frames, which is crucial for emotion recognition.</a:t>
            </a:r>
          </a:p>
          <a:p>
            <a:pPr>
              <a:buFont typeface="Arial" panose="020B0604020202020204" pitchFamily="34" charset="0"/>
              <a:buChar char="•"/>
            </a:pPr>
            <a:r>
              <a:rPr lang="en-US" dirty="0"/>
              <a:t>The network ends with a </a:t>
            </a:r>
            <a:r>
              <a:rPr lang="en-US" b="1" dirty="0" err="1"/>
              <a:t>softmax</a:t>
            </a:r>
            <a:r>
              <a:rPr lang="en-US" b="1" dirty="0"/>
              <a:t> layer</a:t>
            </a:r>
            <a:r>
              <a:rPr lang="en-US" dirty="0"/>
              <a:t> to classify the emotion from a set of predefined labels.</a:t>
            </a:r>
          </a:p>
          <a:p>
            <a:endParaRPr lang="en-US" dirty="0"/>
          </a:p>
          <a:p>
            <a:r>
              <a:rPr lang="en-US" b="1" dirty="0"/>
              <a:t>5. Model Training</a:t>
            </a:r>
          </a:p>
          <a:p>
            <a:r>
              <a:rPr lang="en-US" dirty="0"/>
              <a:t>The extracted features and labels are split into training, validation, and testing sets.</a:t>
            </a:r>
          </a:p>
          <a:p>
            <a:pPr>
              <a:buFont typeface="Arial" panose="020B0604020202020204" pitchFamily="34" charset="0"/>
              <a:buChar char="•"/>
            </a:pPr>
            <a:r>
              <a:rPr lang="en-US" dirty="0"/>
              <a:t>The model is trained using </a:t>
            </a:r>
            <a:r>
              <a:rPr lang="en-US" b="1" dirty="0"/>
              <a:t>categorical cross-entropy</a:t>
            </a:r>
            <a:r>
              <a:rPr lang="en-US" dirty="0"/>
              <a:t> as the loss function and </a:t>
            </a:r>
            <a:r>
              <a:rPr lang="en-US" b="1" dirty="0"/>
              <a:t>Adam</a:t>
            </a:r>
            <a:r>
              <a:rPr lang="en-US" dirty="0"/>
              <a:t> as the optimizer.</a:t>
            </a:r>
          </a:p>
          <a:p>
            <a:pPr>
              <a:buFont typeface="Arial" panose="020B0604020202020204" pitchFamily="34" charset="0"/>
              <a:buChar char="•"/>
            </a:pPr>
            <a:r>
              <a:rPr lang="en-US" dirty="0"/>
              <a:t>Multiple epochs are run to ensure the model generalizes well without overfitting.</a:t>
            </a:r>
          </a:p>
          <a:p>
            <a:pPr>
              <a:buFont typeface="Arial" panose="020B0604020202020204" pitchFamily="34" charset="0"/>
              <a:buChar char="•"/>
            </a:pPr>
            <a:r>
              <a:rPr lang="en-US" dirty="0"/>
              <a:t>Metrics such as accuracy and loss are monitored to fine-tune performance.</a:t>
            </a:r>
          </a:p>
          <a:p>
            <a:endParaRPr lang="en-US" dirty="0"/>
          </a:p>
          <a:p>
            <a:r>
              <a:rPr lang="en-US" b="1" dirty="0"/>
              <a:t>6. Evaluation and Testing</a:t>
            </a:r>
          </a:p>
          <a:p>
            <a:r>
              <a:rPr lang="en-US" dirty="0"/>
              <a:t>Once trained, the model is tested on unseen data.</a:t>
            </a:r>
          </a:p>
          <a:p>
            <a:pPr>
              <a:buFont typeface="Arial" panose="020B0604020202020204" pitchFamily="34" charset="0"/>
              <a:buChar char="•"/>
            </a:pPr>
            <a:r>
              <a:rPr lang="en-US" dirty="0"/>
              <a:t>A </a:t>
            </a:r>
            <a:r>
              <a:rPr lang="en-US" b="1" dirty="0"/>
              <a:t>confusion matrix</a:t>
            </a:r>
            <a:r>
              <a:rPr lang="en-US" dirty="0"/>
              <a:t>, </a:t>
            </a:r>
            <a:r>
              <a:rPr lang="en-US" b="1" dirty="0"/>
              <a:t>accuracy score</a:t>
            </a:r>
            <a:r>
              <a:rPr lang="en-US" dirty="0"/>
              <a:t>, and </a:t>
            </a:r>
            <a:r>
              <a:rPr lang="en-US" b="1" dirty="0"/>
              <a:t>precision-recall metrics</a:t>
            </a:r>
            <a:r>
              <a:rPr lang="en-US" dirty="0"/>
              <a:t> are used to evaluate how well the model identifies each emotion.</a:t>
            </a:r>
          </a:p>
          <a:p>
            <a:pPr>
              <a:buFont typeface="Arial" panose="020B0604020202020204" pitchFamily="34" charset="0"/>
              <a:buChar char="•"/>
            </a:pPr>
            <a:r>
              <a:rPr lang="en-US" dirty="0"/>
              <a:t>The model is also tested in real-time conditions to simulate live user inputs and evaluate responsiveness.</a:t>
            </a:r>
          </a:p>
          <a:p>
            <a:endParaRPr lang="en-US" dirty="0"/>
          </a:p>
        </p:txBody>
      </p:sp>
    </p:spTree>
    <p:extLst>
      <p:ext uri="{BB962C8B-B14F-4D97-AF65-F5344CB8AC3E}">
        <p14:creationId xmlns:p14="http://schemas.microsoft.com/office/powerpoint/2010/main" val="162836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62738" y="270304"/>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METHODOLOGY</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13</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4" name="TextBox 3">
            <a:extLst>
              <a:ext uri="{FF2B5EF4-FFF2-40B4-BE49-F238E27FC236}">
                <a16:creationId xmlns:a16="http://schemas.microsoft.com/office/drawing/2014/main" id="{8DB4240E-7050-1D6A-15CC-21642CAFBF8E}"/>
              </a:ext>
            </a:extLst>
          </p:cNvPr>
          <p:cNvSpPr txBox="1"/>
          <p:nvPr/>
        </p:nvSpPr>
        <p:spPr>
          <a:xfrm>
            <a:off x="17236" y="971057"/>
            <a:ext cx="9109527" cy="2246769"/>
          </a:xfrm>
          <a:prstGeom prst="rect">
            <a:avLst/>
          </a:prstGeom>
          <a:noFill/>
        </p:spPr>
        <p:txBody>
          <a:bodyPr wrap="square" rtlCol="0">
            <a:spAutoFit/>
          </a:bodyPr>
          <a:lstStyle/>
          <a:p>
            <a:r>
              <a:rPr lang="en-US" b="1" dirty="0"/>
              <a:t>7. Integration with Django Interface</a:t>
            </a:r>
          </a:p>
          <a:p>
            <a:r>
              <a:rPr lang="en-US" dirty="0"/>
              <a:t>To make the model accessible and user-friendly:</a:t>
            </a:r>
          </a:p>
          <a:p>
            <a:pPr>
              <a:buFont typeface="Arial" panose="020B0604020202020204" pitchFamily="34" charset="0"/>
              <a:buChar char="•"/>
            </a:pPr>
            <a:r>
              <a:rPr lang="en-US" dirty="0"/>
              <a:t>A </a:t>
            </a:r>
            <a:r>
              <a:rPr lang="en-US" b="1" dirty="0"/>
              <a:t>Django web interface</a:t>
            </a:r>
            <a:r>
              <a:rPr lang="en-US" dirty="0"/>
              <a:t> was developed where users can upload or record speech.</a:t>
            </a:r>
          </a:p>
          <a:p>
            <a:pPr>
              <a:buFont typeface="Arial" panose="020B0604020202020204" pitchFamily="34" charset="0"/>
              <a:buChar char="•"/>
            </a:pPr>
            <a:r>
              <a:rPr lang="en-US" dirty="0"/>
              <a:t>The backend converts the audio into spectrogram, feeds it into the model, and returns the predicted emotion.</a:t>
            </a:r>
          </a:p>
          <a:p>
            <a:pPr>
              <a:buFont typeface="Arial" panose="020B0604020202020204" pitchFamily="34" charset="0"/>
              <a:buChar char="•"/>
            </a:pPr>
            <a:r>
              <a:rPr lang="en-US" dirty="0"/>
              <a:t>Results are displayed in a visual and interactive format for better understanding.</a:t>
            </a:r>
          </a:p>
          <a:p>
            <a:endParaRPr lang="en-US" dirty="0"/>
          </a:p>
          <a:p>
            <a:r>
              <a:rPr lang="en-US" b="1" dirty="0"/>
              <a:t>8. Execution in </a:t>
            </a:r>
            <a:r>
              <a:rPr lang="en-US" b="1" dirty="0" err="1"/>
              <a:t>Jupyter</a:t>
            </a:r>
            <a:r>
              <a:rPr lang="en-US" b="1" dirty="0"/>
              <a:t> via Anaconda</a:t>
            </a:r>
          </a:p>
          <a:p>
            <a:r>
              <a:rPr lang="en-US" dirty="0"/>
              <a:t>All development and experimentation were carried out in </a:t>
            </a:r>
            <a:r>
              <a:rPr lang="en-US" b="1" dirty="0" err="1"/>
              <a:t>Jupyter</a:t>
            </a:r>
            <a:r>
              <a:rPr lang="en-US" b="1" dirty="0"/>
              <a:t> Notebook</a:t>
            </a:r>
            <a:r>
              <a:rPr lang="en-US" dirty="0"/>
              <a:t> through </a:t>
            </a:r>
            <a:r>
              <a:rPr lang="en-US" b="1" dirty="0"/>
              <a:t>Anaconda Navigator</a:t>
            </a:r>
            <a:r>
              <a:rPr lang="en-US" dirty="0"/>
              <a:t>.</a:t>
            </a:r>
          </a:p>
          <a:p>
            <a:pPr>
              <a:buFont typeface="Arial" panose="020B0604020202020204" pitchFamily="34" charset="0"/>
              <a:buChar char="•"/>
            </a:pPr>
            <a:r>
              <a:rPr lang="en-US" dirty="0"/>
              <a:t>This environment offers an organized way to test, visualize, and debug every part of the project in real-time.</a:t>
            </a:r>
          </a:p>
          <a:p>
            <a:endParaRPr lang="en-US" dirty="0"/>
          </a:p>
        </p:txBody>
      </p:sp>
    </p:spTree>
    <p:extLst>
      <p:ext uri="{BB962C8B-B14F-4D97-AF65-F5344CB8AC3E}">
        <p14:creationId xmlns:p14="http://schemas.microsoft.com/office/powerpoint/2010/main" val="3205145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FRONT END: </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14</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5" name="TextBox 4">
            <a:extLst>
              <a:ext uri="{FF2B5EF4-FFF2-40B4-BE49-F238E27FC236}">
                <a16:creationId xmlns:a16="http://schemas.microsoft.com/office/drawing/2014/main" id="{2B1DC390-CD81-5E87-BACB-5057ABC17E73}"/>
              </a:ext>
            </a:extLst>
          </p:cNvPr>
          <p:cNvSpPr txBox="1"/>
          <p:nvPr/>
        </p:nvSpPr>
        <p:spPr>
          <a:xfrm>
            <a:off x="1211294" y="4154792"/>
            <a:ext cx="2183611" cy="276999"/>
          </a:xfrm>
          <a:prstGeom prst="rect">
            <a:avLst/>
          </a:prstGeom>
          <a:noFill/>
        </p:spPr>
        <p:txBody>
          <a:bodyPr wrap="square" rtlCol="0">
            <a:spAutoFit/>
          </a:bodyPr>
          <a:lstStyle/>
          <a:p>
            <a:r>
              <a:rPr lang="en-US" sz="1200" dirty="0"/>
              <a:t>Figure 1 : Welcome page</a:t>
            </a:r>
          </a:p>
        </p:txBody>
      </p:sp>
      <p:pic>
        <p:nvPicPr>
          <p:cNvPr id="6" name="Picture 5">
            <a:extLst>
              <a:ext uri="{FF2B5EF4-FFF2-40B4-BE49-F238E27FC236}">
                <a16:creationId xmlns:a16="http://schemas.microsoft.com/office/drawing/2014/main" id="{C86AE7B1-6FAC-A572-5D1B-58C5647C8ED0}"/>
              </a:ext>
            </a:extLst>
          </p:cNvPr>
          <p:cNvPicPr>
            <a:picLocks noChangeAspect="1"/>
          </p:cNvPicPr>
          <p:nvPr/>
        </p:nvPicPr>
        <p:blipFill>
          <a:blip r:embed="rId4"/>
          <a:stretch>
            <a:fillRect/>
          </a:stretch>
        </p:blipFill>
        <p:spPr>
          <a:xfrm>
            <a:off x="4571999" y="1136425"/>
            <a:ext cx="4150138" cy="2991601"/>
          </a:xfrm>
          <a:prstGeom prst="rect">
            <a:avLst/>
          </a:prstGeom>
        </p:spPr>
      </p:pic>
      <p:sp>
        <p:nvSpPr>
          <p:cNvPr id="7" name="TextBox 6">
            <a:extLst>
              <a:ext uri="{FF2B5EF4-FFF2-40B4-BE49-F238E27FC236}">
                <a16:creationId xmlns:a16="http://schemas.microsoft.com/office/drawing/2014/main" id="{0CB4F935-57F9-3A86-4A15-24E2F07CB240}"/>
              </a:ext>
            </a:extLst>
          </p:cNvPr>
          <p:cNvSpPr txBox="1"/>
          <p:nvPr/>
        </p:nvSpPr>
        <p:spPr>
          <a:xfrm>
            <a:off x="5749094" y="4114316"/>
            <a:ext cx="2183611" cy="276999"/>
          </a:xfrm>
          <a:prstGeom prst="rect">
            <a:avLst/>
          </a:prstGeom>
          <a:noFill/>
        </p:spPr>
        <p:txBody>
          <a:bodyPr wrap="square" rtlCol="0">
            <a:spAutoFit/>
          </a:bodyPr>
          <a:lstStyle/>
          <a:p>
            <a:r>
              <a:rPr lang="en-US" sz="1200" dirty="0"/>
              <a:t>Figure 2 : Registration page</a:t>
            </a:r>
          </a:p>
        </p:txBody>
      </p:sp>
      <p:pic>
        <p:nvPicPr>
          <p:cNvPr id="9" name="Picture 8">
            <a:extLst>
              <a:ext uri="{FF2B5EF4-FFF2-40B4-BE49-F238E27FC236}">
                <a16:creationId xmlns:a16="http://schemas.microsoft.com/office/drawing/2014/main" id="{723E6AEA-19D0-816C-0FBA-BE8785E00F12}"/>
              </a:ext>
            </a:extLst>
          </p:cNvPr>
          <p:cNvPicPr>
            <a:picLocks noChangeAspect="1"/>
          </p:cNvPicPr>
          <p:nvPr/>
        </p:nvPicPr>
        <p:blipFill>
          <a:blip r:embed="rId5"/>
          <a:stretch>
            <a:fillRect/>
          </a:stretch>
        </p:blipFill>
        <p:spPr>
          <a:xfrm>
            <a:off x="154500" y="1136425"/>
            <a:ext cx="4150138" cy="2975938"/>
          </a:xfrm>
          <a:prstGeom prst="rect">
            <a:avLst/>
          </a:prstGeom>
        </p:spPr>
      </p:pic>
    </p:spTree>
    <p:extLst>
      <p:ext uri="{BB962C8B-B14F-4D97-AF65-F5344CB8AC3E}">
        <p14:creationId xmlns:p14="http://schemas.microsoft.com/office/powerpoint/2010/main" val="1747792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FRONT END: </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15</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5" name="TextBox 4">
            <a:extLst>
              <a:ext uri="{FF2B5EF4-FFF2-40B4-BE49-F238E27FC236}">
                <a16:creationId xmlns:a16="http://schemas.microsoft.com/office/drawing/2014/main" id="{2B1DC390-CD81-5E87-BACB-5057ABC17E73}"/>
              </a:ext>
            </a:extLst>
          </p:cNvPr>
          <p:cNvSpPr txBox="1"/>
          <p:nvPr/>
        </p:nvSpPr>
        <p:spPr>
          <a:xfrm>
            <a:off x="1211294" y="4154792"/>
            <a:ext cx="2183611" cy="276999"/>
          </a:xfrm>
          <a:prstGeom prst="rect">
            <a:avLst/>
          </a:prstGeom>
          <a:noFill/>
        </p:spPr>
        <p:txBody>
          <a:bodyPr wrap="square" rtlCol="0">
            <a:spAutoFit/>
          </a:bodyPr>
          <a:lstStyle/>
          <a:p>
            <a:r>
              <a:rPr lang="en-US" sz="1200" dirty="0"/>
              <a:t>Figure 3 : Login page</a:t>
            </a:r>
          </a:p>
        </p:txBody>
      </p:sp>
      <p:sp>
        <p:nvSpPr>
          <p:cNvPr id="7" name="TextBox 6">
            <a:extLst>
              <a:ext uri="{FF2B5EF4-FFF2-40B4-BE49-F238E27FC236}">
                <a16:creationId xmlns:a16="http://schemas.microsoft.com/office/drawing/2014/main" id="{0CB4F935-57F9-3A86-4A15-24E2F07CB240}"/>
              </a:ext>
            </a:extLst>
          </p:cNvPr>
          <p:cNvSpPr txBox="1"/>
          <p:nvPr/>
        </p:nvSpPr>
        <p:spPr>
          <a:xfrm>
            <a:off x="5979119" y="4112362"/>
            <a:ext cx="2183611" cy="276999"/>
          </a:xfrm>
          <a:prstGeom prst="rect">
            <a:avLst/>
          </a:prstGeom>
          <a:noFill/>
        </p:spPr>
        <p:txBody>
          <a:bodyPr wrap="square" rtlCol="0">
            <a:spAutoFit/>
          </a:bodyPr>
          <a:lstStyle/>
          <a:p>
            <a:r>
              <a:rPr lang="en-US" sz="1200" dirty="0"/>
              <a:t>Figure 4 : Home page</a:t>
            </a:r>
          </a:p>
        </p:txBody>
      </p:sp>
      <p:pic>
        <p:nvPicPr>
          <p:cNvPr id="4" name="Picture 3">
            <a:extLst>
              <a:ext uri="{FF2B5EF4-FFF2-40B4-BE49-F238E27FC236}">
                <a16:creationId xmlns:a16="http://schemas.microsoft.com/office/drawing/2014/main" id="{9B9672F1-E69E-0551-E026-0AB412FD0ACF}"/>
              </a:ext>
            </a:extLst>
          </p:cNvPr>
          <p:cNvPicPr>
            <a:picLocks noChangeAspect="1"/>
          </p:cNvPicPr>
          <p:nvPr/>
        </p:nvPicPr>
        <p:blipFill>
          <a:blip r:embed="rId4"/>
          <a:stretch>
            <a:fillRect/>
          </a:stretch>
        </p:blipFill>
        <p:spPr>
          <a:xfrm>
            <a:off x="165830" y="1120762"/>
            <a:ext cx="4150138" cy="2991601"/>
          </a:xfrm>
          <a:prstGeom prst="rect">
            <a:avLst/>
          </a:prstGeom>
        </p:spPr>
      </p:pic>
      <p:pic>
        <p:nvPicPr>
          <p:cNvPr id="8" name="Picture 7">
            <a:extLst>
              <a:ext uri="{FF2B5EF4-FFF2-40B4-BE49-F238E27FC236}">
                <a16:creationId xmlns:a16="http://schemas.microsoft.com/office/drawing/2014/main" id="{D97134E8-E032-EB7E-97AF-F2D694469C04}"/>
              </a:ext>
            </a:extLst>
          </p:cNvPr>
          <p:cNvPicPr>
            <a:picLocks noChangeAspect="1"/>
          </p:cNvPicPr>
          <p:nvPr/>
        </p:nvPicPr>
        <p:blipFill>
          <a:blip r:embed="rId5"/>
          <a:stretch>
            <a:fillRect/>
          </a:stretch>
        </p:blipFill>
        <p:spPr>
          <a:xfrm>
            <a:off x="4747921" y="1120761"/>
            <a:ext cx="4150138" cy="2991601"/>
          </a:xfrm>
          <a:prstGeom prst="rect">
            <a:avLst/>
          </a:prstGeom>
        </p:spPr>
      </p:pic>
    </p:spTree>
    <p:extLst>
      <p:ext uri="{BB962C8B-B14F-4D97-AF65-F5344CB8AC3E}">
        <p14:creationId xmlns:p14="http://schemas.microsoft.com/office/powerpoint/2010/main" val="366530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FRONT END: </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16</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5" name="TextBox 4">
            <a:extLst>
              <a:ext uri="{FF2B5EF4-FFF2-40B4-BE49-F238E27FC236}">
                <a16:creationId xmlns:a16="http://schemas.microsoft.com/office/drawing/2014/main" id="{2B1DC390-CD81-5E87-BACB-5057ABC17E73}"/>
              </a:ext>
            </a:extLst>
          </p:cNvPr>
          <p:cNvSpPr txBox="1"/>
          <p:nvPr/>
        </p:nvSpPr>
        <p:spPr>
          <a:xfrm>
            <a:off x="1421606" y="4127849"/>
            <a:ext cx="2183611" cy="276999"/>
          </a:xfrm>
          <a:prstGeom prst="rect">
            <a:avLst/>
          </a:prstGeom>
          <a:noFill/>
        </p:spPr>
        <p:txBody>
          <a:bodyPr wrap="square" rtlCol="0">
            <a:spAutoFit/>
          </a:bodyPr>
          <a:lstStyle/>
          <a:p>
            <a:r>
              <a:rPr lang="en-US" sz="1200" dirty="0"/>
              <a:t>Figure 5 : File selection page</a:t>
            </a:r>
          </a:p>
        </p:txBody>
      </p:sp>
      <p:sp>
        <p:nvSpPr>
          <p:cNvPr id="7" name="TextBox 6">
            <a:extLst>
              <a:ext uri="{FF2B5EF4-FFF2-40B4-BE49-F238E27FC236}">
                <a16:creationId xmlns:a16="http://schemas.microsoft.com/office/drawing/2014/main" id="{0CB4F935-57F9-3A86-4A15-24E2F07CB240}"/>
              </a:ext>
            </a:extLst>
          </p:cNvPr>
          <p:cNvSpPr txBox="1"/>
          <p:nvPr/>
        </p:nvSpPr>
        <p:spPr>
          <a:xfrm>
            <a:off x="5671364" y="4122481"/>
            <a:ext cx="2799121" cy="276999"/>
          </a:xfrm>
          <a:prstGeom prst="rect">
            <a:avLst/>
          </a:prstGeom>
          <a:noFill/>
        </p:spPr>
        <p:txBody>
          <a:bodyPr wrap="square" rtlCol="0">
            <a:spAutoFit/>
          </a:bodyPr>
          <a:lstStyle/>
          <a:p>
            <a:r>
              <a:rPr lang="en-US" sz="1200" dirty="0"/>
              <a:t>Figure 6 : Emotion detection page</a:t>
            </a:r>
          </a:p>
        </p:txBody>
      </p:sp>
      <p:pic>
        <p:nvPicPr>
          <p:cNvPr id="3" name="Picture 2">
            <a:extLst>
              <a:ext uri="{FF2B5EF4-FFF2-40B4-BE49-F238E27FC236}">
                <a16:creationId xmlns:a16="http://schemas.microsoft.com/office/drawing/2014/main" id="{21A97DA4-CAA1-5DC4-B7E7-24EA25DBE0F7}"/>
              </a:ext>
            </a:extLst>
          </p:cNvPr>
          <p:cNvPicPr>
            <a:picLocks noChangeAspect="1"/>
          </p:cNvPicPr>
          <p:nvPr/>
        </p:nvPicPr>
        <p:blipFill>
          <a:blip r:embed="rId4"/>
          <a:stretch>
            <a:fillRect/>
          </a:stretch>
        </p:blipFill>
        <p:spPr>
          <a:xfrm>
            <a:off x="240625" y="1105098"/>
            <a:ext cx="4395384" cy="2991600"/>
          </a:xfrm>
          <a:prstGeom prst="rect">
            <a:avLst/>
          </a:prstGeom>
        </p:spPr>
      </p:pic>
      <p:pic>
        <p:nvPicPr>
          <p:cNvPr id="6" name="Picture 5">
            <a:extLst>
              <a:ext uri="{FF2B5EF4-FFF2-40B4-BE49-F238E27FC236}">
                <a16:creationId xmlns:a16="http://schemas.microsoft.com/office/drawing/2014/main" id="{46E2ECCB-F581-BD26-9DB1-1F40F7018D30}"/>
              </a:ext>
            </a:extLst>
          </p:cNvPr>
          <p:cNvPicPr>
            <a:picLocks noChangeAspect="1"/>
          </p:cNvPicPr>
          <p:nvPr/>
        </p:nvPicPr>
        <p:blipFill>
          <a:blip r:embed="rId5"/>
          <a:stretch>
            <a:fillRect/>
          </a:stretch>
        </p:blipFill>
        <p:spPr>
          <a:xfrm>
            <a:off x="4870027" y="1105098"/>
            <a:ext cx="4033348" cy="2991600"/>
          </a:xfrm>
          <a:prstGeom prst="rect">
            <a:avLst/>
          </a:prstGeom>
        </p:spPr>
      </p:pic>
    </p:spTree>
    <p:extLst>
      <p:ext uri="{BB962C8B-B14F-4D97-AF65-F5344CB8AC3E}">
        <p14:creationId xmlns:p14="http://schemas.microsoft.com/office/powerpoint/2010/main" val="2153345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BACK END: </a:t>
            </a: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17</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pic>
        <p:nvPicPr>
          <p:cNvPr id="4" name="Picture 3">
            <a:extLst>
              <a:ext uri="{FF2B5EF4-FFF2-40B4-BE49-F238E27FC236}">
                <a16:creationId xmlns:a16="http://schemas.microsoft.com/office/drawing/2014/main" id="{1BD08174-492D-2F70-71CD-1454758AFE2A}"/>
              </a:ext>
            </a:extLst>
          </p:cNvPr>
          <p:cNvPicPr>
            <a:picLocks noChangeAspect="1"/>
          </p:cNvPicPr>
          <p:nvPr/>
        </p:nvPicPr>
        <p:blipFill>
          <a:blip r:embed="rId4"/>
          <a:stretch>
            <a:fillRect/>
          </a:stretch>
        </p:blipFill>
        <p:spPr>
          <a:xfrm>
            <a:off x="685800" y="980465"/>
            <a:ext cx="7772400" cy="3182570"/>
          </a:xfrm>
          <a:prstGeom prst="rect">
            <a:avLst/>
          </a:prstGeom>
        </p:spPr>
      </p:pic>
      <p:sp>
        <p:nvSpPr>
          <p:cNvPr id="10" name="TextBox 9">
            <a:extLst>
              <a:ext uri="{FF2B5EF4-FFF2-40B4-BE49-F238E27FC236}">
                <a16:creationId xmlns:a16="http://schemas.microsoft.com/office/drawing/2014/main" id="{D51E6A7B-98E7-9FD0-C825-AB7B8DCD1290}"/>
              </a:ext>
            </a:extLst>
          </p:cNvPr>
          <p:cNvSpPr txBox="1"/>
          <p:nvPr/>
        </p:nvSpPr>
        <p:spPr>
          <a:xfrm>
            <a:off x="3594809" y="4163035"/>
            <a:ext cx="1755609" cy="276999"/>
          </a:xfrm>
          <a:prstGeom prst="rect">
            <a:avLst/>
          </a:prstGeom>
          <a:noFill/>
        </p:spPr>
        <p:txBody>
          <a:bodyPr wrap="none" rtlCol="0">
            <a:spAutoFit/>
          </a:bodyPr>
          <a:lstStyle/>
          <a:p>
            <a:r>
              <a:rPr lang="en-US" sz="1200" dirty="0"/>
              <a:t>Figure 7 : Spectrogram</a:t>
            </a:r>
          </a:p>
        </p:txBody>
      </p:sp>
    </p:spTree>
    <p:extLst>
      <p:ext uri="{BB962C8B-B14F-4D97-AF65-F5344CB8AC3E}">
        <p14:creationId xmlns:p14="http://schemas.microsoft.com/office/powerpoint/2010/main" val="2344966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RESULTS:</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18</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graphicFrame>
        <p:nvGraphicFramePr>
          <p:cNvPr id="4" name="Table 3">
            <a:extLst>
              <a:ext uri="{FF2B5EF4-FFF2-40B4-BE49-F238E27FC236}">
                <a16:creationId xmlns:a16="http://schemas.microsoft.com/office/drawing/2014/main" id="{12840DCA-722C-B8B0-96D5-A4D4C3FCD954}"/>
              </a:ext>
            </a:extLst>
          </p:cNvPr>
          <p:cNvGraphicFramePr>
            <a:graphicFrameLocks noGrp="1"/>
          </p:cNvGraphicFramePr>
          <p:nvPr>
            <p:extLst>
              <p:ext uri="{D42A27DB-BD31-4B8C-83A1-F6EECF244321}">
                <p14:modId xmlns:p14="http://schemas.microsoft.com/office/powerpoint/2010/main" val="3837043795"/>
              </p:ext>
            </p:extLst>
          </p:nvPr>
        </p:nvGraphicFramePr>
        <p:xfrm>
          <a:off x="82296" y="1155838"/>
          <a:ext cx="3995928" cy="3224136"/>
        </p:xfrm>
        <a:graphic>
          <a:graphicData uri="http://schemas.openxmlformats.org/drawingml/2006/table">
            <a:tbl>
              <a:tblPr firstRow="1" firstCol="1" bandRow="1">
                <a:tableStyleId>{962E5AC8-D1FD-4F38-99A3-E05809E0F263}</a:tableStyleId>
              </a:tblPr>
              <a:tblGrid>
                <a:gridCol w="998982">
                  <a:extLst>
                    <a:ext uri="{9D8B030D-6E8A-4147-A177-3AD203B41FA5}">
                      <a16:colId xmlns:a16="http://schemas.microsoft.com/office/drawing/2014/main" val="1913843188"/>
                    </a:ext>
                  </a:extLst>
                </a:gridCol>
                <a:gridCol w="998982">
                  <a:extLst>
                    <a:ext uri="{9D8B030D-6E8A-4147-A177-3AD203B41FA5}">
                      <a16:colId xmlns:a16="http://schemas.microsoft.com/office/drawing/2014/main" val="2896772168"/>
                    </a:ext>
                  </a:extLst>
                </a:gridCol>
                <a:gridCol w="998982">
                  <a:extLst>
                    <a:ext uri="{9D8B030D-6E8A-4147-A177-3AD203B41FA5}">
                      <a16:colId xmlns:a16="http://schemas.microsoft.com/office/drawing/2014/main" val="3924581872"/>
                    </a:ext>
                  </a:extLst>
                </a:gridCol>
                <a:gridCol w="998982">
                  <a:extLst>
                    <a:ext uri="{9D8B030D-6E8A-4147-A177-3AD203B41FA5}">
                      <a16:colId xmlns:a16="http://schemas.microsoft.com/office/drawing/2014/main" val="2502283301"/>
                    </a:ext>
                  </a:extLst>
                </a:gridCol>
              </a:tblGrid>
              <a:tr h="537356">
                <a:tc>
                  <a:txBody>
                    <a:bodyPr/>
                    <a:lstStyle/>
                    <a:p>
                      <a:pPr marL="0" marR="0" algn="ctr">
                        <a:spcBef>
                          <a:spcPts val="0"/>
                        </a:spcBef>
                        <a:spcAft>
                          <a:spcPts val="0"/>
                        </a:spcAft>
                      </a:pPr>
                      <a:r>
                        <a:rPr lang="en-US" sz="1200">
                          <a:effectLst/>
                        </a:rPr>
                        <a:t>Emotion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Precision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Recall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dirty="0">
                          <a:effectLst/>
                        </a:rPr>
                        <a:t>F1-Score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48693309"/>
                  </a:ext>
                </a:extLst>
              </a:tr>
              <a:tr h="537356">
                <a:tc>
                  <a:txBody>
                    <a:bodyPr/>
                    <a:lstStyle/>
                    <a:p>
                      <a:pPr marL="0" marR="0">
                        <a:spcBef>
                          <a:spcPts val="0"/>
                        </a:spcBef>
                        <a:spcAft>
                          <a:spcPts val="0"/>
                        </a:spcAft>
                      </a:pPr>
                      <a:r>
                        <a:rPr lang="en-US" sz="1200">
                          <a:effectLst/>
                        </a:rPr>
                        <a:t>Happy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2975908"/>
                  </a:ext>
                </a:extLst>
              </a:tr>
              <a:tr h="537356">
                <a:tc>
                  <a:txBody>
                    <a:bodyPr/>
                    <a:lstStyle/>
                    <a:p>
                      <a:pPr marL="0" marR="0">
                        <a:spcBef>
                          <a:spcPts val="0"/>
                        </a:spcBef>
                        <a:spcAft>
                          <a:spcPts val="0"/>
                        </a:spcAft>
                      </a:pPr>
                      <a:r>
                        <a:rPr lang="en-US" sz="1200">
                          <a:effectLst/>
                        </a:rPr>
                        <a:t>Sad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2108396"/>
                  </a:ext>
                </a:extLst>
              </a:tr>
              <a:tr h="537356">
                <a:tc>
                  <a:txBody>
                    <a:bodyPr/>
                    <a:lstStyle/>
                    <a:p>
                      <a:pPr marL="0" marR="0">
                        <a:spcBef>
                          <a:spcPts val="0"/>
                        </a:spcBef>
                        <a:spcAft>
                          <a:spcPts val="0"/>
                        </a:spcAft>
                      </a:pPr>
                      <a:r>
                        <a:rPr lang="en-US" sz="1200">
                          <a:effectLst/>
                        </a:rPr>
                        <a:t>Angry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0.91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0.90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0.90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69812256"/>
                  </a:ext>
                </a:extLst>
              </a:tr>
              <a:tr h="537356">
                <a:tc>
                  <a:txBody>
                    <a:bodyPr/>
                    <a:lstStyle/>
                    <a:p>
                      <a:pPr marL="0" marR="0">
                        <a:spcBef>
                          <a:spcPts val="0"/>
                        </a:spcBef>
                        <a:spcAft>
                          <a:spcPts val="0"/>
                        </a:spcAft>
                      </a:pPr>
                      <a:r>
                        <a:rPr lang="en-US" sz="1200">
                          <a:effectLst/>
                        </a:rPr>
                        <a:t>Neutral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0.80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0.78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0.79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94308727"/>
                  </a:ext>
                </a:extLst>
              </a:tr>
              <a:tr h="537356">
                <a:tc>
                  <a:txBody>
                    <a:bodyPr/>
                    <a:lstStyle/>
                    <a:p>
                      <a:pPr marL="0" marR="0">
                        <a:spcBef>
                          <a:spcPts val="0"/>
                        </a:spcBef>
                        <a:spcAft>
                          <a:spcPts val="0"/>
                        </a:spcAft>
                      </a:pPr>
                      <a:r>
                        <a:rPr lang="en-US" sz="1200">
                          <a:effectLst/>
                        </a:rPr>
                        <a:t>Fear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0.76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0.73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0.74</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9413596"/>
                  </a:ext>
                </a:extLst>
              </a:tr>
            </a:tbl>
          </a:graphicData>
        </a:graphic>
      </p:graphicFrame>
      <p:pic>
        <p:nvPicPr>
          <p:cNvPr id="7" name="Picture 6">
            <a:extLst>
              <a:ext uri="{FF2B5EF4-FFF2-40B4-BE49-F238E27FC236}">
                <a16:creationId xmlns:a16="http://schemas.microsoft.com/office/drawing/2014/main" id="{AD9A0FAD-9F41-FC42-D21B-FDF6001AE511}"/>
              </a:ext>
            </a:extLst>
          </p:cNvPr>
          <p:cNvPicPr>
            <a:picLocks noChangeAspect="1"/>
          </p:cNvPicPr>
          <p:nvPr/>
        </p:nvPicPr>
        <p:blipFill>
          <a:blip r:embed="rId4"/>
          <a:stretch>
            <a:fillRect/>
          </a:stretch>
        </p:blipFill>
        <p:spPr>
          <a:xfrm>
            <a:off x="4564325" y="1136425"/>
            <a:ext cx="4287067" cy="3243549"/>
          </a:xfrm>
          <a:prstGeom prst="rect">
            <a:avLst/>
          </a:prstGeom>
        </p:spPr>
      </p:pic>
      <p:sp>
        <p:nvSpPr>
          <p:cNvPr id="8" name="TextBox 7">
            <a:extLst>
              <a:ext uri="{FF2B5EF4-FFF2-40B4-BE49-F238E27FC236}">
                <a16:creationId xmlns:a16="http://schemas.microsoft.com/office/drawing/2014/main" id="{6A9EB4BF-4CFD-367D-1B2F-4E319B0DE5AC}"/>
              </a:ext>
            </a:extLst>
          </p:cNvPr>
          <p:cNvSpPr txBox="1"/>
          <p:nvPr/>
        </p:nvSpPr>
        <p:spPr>
          <a:xfrm>
            <a:off x="1191185" y="4424990"/>
            <a:ext cx="2223830" cy="261610"/>
          </a:xfrm>
          <a:prstGeom prst="rect">
            <a:avLst/>
          </a:prstGeom>
          <a:noFill/>
        </p:spPr>
        <p:txBody>
          <a:bodyPr wrap="square" rtlCol="0">
            <a:spAutoFit/>
          </a:bodyPr>
          <a:lstStyle/>
          <a:p>
            <a:r>
              <a:rPr lang="en-US" sz="1050" dirty="0"/>
              <a:t>Table 1 : Classification Report</a:t>
            </a:r>
          </a:p>
        </p:txBody>
      </p:sp>
      <p:sp>
        <p:nvSpPr>
          <p:cNvPr id="10" name="TextBox 9">
            <a:extLst>
              <a:ext uri="{FF2B5EF4-FFF2-40B4-BE49-F238E27FC236}">
                <a16:creationId xmlns:a16="http://schemas.microsoft.com/office/drawing/2014/main" id="{CEC5446A-F69A-3E2F-8C6C-10B888CE64EC}"/>
              </a:ext>
            </a:extLst>
          </p:cNvPr>
          <p:cNvSpPr txBox="1"/>
          <p:nvPr/>
        </p:nvSpPr>
        <p:spPr>
          <a:xfrm>
            <a:off x="5595942" y="4379974"/>
            <a:ext cx="2725097" cy="253916"/>
          </a:xfrm>
          <a:prstGeom prst="rect">
            <a:avLst/>
          </a:prstGeom>
          <a:noFill/>
        </p:spPr>
        <p:txBody>
          <a:bodyPr wrap="square" rtlCol="0">
            <a:spAutoFit/>
          </a:bodyPr>
          <a:lstStyle/>
          <a:p>
            <a:r>
              <a:rPr lang="en-US" sz="1050" dirty="0"/>
              <a:t>Figure 8 : Classification Report graph</a:t>
            </a:r>
          </a:p>
        </p:txBody>
      </p:sp>
      <p:sp>
        <p:nvSpPr>
          <p:cNvPr id="11" name="TextBox 10">
            <a:extLst>
              <a:ext uri="{FF2B5EF4-FFF2-40B4-BE49-F238E27FC236}">
                <a16:creationId xmlns:a16="http://schemas.microsoft.com/office/drawing/2014/main" id="{7807E7A5-7F1A-6746-9D89-4D84DCA997F1}"/>
              </a:ext>
            </a:extLst>
          </p:cNvPr>
          <p:cNvSpPr txBox="1"/>
          <p:nvPr/>
        </p:nvSpPr>
        <p:spPr>
          <a:xfrm>
            <a:off x="5846990" y="4666309"/>
            <a:ext cx="2616706" cy="461665"/>
          </a:xfrm>
          <a:prstGeom prst="rect">
            <a:avLst/>
          </a:prstGeom>
          <a:noFill/>
        </p:spPr>
        <p:txBody>
          <a:bodyPr wrap="square" rtlCol="0">
            <a:spAutoFit/>
          </a:bodyPr>
          <a:lstStyle/>
          <a:p>
            <a:r>
              <a:rPr lang="en-US" sz="1200" dirty="0"/>
              <a:t>X-axis represents emotions</a:t>
            </a:r>
          </a:p>
          <a:p>
            <a:r>
              <a:rPr lang="en-US" sz="1200" dirty="0"/>
              <a:t>Y-axis represents scores</a:t>
            </a:r>
          </a:p>
        </p:txBody>
      </p:sp>
    </p:spTree>
    <p:extLst>
      <p:ext uri="{BB962C8B-B14F-4D97-AF65-F5344CB8AC3E}">
        <p14:creationId xmlns:p14="http://schemas.microsoft.com/office/powerpoint/2010/main" val="3707305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RESULTS:</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19</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3" name="TextBox 2">
            <a:extLst>
              <a:ext uri="{FF2B5EF4-FFF2-40B4-BE49-F238E27FC236}">
                <a16:creationId xmlns:a16="http://schemas.microsoft.com/office/drawing/2014/main" id="{4921347C-B5FF-A2D9-4486-319AD609EDBF}"/>
              </a:ext>
            </a:extLst>
          </p:cNvPr>
          <p:cNvSpPr txBox="1"/>
          <p:nvPr/>
        </p:nvSpPr>
        <p:spPr>
          <a:xfrm>
            <a:off x="219456" y="1005840"/>
            <a:ext cx="8369544" cy="2315506"/>
          </a:xfrm>
          <a:prstGeom prst="rect">
            <a:avLst/>
          </a:prstGeom>
          <a:noFill/>
        </p:spPr>
        <p:txBody>
          <a:bodyPr wrap="square" rtlCol="0">
            <a:spAutoFit/>
          </a:bodyPr>
          <a:lstStyle/>
          <a:p>
            <a:pPr marL="0" marR="0" algn="just">
              <a:lnSpc>
                <a:spcPct val="150000"/>
              </a:lnSpc>
              <a:spcBef>
                <a:spcPts val="0"/>
              </a:spcBef>
              <a:spcAft>
                <a:spcPts val="0"/>
              </a:spcAft>
            </a:pPr>
            <a:r>
              <a:rPr lang="en-US" dirty="0">
                <a:effectLst/>
                <a:latin typeface="Arial" panose="020B0604020202020204" pitchFamily="34" charset="0"/>
                <a:ea typeface="Times New Roman" panose="02020603050405020304" pitchFamily="18" charset="0"/>
              </a:rPr>
              <a:t>The performance metrics table provides a clear insight into the model's effectiveness in recognizing various emotions from speech. The model performs well in detecting high-arousal emotions such as angry and happy, with high F1-scores indicating both strong precision and recall. Emotions like sad also show consistent results with a balanced performance. However, the accuracy decreases slightly for more subtle or overlapping emotions like neutral and fear, which have relatively lower F1-scores. These results suggest that while the model is effective for expressive emotional states, there is room for improvement in identifying low-intensity or ambiguous emotions.</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9148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RESULTS:</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20</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graphicFrame>
        <p:nvGraphicFramePr>
          <p:cNvPr id="3" name="Table 2">
            <a:extLst>
              <a:ext uri="{FF2B5EF4-FFF2-40B4-BE49-F238E27FC236}">
                <a16:creationId xmlns:a16="http://schemas.microsoft.com/office/drawing/2014/main" id="{93E67EDA-E905-5200-6E05-4DFCA7AF5B75}"/>
              </a:ext>
            </a:extLst>
          </p:cNvPr>
          <p:cNvGraphicFramePr>
            <a:graphicFrameLocks noGrp="1"/>
          </p:cNvGraphicFramePr>
          <p:nvPr>
            <p:extLst>
              <p:ext uri="{D42A27DB-BD31-4B8C-83A1-F6EECF244321}">
                <p14:modId xmlns:p14="http://schemas.microsoft.com/office/powerpoint/2010/main" val="2859331274"/>
              </p:ext>
            </p:extLst>
          </p:nvPr>
        </p:nvGraphicFramePr>
        <p:xfrm>
          <a:off x="154500" y="1018372"/>
          <a:ext cx="3923724" cy="3361602"/>
        </p:xfrm>
        <a:graphic>
          <a:graphicData uri="http://schemas.openxmlformats.org/drawingml/2006/table">
            <a:tbl>
              <a:tblPr firstRow="1" firstCol="1" bandRow="1">
                <a:tableStyleId>{962E5AC8-D1FD-4F38-99A3-E05809E0F263}</a:tableStyleId>
              </a:tblPr>
              <a:tblGrid>
                <a:gridCol w="653954">
                  <a:extLst>
                    <a:ext uri="{9D8B030D-6E8A-4147-A177-3AD203B41FA5}">
                      <a16:colId xmlns:a16="http://schemas.microsoft.com/office/drawing/2014/main" val="4226501062"/>
                    </a:ext>
                  </a:extLst>
                </a:gridCol>
                <a:gridCol w="653954">
                  <a:extLst>
                    <a:ext uri="{9D8B030D-6E8A-4147-A177-3AD203B41FA5}">
                      <a16:colId xmlns:a16="http://schemas.microsoft.com/office/drawing/2014/main" val="1828705186"/>
                    </a:ext>
                  </a:extLst>
                </a:gridCol>
                <a:gridCol w="653954">
                  <a:extLst>
                    <a:ext uri="{9D8B030D-6E8A-4147-A177-3AD203B41FA5}">
                      <a16:colId xmlns:a16="http://schemas.microsoft.com/office/drawing/2014/main" val="1125542456"/>
                    </a:ext>
                  </a:extLst>
                </a:gridCol>
                <a:gridCol w="653954">
                  <a:extLst>
                    <a:ext uri="{9D8B030D-6E8A-4147-A177-3AD203B41FA5}">
                      <a16:colId xmlns:a16="http://schemas.microsoft.com/office/drawing/2014/main" val="1893576604"/>
                    </a:ext>
                  </a:extLst>
                </a:gridCol>
                <a:gridCol w="653954">
                  <a:extLst>
                    <a:ext uri="{9D8B030D-6E8A-4147-A177-3AD203B41FA5}">
                      <a16:colId xmlns:a16="http://schemas.microsoft.com/office/drawing/2014/main" val="2573142505"/>
                    </a:ext>
                  </a:extLst>
                </a:gridCol>
                <a:gridCol w="653954">
                  <a:extLst>
                    <a:ext uri="{9D8B030D-6E8A-4147-A177-3AD203B41FA5}">
                      <a16:colId xmlns:a16="http://schemas.microsoft.com/office/drawing/2014/main" val="717951186"/>
                    </a:ext>
                  </a:extLst>
                </a:gridCol>
              </a:tblGrid>
              <a:tr h="560267">
                <a:tc>
                  <a:txBody>
                    <a:bodyPr/>
                    <a:lstStyle/>
                    <a:p>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Pred: Happy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Pred: Sad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Pred: Angry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Pred: Neutral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Pred: Fear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27799898"/>
                  </a:ext>
                </a:extLst>
              </a:tr>
              <a:tr h="560267">
                <a:tc>
                  <a:txBody>
                    <a:bodyPr/>
                    <a:lstStyle/>
                    <a:p>
                      <a:pPr marL="0" marR="0">
                        <a:spcBef>
                          <a:spcPts val="0"/>
                        </a:spcBef>
                        <a:spcAft>
                          <a:spcPts val="0"/>
                        </a:spcAft>
                      </a:pPr>
                      <a:r>
                        <a:rPr lang="en-US" sz="1200">
                          <a:effectLst/>
                        </a:rPr>
                        <a:t>Actual: Happy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87%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91342782"/>
                  </a:ext>
                </a:extLst>
              </a:tr>
              <a:tr h="560267">
                <a:tc>
                  <a:txBody>
                    <a:bodyPr/>
                    <a:lstStyle/>
                    <a:p>
                      <a:pPr marL="0" marR="0">
                        <a:spcBef>
                          <a:spcPts val="0"/>
                        </a:spcBef>
                        <a:spcAft>
                          <a:spcPts val="0"/>
                        </a:spcAft>
                      </a:pPr>
                      <a:r>
                        <a:rPr lang="en-US" sz="1200">
                          <a:effectLst/>
                        </a:rPr>
                        <a:t>Actual: Sad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85%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7298118"/>
                  </a:ext>
                </a:extLst>
              </a:tr>
              <a:tr h="560267">
                <a:tc>
                  <a:txBody>
                    <a:bodyPr/>
                    <a:lstStyle/>
                    <a:p>
                      <a:pPr marL="0" marR="0">
                        <a:spcBef>
                          <a:spcPts val="0"/>
                        </a:spcBef>
                        <a:spcAft>
                          <a:spcPts val="0"/>
                        </a:spcAft>
                      </a:pPr>
                      <a:r>
                        <a:rPr lang="en-US" sz="1200">
                          <a:effectLst/>
                        </a:rPr>
                        <a:t>Actual: Angry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90%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9800886"/>
                  </a:ext>
                </a:extLst>
              </a:tr>
              <a:tr h="560267">
                <a:tc>
                  <a:txBody>
                    <a:bodyPr/>
                    <a:lstStyle/>
                    <a:p>
                      <a:pPr marL="0" marR="0">
                        <a:spcBef>
                          <a:spcPts val="0"/>
                        </a:spcBef>
                        <a:spcAft>
                          <a:spcPts val="0"/>
                        </a:spcAft>
                      </a:pPr>
                      <a:r>
                        <a:rPr lang="en-US" sz="1200">
                          <a:effectLst/>
                        </a:rPr>
                        <a:t>Actual: Neutral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78%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7957066"/>
                  </a:ext>
                </a:extLst>
              </a:tr>
              <a:tr h="560267">
                <a:tc>
                  <a:txBody>
                    <a:bodyPr/>
                    <a:lstStyle/>
                    <a:p>
                      <a:pPr marL="0" marR="0">
                        <a:spcBef>
                          <a:spcPts val="0"/>
                        </a:spcBef>
                        <a:spcAft>
                          <a:spcPts val="0"/>
                        </a:spcAft>
                      </a:pPr>
                      <a:r>
                        <a:rPr lang="en-US" sz="1200">
                          <a:effectLst/>
                        </a:rPr>
                        <a:t>Actual: Fear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73%</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45468633"/>
                  </a:ext>
                </a:extLst>
              </a:tr>
            </a:tbl>
          </a:graphicData>
        </a:graphic>
      </p:graphicFrame>
      <p:pic>
        <p:nvPicPr>
          <p:cNvPr id="5" name="Picture 4">
            <a:extLst>
              <a:ext uri="{FF2B5EF4-FFF2-40B4-BE49-F238E27FC236}">
                <a16:creationId xmlns:a16="http://schemas.microsoft.com/office/drawing/2014/main" id="{A0EB3800-48BA-B0AD-86C8-9664BCBD5DAF}"/>
              </a:ext>
            </a:extLst>
          </p:cNvPr>
          <p:cNvPicPr>
            <a:picLocks noChangeAspect="1"/>
          </p:cNvPicPr>
          <p:nvPr/>
        </p:nvPicPr>
        <p:blipFill>
          <a:blip r:embed="rId4"/>
          <a:stretch>
            <a:fillRect/>
          </a:stretch>
        </p:blipFill>
        <p:spPr>
          <a:xfrm>
            <a:off x="4692300" y="1018372"/>
            <a:ext cx="4297200" cy="3361602"/>
          </a:xfrm>
          <a:prstGeom prst="rect">
            <a:avLst/>
          </a:prstGeom>
        </p:spPr>
      </p:pic>
      <p:sp>
        <p:nvSpPr>
          <p:cNvPr id="6" name="TextBox 5">
            <a:extLst>
              <a:ext uri="{FF2B5EF4-FFF2-40B4-BE49-F238E27FC236}">
                <a16:creationId xmlns:a16="http://schemas.microsoft.com/office/drawing/2014/main" id="{D8E57432-5DE9-CF37-7022-0EAED3FD9364}"/>
              </a:ext>
            </a:extLst>
          </p:cNvPr>
          <p:cNvSpPr txBox="1"/>
          <p:nvPr/>
        </p:nvSpPr>
        <p:spPr>
          <a:xfrm>
            <a:off x="1191185" y="4424990"/>
            <a:ext cx="2223830" cy="261610"/>
          </a:xfrm>
          <a:prstGeom prst="rect">
            <a:avLst/>
          </a:prstGeom>
          <a:noFill/>
        </p:spPr>
        <p:txBody>
          <a:bodyPr wrap="square" rtlCol="0">
            <a:spAutoFit/>
          </a:bodyPr>
          <a:lstStyle/>
          <a:p>
            <a:r>
              <a:rPr lang="en-US" sz="1050" dirty="0"/>
              <a:t>Table 2 : Confusion Matrix</a:t>
            </a:r>
          </a:p>
        </p:txBody>
      </p:sp>
      <p:sp>
        <p:nvSpPr>
          <p:cNvPr id="8" name="TextBox 7">
            <a:extLst>
              <a:ext uri="{FF2B5EF4-FFF2-40B4-BE49-F238E27FC236}">
                <a16:creationId xmlns:a16="http://schemas.microsoft.com/office/drawing/2014/main" id="{7DFA792A-50A5-5EA3-6D3C-ACCC8A98E651}"/>
              </a:ext>
            </a:extLst>
          </p:cNvPr>
          <p:cNvSpPr txBox="1"/>
          <p:nvPr/>
        </p:nvSpPr>
        <p:spPr>
          <a:xfrm>
            <a:off x="5728987" y="4451390"/>
            <a:ext cx="2223830" cy="261610"/>
          </a:xfrm>
          <a:prstGeom prst="rect">
            <a:avLst/>
          </a:prstGeom>
          <a:noFill/>
        </p:spPr>
        <p:txBody>
          <a:bodyPr wrap="square" rtlCol="0">
            <a:spAutoFit/>
          </a:bodyPr>
          <a:lstStyle/>
          <a:p>
            <a:r>
              <a:rPr lang="en-US" sz="1050" dirty="0"/>
              <a:t>Figure 9 : Confusion Matrix graph</a:t>
            </a:r>
          </a:p>
        </p:txBody>
      </p:sp>
    </p:spTree>
    <p:extLst>
      <p:ext uri="{BB962C8B-B14F-4D97-AF65-F5344CB8AC3E}">
        <p14:creationId xmlns:p14="http://schemas.microsoft.com/office/powerpoint/2010/main" val="4070296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RESULTS:</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21</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3" name="TextBox 2">
            <a:extLst>
              <a:ext uri="{FF2B5EF4-FFF2-40B4-BE49-F238E27FC236}">
                <a16:creationId xmlns:a16="http://schemas.microsoft.com/office/drawing/2014/main" id="{4921347C-B5FF-A2D9-4486-319AD609EDBF}"/>
              </a:ext>
            </a:extLst>
          </p:cNvPr>
          <p:cNvSpPr txBox="1"/>
          <p:nvPr/>
        </p:nvSpPr>
        <p:spPr>
          <a:xfrm>
            <a:off x="219456" y="1005840"/>
            <a:ext cx="8369544" cy="2315506"/>
          </a:xfrm>
          <a:prstGeom prst="rect">
            <a:avLst/>
          </a:prstGeom>
          <a:noFill/>
        </p:spPr>
        <p:txBody>
          <a:bodyPr wrap="square" rtlCol="0">
            <a:spAutoFit/>
          </a:bodyPr>
          <a:lstStyle/>
          <a:p>
            <a:pPr marL="0" marR="0" algn="just">
              <a:lnSpc>
                <a:spcPct val="150000"/>
              </a:lnSpc>
              <a:spcBef>
                <a:spcPts val="0"/>
              </a:spcBef>
              <a:spcAft>
                <a:spcPts val="0"/>
              </a:spcAft>
            </a:pPr>
            <a:r>
              <a:rPr lang="en-US" dirty="0">
                <a:effectLst/>
                <a:latin typeface="Arial" panose="020B0604020202020204" pitchFamily="34" charset="0"/>
                <a:ea typeface="Times New Roman" panose="02020603050405020304" pitchFamily="18" charset="0"/>
              </a:rPr>
              <a:t>The confusion matrix highlights the classification performance of the emotion detection model across five emotions. The model shows high accuracy in identifying distinct emotions like happy, sad, and angry, with correct prediction rates of 87%, 85%, and 90% respectively. However, it demonstrates more confusion in recognizing neutral and fear, with only 78% and 73% accuracy. Misclassifications often occur between neutral and other emotions such as sad and fear, indicating some overlap in acoustic features. Despite these occasional errors, the model overall performs well, particularly for strongly expressed emotions</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33955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COMPARISON MODEL:</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22</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graphicFrame>
        <p:nvGraphicFramePr>
          <p:cNvPr id="4" name="Table 3">
            <a:extLst>
              <a:ext uri="{FF2B5EF4-FFF2-40B4-BE49-F238E27FC236}">
                <a16:creationId xmlns:a16="http://schemas.microsoft.com/office/drawing/2014/main" id="{8FBF4EB1-639F-C29F-EA40-111BA31B6BA3}"/>
              </a:ext>
            </a:extLst>
          </p:cNvPr>
          <p:cNvGraphicFramePr>
            <a:graphicFrameLocks noGrp="1"/>
          </p:cNvGraphicFramePr>
          <p:nvPr>
            <p:extLst>
              <p:ext uri="{D42A27DB-BD31-4B8C-83A1-F6EECF244321}">
                <p14:modId xmlns:p14="http://schemas.microsoft.com/office/powerpoint/2010/main" val="2821425276"/>
              </p:ext>
            </p:extLst>
          </p:nvPr>
        </p:nvGraphicFramePr>
        <p:xfrm>
          <a:off x="292608" y="1018372"/>
          <a:ext cx="3867912" cy="3361604"/>
        </p:xfrm>
        <a:graphic>
          <a:graphicData uri="http://schemas.openxmlformats.org/drawingml/2006/table">
            <a:tbl>
              <a:tblPr firstRow="1" firstCol="1" bandRow="1">
                <a:tableStyleId>{962E5AC8-D1FD-4F38-99A3-E05809E0F263}</a:tableStyleId>
              </a:tblPr>
              <a:tblGrid>
                <a:gridCol w="966978">
                  <a:extLst>
                    <a:ext uri="{9D8B030D-6E8A-4147-A177-3AD203B41FA5}">
                      <a16:colId xmlns:a16="http://schemas.microsoft.com/office/drawing/2014/main" val="2121362901"/>
                    </a:ext>
                  </a:extLst>
                </a:gridCol>
                <a:gridCol w="966978">
                  <a:extLst>
                    <a:ext uri="{9D8B030D-6E8A-4147-A177-3AD203B41FA5}">
                      <a16:colId xmlns:a16="http://schemas.microsoft.com/office/drawing/2014/main" val="2766997481"/>
                    </a:ext>
                  </a:extLst>
                </a:gridCol>
                <a:gridCol w="966978">
                  <a:extLst>
                    <a:ext uri="{9D8B030D-6E8A-4147-A177-3AD203B41FA5}">
                      <a16:colId xmlns:a16="http://schemas.microsoft.com/office/drawing/2014/main" val="1445610821"/>
                    </a:ext>
                  </a:extLst>
                </a:gridCol>
                <a:gridCol w="966978">
                  <a:extLst>
                    <a:ext uri="{9D8B030D-6E8A-4147-A177-3AD203B41FA5}">
                      <a16:colId xmlns:a16="http://schemas.microsoft.com/office/drawing/2014/main" val="29629732"/>
                    </a:ext>
                  </a:extLst>
                </a:gridCol>
              </a:tblGrid>
              <a:tr h="402912">
                <a:tc>
                  <a:txBody>
                    <a:bodyPr/>
                    <a:lstStyle/>
                    <a:p>
                      <a:pPr marL="0" marR="0" algn="just">
                        <a:spcBef>
                          <a:spcPts val="0"/>
                        </a:spcBef>
                        <a:spcAft>
                          <a:spcPts val="0"/>
                        </a:spcAft>
                      </a:pPr>
                      <a:r>
                        <a:rPr lang="en-US" sz="1200">
                          <a:effectLst/>
                        </a:rPr>
                        <a:t>Model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Precision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Recall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F1-Score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extLst>
                  <a:ext uri="{0D108BD9-81ED-4DB2-BD59-A6C34878D82A}">
                    <a16:rowId xmlns:a16="http://schemas.microsoft.com/office/drawing/2014/main" val="2531259746"/>
                  </a:ext>
                </a:extLst>
              </a:tr>
              <a:tr h="672430">
                <a:tc>
                  <a:txBody>
                    <a:bodyPr/>
                    <a:lstStyle/>
                    <a:p>
                      <a:pPr marL="0" marR="0" algn="just">
                        <a:spcBef>
                          <a:spcPts val="0"/>
                        </a:spcBef>
                        <a:spcAft>
                          <a:spcPts val="0"/>
                        </a:spcAft>
                      </a:pPr>
                      <a:r>
                        <a:rPr lang="en-US" sz="1200" dirty="0">
                          <a:effectLst/>
                        </a:rPr>
                        <a:t>Simple RNN</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extLst>
                  <a:ext uri="{0D108BD9-81ED-4DB2-BD59-A6C34878D82A}">
                    <a16:rowId xmlns:a16="http://schemas.microsoft.com/office/drawing/2014/main" val="1712599321"/>
                  </a:ext>
                </a:extLst>
              </a:tr>
              <a:tr h="806916">
                <a:tc>
                  <a:txBody>
                    <a:bodyPr/>
                    <a:lstStyle/>
                    <a:p>
                      <a:pPr marL="0" marR="0" algn="just">
                        <a:spcBef>
                          <a:spcPts val="0"/>
                        </a:spcBef>
                        <a:spcAft>
                          <a:spcPts val="0"/>
                        </a:spcAft>
                      </a:pPr>
                      <a:r>
                        <a:rPr lang="en-US" sz="1200">
                          <a:effectLst/>
                        </a:rPr>
                        <a:t>LSTM</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dirty="0">
                          <a:effectLst/>
                        </a:rPr>
                        <a:t>0.86</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extLst>
                  <a:ext uri="{0D108BD9-81ED-4DB2-BD59-A6C34878D82A}">
                    <a16:rowId xmlns:a16="http://schemas.microsoft.com/office/drawing/2014/main" val="471633308"/>
                  </a:ext>
                </a:extLst>
              </a:tr>
              <a:tr h="806916">
                <a:tc>
                  <a:txBody>
                    <a:bodyPr/>
                    <a:lstStyle/>
                    <a:p>
                      <a:pPr marL="0" marR="0" algn="just">
                        <a:spcBef>
                          <a:spcPts val="0"/>
                        </a:spcBef>
                        <a:spcAft>
                          <a:spcPts val="0"/>
                        </a:spcAft>
                      </a:pPr>
                      <a:r>
                        <a:rPr lang="en-US" sz="1200">
                          <a:effectLst/>
                        </a:rPr>
                        <a:t>GRU</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extLst>
                  <a:ext uri="{0D108BD9-81ED-4DB2-BD59-A6C34878D82A}">
                    <a16:rowId xmlns:a16="http://schemas.microsoft.com/office/drawing/2014/main" val="3254927703"/>
                  </a:ext>
                </a:extLst>
              </a:tr>
              <a:tr h="672430">
                <a:tc>
                  <a:txBody>
                    <a:bodyPr/>
                    <a:lstStyle/>
                    <a:p>
                      <a:pPr marL="0" marR="0" algn="just">
                        <a:spcBef>
                          <a:spcPts val="0"/>
                        </a:spcBef>
                        <a:spcAft>
                          <a:spcPts val="0"/>
                        </a:spcAft>
                      </a:pPr>
                      <a:r>
                        <a:rPr lang="en-US" sz="1200">
                          <a:effectLst/>
                        </a:rPr>
                        <a:t>CNN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a:effectLst/>
                        </a:rPr>
                        <a:t>0.81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tc>
                  <a:txBody>
                    <a:bodyPr/>
                    <a:lstStyle/>
                    <a:p>
                      <a:pPr marL="0" marR="0" algn="just">
                        <a:spcBef>
                          <a:spcPts val="0"/>
                        </a:spcBef>
                        <a:spcAft>
                          <a:spcPts val="0"/>
                        </a:spcAft>
                      </a:pPr>
                      <a:r>
                        <a:rPr lang="en-US" sz="1200" dirty="0">
                          <a:effectLst/>
                        </a:rPr>
                        <a:t>0.81</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938" marR="66938" marT="0" marB="0"/>
                </a:tc>
                <a:extLst>
                  <a:ext uri="{0D108BD9-81ED-4DB2-BD59-A6C34878D82A}">
                    <a16:rowId xmlns:a16="http://schemas.microsoft.com/office/drawing/2014/main" val="3293878009"/>
                  </a:ext>
                </a:extLst>
              </a:tr>
            </a:tbl>
          </a:graphicData>
        </a:graphic>
      </p:graphicFrame>
      <p:pic>
        <p:nvPicPr>
          <p:cNvPr id="6" name="Picture 5">
            <a:extLst>
              <a:ext uri="{FF2B5EF4-FFF2-40B4-BE49-F238E27FC236}">
                <a16:creationId xmlns:a16="http://schemas.microsoft.com/office/drawing/2014/main" id="{E645B4AC-A688-4793-47BB-95C0662AAA9A}"/>
              </a:ext>
            </a:extLst>
          </p:cNvPr>
          <p:cNvPicPr>
            <a:picLocks noChangeAspect="1"/>
          </p:cNvPicPr>
          <p:nvPr/>
        </p:nvPicPr>
        <p:blipFill>
          <a:blip r:embed="rId4"/>
          <a:stretch>
            <a:fillRect/>
          </a:stretch>
        </p:blipFill>
        <p:spPr>
          <a:xfrm>
            <a:off x="4692300" y="1012713"/>
            <a:ext cx="4021932" cy="3361605"/>
          </a:xfrm>
          <a:prstGeom prst="rect">
            <a:avLst/>
          </a:prstGeom>
        </p:spPr>
      </p:pic>
      <p:sp>
        <p:nvSpPr>
          <p:cNvPr id="7" name="TextBox 6">
            <a:extLst>
              <a:ext uri="{FF2B5EF4-FFF2-40B4-BE49-F238E27FC236}">
                <a16:creationId xmlns:a16="http://schemas.microsoft.com/office/drawing/2014/main" id="{528D4477-BAAF-34F1-C059-D49A5D59D613}"/>
              </a:ext>
            </a:extLst>
          </p:cNvPr>
          <p:cNvSpPr txBox="1"/>
          <p:nvPr/>
        </p:nvSpPr>
        <p:spPr>
          <a:xfrm>
            <a:off x="1191185" y="4424990"/>
            <a:ext cx="2223830" cy="261610"/>
          </a:xfrm>
          <a:prstGeom prst="rect">
            <a:avLst/>
          </a:prstGeom>
          <a:noFill/>
        </p:spPr>
        <p:txBody>
          <a:bodyPr wrap="square" rtlCol="0">
            <a:spAutoFit/>
          </a:bodyPr>
          <a:lstStyle/>
          <a:p>
            <a:r>
              <a:rPr lang="en-US" sz="1050" dirty="0"/>
              <a:t>Table 3 : Comparison Model</a:t>
            </a:r>
          </a:p>
        </p:txBody>
      </p:sp>
      <p:sp>
        <p:nvSpPr>
          <p:cNvPr id="8" name="TextBox 7">
            <a:extLst>
              <a:ext uri="{FF2B5EF4-FFF2-40B4-BE49-F238E27FC236}">
                <a16:creationId xmlns:a16="http://schemas.microsoft.com/office/drawing/2014/main" id="{021F6EC0-151A-DAD0-5230-1DB7F1B5B9F9}"/>
              </a:ext>
            </a:extLst>
          </p:cNvPr>
          <p:cNvSpPr txBox="1"/>
          <p:nvPr/>
        </p:nvSpPr>
        <p:spPr>
          <a:xfrm>
            <a:off x="5591350" y="4424990"/>
            <a:ext cx="2601673" cy="253916"/>
          </a:xfrm>
          <a:prstGeom prst="rect">
            <a:avLst/>
          </a:prstGeom>
          <a:noFill/>
        </p:spPr>
        <p:txBody>
          <a:bodyPr wrap="square" rtlCol="0">
            <a:spAutoFit/>
          </a:bodyPr>
          <a:lstStyle/>
          <a:p>
            <a:r>
              <a:rPr lang="en-US" sz="1050" dirty="0"/>
              <a:t>Figure 10 : Classification Report Graph</a:t>
            </a:r>
          </a:p>
        </p:txBody>
      </p:sp>
      <p:sp>
        <p:nvSpPr>
          <p:cNvPr id="9" name="TextBox 8">
            <a:extLst>
              <a:ext uri="{FF2B5EF4-FFF2-40B4-BE49-F238E27FC236}">
                <a16:creationId xmlns:a16="http://schemas.microsoft.com/office/drawing/2014/main" id="{D29E72BB-40A7-26CE-3715-C5510F543204}"/>
              </a:ext>
            </a:extLst>
          </p:cNvPr>
          <p:cNvSpPr txBox="1"/>
          <p:nvPr/>
        </p:nvSpPr>
        <p:spPr>
          <a:xfrm>
            <a:off x="5846990" y="4666309"/>
            <a:ext cx="2616706" cy="461665"/>
          </a:xfrm>
          <a:prstGeom prst="rect">
            <a:avLst/>
          </a:prstGeom>
          <a:noFill/>
        </p:spPr>
        <p:txBody>
          <a:bodyPr wrap="square" rtlCol="0">
            <a:spAutoFit/>
          </a:bodyPr>
          <a:lstStyle/>
          <a:p>
            <a:r>
              <a:rPr lang="en-US" sz="1200" dirty="0"/>
              <a:t>X-axis represents models</a:t>
            </a:r>
          </a:p>
          <a:p>
            <a:r>
              <a:rPr lang="en-US" sz="1200" dirty="0"/>
              <a:t>Y-axis represents scores</a:t>
            </a:r>
          </a:p>
        </p:txBody>
      </p:sp>
    </p:spTree>
    <p:extLst>
      <p:ext uri="{BB962C8B-B14F-4D97-AF65-F5344CB8AC3E}">
        <p14:creationId xmlns:p14="http://schemas.microsoft.com/office/powerpoint/2010/main" val="730407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RESULTS:</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23</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3" name="TextBox 2">
            <a:extLst>
              <a:ext uri="{FF2B5EF4-FFF2-40B4-BE49-F238E27FC236}">
                <a16:creationId xmlns:a16="http://schemas.microsoft.com/office/drawing/2014/main" id="{4921347C-B5FF-A2D9-4486-319AD609EDBF}"/>
              </a:ext>
            </a:extLst>
          </p:cNvPr>
          <p:cNvSpPr txBox="1"/>
          <p:nvPr/>
        </p:nvSpPr>
        <p:spPr>
          <a:xfrm>
            <a:off x="219456" y="1005840"/>
            <a:ext cx="8369544" cy="2961836"/>
          </a:xfrm>
          <a:prstGeom prst="rect">
            <a:avLst/>
          </a:prstGeom>
          <a:noFill/>
        </p:spPr>
        <p:txBody>
          <a:bodyPr wrap="square" rtlCol="0">
            <a:spAutoFit/>
          </a:bodyPr>
          <a:lstStyle/>
          <a:p>
            <a:pPr marL="0" marR="0" algn="just">
              <a:lnSpc>
                <a:spcPct val="150000"/>
              </a:lnSpc>
              <a:spcBef>
                <a:spcPts val="0"/>
              </a:spcBef>
              <a:spcAft>
                <a:spcPts val="0"/>
              </a:spcAft>
            </a:pPr>
            <a:r>
              <a:rPr lang="en-US" dirty="0">
                <a:effectLst/>
                <a:latin typeface="Arial" panose="020B0604020202020204" pitchFamily="34" charset="0"/>
                <a:ea typeface="Times New Roman" panose="02020603050405020304" pitchFamily="18" charset="0"/>
              </a:rPr>
              <a:t>This table compares four deep learning models used for speech emotion recognition based on their precision, recall, and F1-score. The improved</a:t>
            </a:r>
            <a:r>
              <a:rPr lang="en-US" b="1" dirty="0">
                <a:effectLst/>
                <a:latin typeface="Arial" panose="020B0604020202020204" pitchFamily="34" charset="0"/>
                <a:ea typeface="Times New Roman" panose="02020603050405020304" pitchFamily="18" charset="0"/>
              </a:rPr>
              <a:t> </a:t>
            </a:r>
            <a:r>
              <a:rPr lang="en-US" b="0" dirty="0">
                <a:effectLst/>
                <a:latin typeface="Arial" panose="020B0604020202020204" pitchFamily="34" charset="0"/>
                <a:ea typeface="Times New Roman" panose="02020603050405020304" pitchFamily="18" charset="0"/>
              </a:rPr>
              <a:t>Simple RNN model</a:t>
            </a:r>
            <a:r>
              <a:rPr lang="en-US" dirty="0">
                <a:effectLst/>
                <a:latin typeface="Arial" panose="020B0604020202020204" pitchFamily="34" charset="0"/>
                <a:ea typeface="Times New Roman" panose="02020603050405020304" pitchFamily="18" charset="0"/>
              </a:rPr>
              <a:t> leads the group with a strong F1-score of 0.87, demonstrating its efficiency and reliability, especially in recognizing emotions like “Angry.” </a:t>
            </a:r>
            <a:r>
              <a:rPr lang="en-US" b="1" dirty="0">
                <a:effectLst/>
                <a:latin typeface="Arial" panose="020B0604020202020204" pitchFamily="34" charset="0"/>
                <a:ea typeface="Times New Roman" panose="02020603050405020304" pitchFamily="18" charset="0"/>
              </a:rPr>
              <a:t>LSTM</a:t>
            </a:r>
            <a:r>
              <a:rPr lang="en-US" dirty="0">
                <a:effectLst/>
                <a:latin typeface="Arial" panose="020B0604020202020204" pitchFamily="34" charset="0"/>
                <a:ea typeface="Times New Roman" panose="02020603050405020304" pitchFamily="18" charset="0"/>
              </a:rPr>
              <a:t> follows closely with slightly lower metrics, offering robust performance due to its ability to capture long-term dependencies in speech. </a:t>
            </a:r>
            <a:r>
              <a:rPr lang="en-US" b="1" dirty="0">
                <a:effectLst/>
                <a:latin typeface="Arial" panose="020B0604020202020204" pitchFamily="34" charset="0"/>
                <a:ea typeface="Times New Roman" panose="02020603050405020304" pitchFamily="18" charset="0"/>
              </a:rPr>
              <a:t>GRU</a:t>
            </a:r>
            <a:r>
              <a:rPr lang="en-US" dirty="0">
                <a:effectLst/>
                <a:latin typeface="Arial" panose="020B0604020202020204" pitchFamily="34" charset="0"/>
                <a:ea typeface="Times New Roman" panose="02020603050405020304" pitchFamily="18" charset="0"/>
              </a:rPr>
              <a:t>, a faster and simpler alternative to LSTM, maintains similar effectiveness with a small trade-off in precision. Meanwhile, </a:t>
            </a:r>
            <a:r>
              <a:rPr lang="en-US" b="1" dirty="0">
                <a:effectLst/>
                <a:latin typeface="Arial" panose="020B0604020202020204" pitchFamily="34" charset="0"/>
                <a:ea typeface="Times New Roman" panose="02020603050405020304" pitchFamily="18" charset="0"/>
              </a:rPr>
              <a:t>CNN</a:t>
            </a:r>
            <a:r>
              <a:rPr lang="en-US" dirty="0">
                <a:effectLst/>
                <a:latin typeface="Arial" panose="020B0604020202020204" pitchFamily="34" charset="0"/>
                <a:ea typeface="Times New Roman" panose="02020603050405020304" pitchFamily="18" charset="0"/>
              </a:rPr>
              <a:t> performs reasonably well, particularly on spectrogram-based inputs, though it lags slightly in handling the temporal nature of emotional speech. Overall, the table highlights that the optimized Simple RNN model is not only competitive but also an excellent choice for fast and accurate emotion classification.</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33522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154500" y="366625"/>
            <a:ext cx="45378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OBSERVATIONS:</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24</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3" name="TextBox 2">
            <a:extLst>
              <a:ext uri="{FF2B5EF4-FFF2-40B4-BE49-F238E27FC236}">
                <a16:creationId xmlns:a16="http://schemas.microsoft.com/office/drawing/2014/main" id="{B6B9B653-2702-5CE7-24AB-054074E3EB1C}"/>
              </a:ext>
            </a:extLst>
          </p:cNvPr>
          <p:cNvSpPr txBox="1"/>
          <p:nvPr/>
        </p:nvSpPr>
        <p:spPr>
          <a:xfrm>
            <a:off x="154500" y="918088"/>
            <a:ext cx="8989500" cy="3323987"/>
          </a:xfrm>
          <a:prstGeom prst="rect">
            <a:avLst/>
          </a:prstGeom>
          <a:noFill/>
        </p:spPr>
        <p:txBody>
          <a:bodyPr wrap="square" rtlCol="0">
            <a:spAutoFit/>
          </a:bodyPr>
          <a:lstStyle/>
          <a:p>
            <a:r>
              <a:rPr lang="en-US" b="1" dirty="0"/>
              <a:t>(1) High Accuracy for Distinct Emotions</a:t>
            </a:r>
            <a:br>
              <a:rPr lang="en-US" dirty="0"/>
            </a:br>
            <a:r>
              <a:rPr lang="en-US" dirty="0"/>
              <a:t>Emotions like </a:t>
            </a:r>
            <a:r>
              <a:rPr lang="en-US" b="1" dirty="0"/>
              <a:t>Angry</a:t>
            </a:r>
            <a:r>
              <a:rPr lang="en-US" dirty="0"/>
              <a:t>, </a:t>
            </a:r>
            <a:r>
              <a:rPr lang="en-US" b="1" dirty="0"/>
              <a:t>Happy</a:t>
            </a:r>
            <a:r>
              <a:rPr lang="en-US" dirty="0"/>
              <a:t>, and </a:t>
            </a:r>
            <a:r>
              <a:rPr lang="en-US" b="1" dirty="0"/>
              <a:t>Sad</a:t>
            </a:r>
            <a:r>
              <a:rPr lang="en-US" dirty="0"/>
              <a:t> achieved high precision and recall. This shows that the model effectively captures strong emotional cues from speech patterns and tone variations.</a:t>
            </a:r>
          </a:p>
          <a:p>
            <a:endParaRPr lang="en-US" dirty="0"/>
          </a:p>
          <a:p>
            <a:r>
              <a:rPr lang="en-US" b="1" dirty="0"/>
              <a:t>(2) Moderate Confusion in Neutral and Fear</a:t>
            </a:r>
            <a:br>
              <a:rPr lang="en-US" dirty="0"/>
            </a:br>
            <a:r>
              <a:rPr lang="en-US" dirty="0"/>
              <a:t>The model showed slightly lower performance in distinguishing </a:t>
            </a:r>
            <a:r>
              <a:rPr lang="en-US" b="1" dirty="0"/>
              <a:t>Neutral</a:t>
            </a:r>
            <a:r>
              <a:rPr lang="en-US" dirty="0"/>
              <a:t> and </a:t>
            </a:r>
            <a:r>
              <a:rPr lang="en-US" b="1" dirty="0"/>
              <a:t>Fear</a:t>
            </a:r>
            <a:r>
              <a:rPr lang="en-US" dirty="0"/>
              <a:t>, likely due to their subtle acoustic features and emotional overlap with other classes.</a:t>
            </a:r>
          </a:p>
          <a:p>
            <a:endParaRPr lang="en-US" dirty="0"/>
          </a:p>
          <a:p>
            <a:r>
              <a:rPr lang="en-US" b="1" dirty="0"/>
              <a:t>(3) CQT Spectrograms Boosted Performance</a:t>
            </a:r>
            <a:br>
              <a:rPr lang="en-US" dirty="0"/>
            </a:br>
            <a:r>
              <a:rPr lang="en-US" dirty="0"/>
              <a:t>Using </a:t>
            </a:r>
            <a:r>
              <a:rPr lang="en-US" b="1" dirty="0"/>
              <a:t>CQT</a:t>
            </a:r>
            <a:r>
              <a:rPr lang="en-US" dirty="0"/>
              <a:t> instead of traditional features like MFCCs led to better representation of pitch and tone, improving overall classification accuracy.</a:t>
            </a:r>
          </a:p>
          <a:p>
            <a:endParaRPr lang="en-US" dirty="0"/>
          </a:p>
          <a:p>
            <a:r>
              <a:rPr lang="en-US" b="1" dirty="0"/>
              <a:t>(4) Balanced Precision and Recall</a:t>
            </a:r>
            <a:br>
              <a:rPr lang="en-US" dirty="0"/>
            </a:br>
            <a:r>
              <a:rPr lang="en-US" dirty="0"/>
              <a:t>The model maintained a good balance across </a:t>
            </a:r>
            <a:r>
              <a:rPr lang="en-US" b="1" dirty="0"/>
              <a:t>precision, recall, and F1-score</a:t>
            </a:r>
            <a:r>
              <a:rPr lang="en-US" dirty="0"/>
              <a:t>, indicating consistent performance rather than favoring specific emotion classes.</a:t>
            </a:r>
          </a:p>
        </p:txBody>
      </p:sp>
    </p:spTree>
    <p:extLst>
      <p:ext uri="{BB962C8B-B14F-4D97-AF65-F5344CB8AC3E}">
        <p14:creationId xmlns:p14="http://schemas.microsoft.com/office/powerpoint/2010/main" val="484026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subTitle" idx="4294967295"/>
          </p:nvPr>
        </p:nvSpPr>
        <p:spPr>
          <a:xfrm>
            <a:off x="0" y="374262"/>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US" sz="2800" b="1" dirty="0">
                <a:latin typeface="Comfortaa"/>
                <a:ea typeface="Comfortaa"/>
                <a:cs typeface="Comfortaa"/>
                <a:sym typeface="Comfortaa"/>
              </a:rPr>
              <a:t>CONCLUSION:</a:t>
            </a:r>
          </a:p>
          <a:p>
            <a:pPr marL="0" lvl="0" indent="0" algn="l" rtl="0">
              <a:spcBef>
                <a:spcPts val="0"/>
              </a:spcBef>
              <a:spcAft>
                <a:spcPts val="1200"/>
              </a:spcAft>
              <a:buNone/>
            </a:pPr>
            <a:endParaRPr sz="2800" b="1" dirty="0">
              <a:latin typeface="Comfortaa"/>
              <a:ea typeface="Comfortaa"/>
              <a:cs typeface="Comfortaa"/>
              <a:sym typeface="Comfortaa"/>
            </a:endParaRPr>
          </a:p>
        </p:txBody>
      </p:sp>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25</a:t>
            </a:r>
          </a:p>
          <a:p>
            <a:pPr marL="0" lvl="0" indent="0" algn="l" rtl="0">
              <a:spcBef>
                <a:spcPts val="0"/>
              </a:spcBef>
              <a:spcAft>
                <a:spcPts val="1200"/>
              </a:spcAft>
              <a:buNone/>
            </a:pP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3" name="TextBox 2">
            <a:extLst>
              <a:ext uri="{FF2B5EF4-FFF2-40B4-BE49-F238E27FC236}">
                <a16:creationId xmlns:a16="http://schemas.microsoft.com/office/drawing/2014/main" id="{AA6CB7AE-7E56-B6CB-533C-F92A296B1A8C}"/>
              </a:ext>
            </a:extLst>
          </p:cNvPr>
          <p:cNvSpPr txBox="1"/>
          <p:nvPr/>
        </p:nvSpPr>
        <p:spPr>
          <a:xfrm>
            <a:off x="-45818" y="957739"/>
            <a:ext cx="8704626" cy="4170235"/>
          </a:xfrm>
          <a:prstGeom prst="rect">
            <a:avLst/>
          </a:prstGeom>
          <a:noFill/>
        </p:spPr>
        <p:txBody>
          <a:bodyPr wrap="square" rtlCol="0">
            <a:spAutoFit/>
          </a:bodyPr>
          <a:lstStyle/>
          <a:p>
            <a:r>
              <a:rPr lang="en-US" dirty="0"/>
              <a:t>The developed system successfully detects emotions from speech using CQT spectrograms and LSTM networks. It delivers accurate results across various emotions and performs well in real-world conditions. With its smooth implementation using Django, Jupyter, and Anaconda, the model shows strong potential for use in applications like mental health, virtual assistants, and emotion-aware systems.</a:t>
            </a:r>
          </a:p>
          <a:p>
            <a:endParaRPr lang="en-US" dirty="0"/>
          </a:p>
          <a:p>
            <a:r>
              <a:rPr lang="en-US" b="1" dirty="0"/>
              <a:t>Key Findings:</a:t>
            </a:r>
          </a:p>
          <a:p>
            <a:endParaRPr lang="en-US" b="1" dirty="0"/>
          </a:p>
          <a:p>
            <a:pPr marL="285750" indent="-285750">
              <a:buFont typeface="Arial" panose="020B0604020202020204" pitchFamily="34" charset="0"/>
              <a:buChar char="•"/>
            </a:pPr>
            <a:r>
              <a:rPr lang="en-US" b="1" dirty="0"/>
              <a:t>CQT spectrograms</a:t>
            </a:r>
            <a:r>
              <a:rPr lang="en-US" dirty="0"/>
              <a:t> provided rich frequency representation, improving emotion detection accuracy.</a:t>
            </a:r>
          </a:p>
          <a:p>
            <a:pPr marL="285750" indent="-285750">
              <a:buFont typeface="Arial" panose="020B0604020202020204" pitchFamily="34" charset="0"/>
              <a:buChar char="•"/>
            </a:pPr>
            <a:r>
              <a:rPr lang="en-US" b="1" dirty="0"/>
              <a:t>LSTM networks</a:t>
            </a:r>
            <a:r>
              <a:rPr lang="en-US" dirty="0"/>
              <a:t> effectively captured temporal emotional patterns in speech.</a:t>
            </a:r>
          </a:p>
          <a:p>
            <a:pPr marL="285750" indent="-285750">
              <a:buFont typeface="Arial" panose="020B0604020202020204" pitchFamily="34" charset="0"/>
              <a:buChar char="•"/>
            </a:pPr>
            <a:r>
              <a:rPr lang="en-US" b="1" dirty="0"/>
              <a:t>Data augmentation</a:t>
            </a:r>
            <a:r>
              <a:rPr lang="en-US" dirty="0"/>
              <a:t> enhanced model robustness and reduced overfitting.</a:t>
            </a:r>
          </a:p>
          <a:p>
            <a:pPr marL="285750" indent="-285750">
              <a:buFont typeface="Arial" panose="020B0604020202020204" pitchFamily="34" charset="0"/>
              <a:buChar char="•"/>
            </a:pPr>
            <a:r>
              <a:rPr lang="en-US" dirty="0"/>
              <a:t>The system achieved an overall </a:t>
            </a:r>
            <a:r>
              <a:rPr lang="en-US" b="1" dirty="0"/>
              <a:t>accuracy of 87%</a:t>
            </a:r>
            <a:r>
              <a:rPr lang="en-US" dirty="0"/>
              <a:t> across multiple emotion classes.</a:t>
            </a:r>
          </a:p>
          <a:p>
            <a:pPr marL="285750" indent="-285750">
              <a:buFont typeface="Arial" panose="020B0604020202020204" pitchFamily="34" charset="0"/>
              <a:buChar char="•"/>
            </a:pPr>
            <a:r>
              <a:rPr lang="en-US" b="1" dirty="0"/>
              <a:t>Integration with Django and Jupyter</a:t>
            </a:r>
            <a:r>
              <a:rPr lang="en-US" dirty="0"/>
              <a:t> enabled a smooth, real-time and user-friendly interface.</a:t>
            </a:r>
          </a:p>
          <a:p>
            <a:pPr marL="285750" indent="-285750">
              <a:buFont typeface="Arial" panose="020B0604020202020204" pitchFamily="34" charset="0"/>
              <a:buChar char="•"/>
            </a:pPr>
            <a:r>
              <a:rPr lang="en-US" dirty="0"/>
              <a:t>The model generalized well across different speakers and speech variations.</a:t>
            </a:r>
          </a:p>
          <a:p>
            <a:pPr marL="285750" indent="-285750">
              <a:buFont typeface="Arial" panose="020B0604020202020204" pitchFamily="34" charset="0"/>
              <a:buChar char="•"/>
            </a:pPr>
            <a:endParaRPr lang="en-US" dirty="0"/>
          </a:p>
          <a:p>
            <a:pPr marL="457200" lvl="1"/>
            <a:endParaRPr lang="en-US" dirty="0"/>
          </a:p>
          <a:p>
            <a:pPr marL="457200"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3282288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10" name="Google Shape;110;p18"/>
          <p:cNvSpPr txBox="1">
            <a:spLocks noGrp="1"/>
          </p:cNvSpPr>
          <p:nvPr>
            <p:ph type="subTitle" idx="4294967295"/>
          </p:nvPr>
        </p:nvSpPr>
        <p:spPr>
          <a:xfrm>
            <a:off x="2830025" y="4713000"/>
            <a:ext cx="3327000" cy="4305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sp>
        <p:nvSpPr>
          <p:cNvPr id="111" name="Google Shape;111;p18"/>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12" name="Google Shape;112;p18"/>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26</a:t>
            </a:r>
            <a:endParaRPr sz="1100" b="1" dirty="0">
              <a:latin typeface="Comfortaa"/>
              <a:ea typeface="Comfortaa"/>
              <a:cs typeface="Comfortaa"/>
              <a:sym typeface="Comfortaa"/>
            </a:endParaRPr>
          </a:p>
        </p:txBody>
      </p:sp>
      <p:pic>
        <p:nvPicPr>
          <p:cNvPr id="2" name="Google Shape;58;p13">
            <a:extLst>
              <a:ext uri="{FF2B5EF4-FFF2-40B4-BE49-F238E27FC236}">
                <a16:creationId xmlns:a16="http://schemas.microsoft.com/office/drawing/2014/main" id="{4FEB47CB-A8CF-698D-1F90-F59225AF62E3}"/>
              </a:ext>
            </a:extLst>
          </p:cNvPr>
          <p:cNvPicPr preferRelativeResize="0"/>
          <p:nvPr/>
        </p:nvPicPr>
        <p:blipFill>
          <a:blip r:embed="rId3">
            <a:alphaModFix/>
          </a:blip>
          <a:stretch>
            <a:fillRect/>
          </a:stretch>
        </p:blipFill>
        <p:spPr>
          <a:xfrm>
            <a:off x="7070925" y="15526"/>
            <a:ext cx="2073075" cy="535925"/>
          </a:xfrm>
          <a:prstGeom prst="rect">
            <a:avLst/>
          </a:prstGeom>
          <a:noFill/>
          <a:ln>
            <a:noFill/>
          </a:ln>
        </p:spPr>
      </p:pic>
      <p:sp>
        <p:nvSpPr>
          <p:cNvPr id="4" name="TextBox 3">
            <a:extLst>
              <a:ext uri="{FF2B5EF4-FFF2-40B4-BE49-F238E27FC236}">
                <a16:creationId xmlns:a16="http://schemas.microsoft.com/office/drawing/2014/main" id="{ED72D565-FF0F-A2DF-4A9A-692B0AEE892C}"/>
              </a:ext>
            </a:extLst>
          </p:cNvPr>
          <p:cNvSpPr txBox="1"/>
          <p:nvPr/>
        </p:nvSpPr>
        <p:spPr>
          <a:xfrm>
            <a:off x="0" y="465364"/>
            <a:ext cx="9143999" cy="3539430"/>
          </a:xfrm>
          <a:prstGeom prst="rect">
            <a:avLst/>
          </a:prstGeom>
          <a:noFill/>
        </p:spPr>
        <p:txBody>
          <a:bodyPr wrap="square" rtlCol="0">
            <a:spAutoFit/>
          </a:bodyPr>
          <a:lstStyle/>
          <a:p>
            <a:endParaRPr lang="en-US" dirty="0"/>
          </a:p>
          <a:p>
            <a:endParaRPr lang="en-US" sz="1600" b="1" dirty="0"/>
          </a:p>
          <a:p>
            <a:r>
              <a:rPr lang="en-US" sz="1800" b="1" dirty="0"/>
              <a:t>Future Improvements:</a:t>
            </a:r>
          </a:p>
          <a:p>
            <a:endParaRPr lang="en-US" b="1" dirty="0"/>
          </a:p>
          <a:p>
            <a:r>
              <a:rPr lang="en-US" dirty="0"/>
              <a:t>The system can be improved by adding multilingual support, enhancing subtle emotion detection, and training on more diverse datasets. Real-time emotion tracking and integration with devices like smart assistants or wearables can expand its real-world use. Optimizing the model for lightweight deployment would also help in running it efficiently on low-resource platforms.</a:t>
            </a:r>
          </a:p>
          <a:p>
            <a:pPr>
              <a:buFont typeface="Arial" panose="020B0604020202020204" pitchFamily="34" charset="0"/>
              <a:buChar char="•"/>
            </a:pPr>
            <a:endParaRPr lang="en-US" dirty="0"/>
          </a:p>
          <a:p>
            <a:r>
              <a:rPr lang="en-US" sz="1800" b="1" dirty="0"/>
              <a:t>Final Thoughts:</a:t>
            </a:r>
          </a:p>
          <a:p>
            <a:endParaRPr lang="en-US" sz="1800" b="1" dirty="0"/>
          </a:p>
          <a:p>
            <a:r>
              <a:rPr lang="en-US" dirty="0"/>
              <a:t>This project effectively combines deep learning and audio processing to detect emotions from speech. With a smooth interface and good performance, it offers a solid base for emotion-aware systems. Further development can make it even more useful for applications like mental health tools, virtual assistants, and smart communication.</a:t>
            </a:r>
          </a:p>
        </p:txBody>
      </p:sp>
    </p:spTree>
    <p:extLst>
      <p:ext uri="{BB962C8B-B14F-4D97-AF65-F5344CB8AC3E}">
        <p14:creationId xmlns:p14="http://schemas.microsoft.com/office/powerpoint/2010/main" val="3264268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subTitle" idx="4294967295"/>
          </p:nvPr>
        </p:nvSpPr>
        <p:spPr>
          <a:xfrm>
            <a:off x="185800" y="350650"/>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sz="2800" b="1">
                <a:latin typeface="Comfortaa"/>
                <a:ea typeface="Comfortaa"/>
                <a:cs typeface="Comfortaa"/>
                <a:sym typeface="Comfortaa"/>
              </a:rPr>
              <a:t>REFERENCE WORK</a:t>
            </a:r>
            <a:endParaRPr sz="2800" b="1">
              <a:latin typeface="Comfortaa"/>
              <a:ea typeface="Comfortaa"/>
              <a:cs typeface="Comfortaa"/>
              <a:sym typeface="Comfortaa"/>
            </a:endParaRPr>
          </a:p>
        </p:txBody>
      </p:sp>
      <p:sp>
        <p:nvSpPr>
          <p:cNvPr id="118" name="Google Shape;118;p19"/>
          <p:cNvSpPr txBox="1">
            <a:spLocks noGrp="1"/>
          </p:cNvSpPr>
          <p:nvPr>
            <p:ph type="subTitle" idx="4294967295"/>
          </p:nvPr>
        </p:nvSpPr>
        <p:spPr>
          <a:xfrm>
            <a:off x="185800" y="886450"/>
            <a:ext cx="8879525" cy="4024509"/>
          </a:xfrm>
          <a:prstGeom prst="rect">
            <a:avLst/>
          </a:prstGeom>
        </p:spPr>
        <p:txBody>
          <a:bodyPr spcFirstLastPara="1" wrap="square" lIns="91425" tIns="91425" rIns="91425" bIns="91425" anchor="t" anchorCtr="0">
            <a:normAutofit fontScale="92500"/>
          </a:bodyPr>
          <a:lstStyle/>
          <a:p>
            <a:pPr marL="0" marR="516255" indent="0" algn="just">
              <a:lnSpc>
                <a:spcPct val="150000"/>
              </a:lnSpc>
              <a:spcBef>
                <a:spcPts val="465"/>
              </a:spcBef>
              <a:spcAft>
                <a:spcPts val="0"/>
              </a:spcAft>
              <a:buNone/>
            </a:pPr>
            <a:r>
              <a:rPr lang="en-US" sz="1500" b="1" kern="0" dirty="0">
                <a:effectLst/>
                <a:latin typeface="Arial" panose="020B0604020202020204" pitchFamily="34" charset="0"/>
                <a:ea typeface="Arial" panose="020B0604020202020204" pitchFamily="34" charset="0"/>
              </a:rPr>
              <a:t>[1].</a:t>
            </a:r>
            <a:r>
              <a:rPr lang="en-US" sz="1500" b="0" kern="0" dirty="0">
                <a:effectLst/>
                <a:latin typeface="Arial" panose="020B0604020202020204" pitchFamily="34" charset="0"/>
                <a:ea typeface="Arial" panose="020B0604020202020204" pitchFamily="34" charset="0"/>
              </a:rPr>
              <a:t> </a:t>
            </a:r>
            <a:r>
              <a:rPr lang="en-US" sz="1500" b="0" kern="0" dirty="0" err="1">
                <a:solidFill>
                  <a:schemeClr val="tx1">
                    <a:lumMod val="95000"/>
                    <a:lumOff val="5000"/>
                  </a:schemeClr>
                </a:solidFill>
                <a:effectLst/>
                <a:latin typeface="Arial" panose="020B0604020202020204" pitchFamily="34" charset="0"/>
                <a:ea typeface="Arial" panose="020B0604020202020204" pitchFamily="34" charset="0"/>
              </a:rPr>
              <a:t>Kah</a:t>
            </a:r>
            <a:r>
              <a:rPr lang="en-US" sz="1500" b="0" kern="0" dirty="0">
                <a:solidFill>
                  <a:schemeClr val="tx1">
                    <a:lumMod val="95000"/>
                    <a:lumOff val="5000"/>
                  </a:schemeClr>
                </a:solidFill>
                <a:effectLst/>
                <a:latin typeface="Arial" panose="020B0604020202020204" pitchFamily="34" charset="0"/>
                <a:ea typeface="Arial" panose="020B0604020202020204" pitchFamily="34" charset="0"/>
              </a:rPr>
              <a:t> liang </a:t>
            </a:r>
            <a:r>
              <a:rPr lang="en-US" sz="1500" b="0" kern="0" dirty="0" err="1">
                <a:solidFill>
                  <a:schemeClr val="tx1">
                    <a:lumMod val="95000"/>
                    <a:lumOff val="5000"/>
                  </a:schemeClr>
                </a:solidFill>
                <a:effectLst/>
                <a:latin typeface="Arial" panose="020B0604020202020204" pitchFamily="34" charset="0"/>
                <a:ea typeface="Arial" panose="020B0604020202020204" pitchFamily="34" charset="0"/>
              </a:rPr>
              <a:t>aoang</a:t>
            </a:r>
            <a:r>
              <a:rPr lang="en-US" sz="1500" b="0" kern="0" dirty="0">
                <a:solidFill>
                  <a:schemeClr val="tx1">
                    <a:lumMod val="95000"/>
                    <a:lumOff val="5000"/>
                  </a:schemeClr>
                </a:solidFill>
                <a:effectLst/>
                <a:latin typeface="Arial" panose="020B0604020202020204" pitchFamily="34" charset="0"/>
                <a:ea typeface="Arial" panose="020B0604020202020204" pitchFamily="34" charset="0"/>
              </a:rPr>
              <a:t>, Chin Poo Lee , Heng </a:t>
            </a:r>
            <a:r>
              <a:rPr lang="en-US" sz="1500" b="0" kern="0" dirty="0" err="1">
                <a:solidFill>
                  <a:schemeClr val="tx1">
                    <a:lumMod val="95000"/>
                    <a:lumOff val="5000"/>
                  </a:schemeClr>
                </a:solidFill>
                <a:effectLst/>
                <a:latin typeface="Arial" panose="020B0604020202020204" pitchFamily="34" charset="0"/>
                <a:ea typeface="Arial" panose="020B0604020202020204" pitchFamily="34" charset="0"/>
              </a:rPr>
              <a:t>Siong</a:t>
            </a:r>
            <a:r>
              <a:rPr lang="en-US" sz="1500" b="0" kern="0" dirty="0">
                <a:solidFill>
                  <a:schemeClr val="tx1">
                    <a:lumMod val="95000"/>
                    <a:lumOff val="5000"/>
                  </a:schemeClr>
                </a:solidFill>
                <a:effectLst/>
                <a:latin typeface="Arial" panose="020B0604020202020204" pitchFamily="34" charset="0"/>
                <a:ea typeface="Arial" panose="020B0604020202020204" pitchFamily="34" charset="0"/>
              </a:rPr>
              <a:t> Lim 2 ,Kian Ming Lim, </a:t>
            </a:r>
            <a:r>
              <a:rPr lang="en-US" sz="1500" b="0" kern="0" dirty="0" err="1">
                <a:solidFill>
                  <a:schemeClr val="tx1">
                    <a:lumMod val="95000"/>
                    <a:lumOff val="5000"/>
                  </a:schemeClr>
                </a:solidFill>
                <a:effectLst/>
                <a:latin typeface="Arial" panose="020B0604020202020204" pitchFamily="34" charset="0"/>
                <a:ea typeface="Arial" panose="020B0604020202020204" pitchFamily="34" charset="0"/>
              </a:rPr>
              <a:t>Takeki</a:t>
            </a:r>
            <a:r>
              <a:rPr lang="en-US" sz="1500" b="0" kern="0" dirty="0">
                <a:solidFill>
                  <a:schemeClr val="tx1">
                    <a:lumMod val="95000"/>
                    <a:lumOff val="5000"/>
                  </a:schemeClr>
                </a:solidFill>
                <a:effectLst/>
                <a:latin typeface="Arial" panose="020B0604020202020204" pitchFamily="34" charset="0"/>
                <a:ea typeface="Arial" panose="020B0604020202020204" pitchFamily="34" charset="0"/>
              </a:rPr>
              <a:t> </a:t>
            </a:r>
            <a:r>
              <a:rPr lang="en-US" sz="1500" b="0" kern="0" dirty="0" err="1">
                <a:solidFill>
                  <a:schemeClr val="tx1">
                    <a:lumMod val="95000"/>
                    <a:lumOff val="5000"/>
                  </a:schemeClr>
                </a:solidFill>
                <a:effectLst/>
                <a:latin typeface="Arial" panose="020B0604020202020204" pitchFamily="34" charset="0"/>
                <a:ea typeface="Arial" panose="020B0604020202020204" pitchFamily="34" charset="0"/>
              </a:rPr>
              <a:t>Mukaida</a:t>
            </a:r>
            <a:r>
              <a:rPr lang="en-US" sz="1500" b="0" kern="0" dirty="0">
                <a:solidFill>
                  <a:schemeClr val="tx1">
                    <a:lumMod val="95000"/>
                    <a:lumOff val="5000"/>
                  </a:schemeClr>
                </a:solidFill>
                <a:effectLst/>
                <a:latin typeface="Arial" panose="020B0604020202020204" pitchFamily="34" charset="0"/>
                <a:ea typeface="Arial" panose="020B0604020202020204" pitchFamily="34" charset="0"/>
              </a:rPr>
              <a:t>:  SCQT-</a:t>
            </a:r>
            <a:r>
              <a:rPr lang="en-US" sz="1500" b="0" kern="0" dirty="0" err="1">
                <a:solidFill>
                  <a:schemeClr val="tx1">
                    <a:lumMod val="95000"/>
                    <a:lumOff val="5000"/>
                  </a:schemeClr>
                </a:solidFill>
                <a:effectLst/>
                <a:latin typeface="Arial" panose="020B0604020202020204" pitchFamily="34" charset="0"/>
                <a:ea typeface="Arial" panose="020B0604020202020204" pitchFamily="34" charset="0"/>
              </a:rPr>
              <a:t>MaxViT</a:t>
            </a:r>
            <a:r>
              <a:rPr lang="en-US" sz="1500" b="0" kern="0" dirty="0">
                <a:solidFill>
                  <a:schemeClr val="tx1">
                    <a:lumMod val="95000"/>
                    <a:lumOff val="5000"/>
                  </a:schemeClr>
                </a:solidFill>
                <a:effectLst/>
                <a:latin typeface="Arial" panose="020B0604020202020204" pitchFamily="34" charset="0"/>
                <a:ea typeface="Arial" panose="020B0604020202020204" pitchFamily="34" charset="0"/>
              </a:rPr>
              <a:t>: Speech Emotion Recognition With Constant-Q Transform and Multi-Axis Vision Transformer, 2023</a:t>
            </a:r>
          </a:p>
          <a:p>
            <a:pPr marL="0" marR="0" indent="0" algn="just">
              <a:lnSpc>
                <a:spcPct val="150000"/>
              </a:lnSpc>
              <a:spcBef>
                <a:spcPts val="0"/>
              </a:spcBef>
              <a:spcAft>
                <a:spcPts val="0"/>
              </a:spcAft>
              <a:buNone/>
            </a:pPr>
            <a:endParaRPr lang="en-US" sz="1500" dirty="0">
              <a:solidFill>
                <a:srgbClr val="000000"/>
              </a:solidFill>
              <a:effectLst/>
              <a:latin typeface="Arial" panose="020B0604020202020204" pitchFamily="34" charset="0"/>
              <a:ea typeface="Times New Roman" panose="02020603050405020304" pitchFamily="18" charset="0"/>
            </a:endParaRPr>
          </a:p>
          <a:p>
            <a:pPr marL="0" marR="0" indent="0" algn="just">
              <a:lnSpc>
                <a:spcPct val="150000"/>
              </a:lnSpc>
              <a:spcBef>
                <a:spcPts val="0"/>
              </a:spcBef>
              <a:spcAft>
                <a:spcPts val="0"/>
              </a:spcAft>
              <a:buNone/>
            </a:pPr>
            <a:r>
              <a:rPr lang="en-US" sz="1500" dirty="0">
                <a:solidFill>
                  <a:srgbClr val="000000"/>
                </a:solidFill>
                <a:effectLst/>
                <a:latin typeface="Arial" panose="020B0604020202020204" pitchFamily="34" charset="0"/>
                <a:ea typeface="Times New Roman" panose="02020603050405020304" pitchFamily="18" charset="0"/>
              </a:rPr>
              <a:t>[2]  </a:t>
            </a:r>
            <a:r>
              <a:rPr lang="en-US" sz="1500" dirty="0" err="1">
                <a:solidFill>
                  <a:srgbClr val="000000"/>
                </a:solidFill>
                <a:effectLst/>
                <a:latin typeface="Arial" panose="020B0604020202020204" pitchFamily="34" charset="0"/>
                <a:ea typeface="Times New Roman" panose="02020603050405020304" pitchFamily="18" charset="0"/>
              </a:rPr>
              <a:t>Xiaoyu</a:t>
            </a:r>
            <a:r>
              <a:rPr lang="en-US" sz="1500" dirty="0">
                <a:solidFill>
                  <a:srgbClr val="000000"/>
                </a:solidFill>
                <a:effectLst/>
                <a:latin typeface="Arial" panose="020B0604020202020204" pitchFamily="34" charset="0"/>
                <a:ea typeface="Times New Roman" panose="02020603050405020304" pitchFamily="18" charset="0"/>
              </a:rPr>
              <a:t> Tang, </a:t>
            </a:r>
            <a:r>
              <a:rPr lang="en-US" sz="1500" dirty="0" err="1">
                <a:solidFill>
                  <a:srgbClr val="000000"/>
                </a:solidFill>
                <a:effectLst/>
                <a:latin typeface="Arial" panose="020B0604020202020204" pitchFamily="34" charset="0"/>
                <a:ea typeface="Times New Roman" panose="02020603050405020304" pitchFamily="18" charset="0"/>
              </a:rPr>
              <a:t>Yixin</a:t>
            </a:r>
            <a:r>
              <a:rPr lang="en-US" sz="1500" dirty="0">
                <a:solidFill>
                  <a:srgbClr val="000000"/>
                </a:solidFill>
                <a:effectLst/>
                <a:latin typeface="Arial" panose="020B0604020202020204" pitchFamily="34" charset="0"/>
                <a:ea typeface="Times New Roman" panose="02020603050405020304" pitchFamily="18" charset="0"/>
              </a:rPr>
              <a:t> Lin, Ting Dang, </a:t>
            </a:r>
            <a:r>
              <a:rPr lang="en-US" sz="1500" dirty="0" err="1">
                <a:solidFill>
                  <a:srgbClr val="000000"/>
                </a:solidFill>
                <a:effectLst/>
                <a:latin typeface="Arial" panose="020B0604020202020204" pitchFamily="34" charset="0"/>
                <a:ea typeface="Times New Roman" panose="02020603050405020304" pitchFamily="18" charset="0"/>
              </a:rPr>
              <a:t>Yuanfang</a:t>
            </a:r>
            <a:r>
              <a:rPr lang="en-US" sz="1500" dirty="0">
                <a:solidFill>
                  <a:srgbClr val="000000"/>
                </a:solidFill>
                <a:effectLst/>
                <a:latin typeface="Arial" panose="020B0604020202020204" pitchFamily="34" charset="0"/>
                <a:ea typeface="Times New Roman" panose="02020603050405020304" pitchFamily="18" charset="0"/>
              </a:rPr>
              <a:t> Zhang, Jintao Cheng: Speech Emotion Recognition Via CNN-Transformer and Multidimensional Attention Mechanism, 2024</a:t>
            </a:r>
          </a:p>
          <a:p>
            <a:pPr marL="0" marR="0" indent="0" algn="just">
              <a:lnSpc>
                <a:spcPct val="150000"/>
              </a:lnSpc>
              <a:spcBef>
                <a:spcPts val="0"/>
              </a:spcBef>
              <a:spcAft>
                <a:spcPts val="0"/>
              </a:spcAft>
              <a:buNone/>
            </a:pPr>
            <a:r>
              <a:rPr lang="en-US" sz="1500" dirty="0">
                <a:solidFill>
                  <a:srgbClr val="000000"/>
                </a:solidFill>
                <a:effectLst/>
                <a:latin typeface="Arial" panose="020B0604020202020204" pitchFamily="34" charset="0"/>
                <a:ea typeface="Times New Roman" panose="02020603050405020304" pitchFamily="18" charset="0"/>
              </a:rPr>
              <a:t> </a:t>
            </a:r>
          </a:p>
          <a:p>
            <a:pPr marL="0" marR="0" indent="0" algn="just">
              <a:lnSpc>
                <a:spcPct val="150000"/>
              </a:lnSpc>
              <a:spcBef>
                <a:spcPts val="0"/>
              </a:spcBef>
              <a:spcAft>
                <a:spcPts val="0"/>
              </a:spcAft>
              <a:buNone/>
            </a:pPr>
            <a:r>
              <a:rPr lang="en-US" sz="1500" dirty="0">
                <a:solidFill>
                  <a:srgbClr val="000000"/>
                </a:solidFill>
                <a:effectLst/>
                <a:latin typeface="Arial" panose="020B0604020202020204" pitchFamily="34" charset="0"/>
                <a:ea typeface="Times New Roman" panose="02020603050405020304" pitchFamily="18" charset="0"/>
              </a:rPr>
              <a:t>[3]  </a:t>
            </a:r>
            <a:r>
              <a:rPr lang="en-US" sz="1500" dirty="0" err="1">
                <a:solidFill>
                  <a:srgbClr val="000000"/>
                </a:solidFill>
                <a:effectLst/>
                <a:latin typeface="Arial" panose="020B0604020202020204" pitchFamily="34" charset="0"/>
                <a:ea typeface="Times New Roman" panose="02020603050405020304" pitchFamily="18" charset="0"/>
              </a:rPr>
              <a:t>Jagjeet</a:t>
            </a:r>
            <a:r>
              <a:rPr lang="en-US" sz="1500" dirty="0">
                <a:solidFill>
                  <a:srgbClr val="000000"/>
                </a:solidFill>
                <a:effectLst/>
                <a:latin typeface="Arial" panose="020B0604020202020204" pitchFamily="34" charset="0"/>
                <a:ea typeface="Times New Roman" panose="02020603050405020304" pitchFamily="18" charset="0"/>
              </a:rPr>
              <a:t> Singh, Lakshmi </a:t>
            </a:r>
            <a:r>
              <a:rPr lang="en-US" sz="1500" dirty="0" err="1">
                <a:solidFill>
                  <a:srgbClr val="000000"/>
                </a:solidFill>
                <a:effectLst/>
                <a:latin typeface="Arial" panose="020B0604020202020204" pitchFamily="34" charset="0"/>
                <a:ea typeface="Times New Roman" panose="02020603050405020304" pitchFamily="18" charset="0"/>
              </a:rPr>
              <a:t>Saheer</a:t>
            </a:r>
            <a:r>
              <a:rPr lang="en-US" sz="1500" dirty="0">
                <a:solidFill>
                  <a:srgbClr val="000000"/>
                </a:solidFill>
                <a:effectLst/>
                <a:latin typeface="Arial" panose="020B0604020202020204" pitchFamily="34" charset="0"/>
                <a:ea typeface="Times New Roman" panose="02020603050405020304" pitchFamily="18" charset="0"/>
              </a:rPr>
              <a:t>, Oliver Faust : Speech Emotion Recognition Using Attention Model, 2023.</a:t>
            </a:r>
          </a:p>
          <a:p>
            <a:pPr marL="0" marR="0" indent="0" algn="just">
              <a:lnSpc>
                <a:spcPct val="150000"/>
              </a:lnSpc>
              <a:spcBef>
                <a:spcPts val="0"/>
              </a:spcBef>
              <a:spcAft>
                <a:spcPts val="0"/>
              </a:spcAft>
              <a:buNone/>
            </a:pPr>
            <a:r>
              <a:rPr lang="en-US" sz="1500" dirty="0">
                <a:solidFill>
                  <a:srgbClr val="000000"/>
                </a:solidFill>
                <a:effectLst/>
                <a:latin typeface="Arial" panose="020B0604020202020204" pitchFamily="34" charset="0"/>
                <a:ea typeface="Times New Roman" panose="02020603050405020304" pitchFamily="18" charset="0"/>
              </a:rPr>
              <a:t> </a:t>
            </a:r>
          </a:p>
          <a:p>
            <a:pPr marL="0" marR="0" indent="0" algn="just">
              <a:lnSpc>
                <a:spcPct val="150000"/>
              </a:lnSpc>
              <a:spcBef>
                <a:spcPts val="0"/>
              </a:spcBef>
              <a:spcAft>
                <a:spcPts val="0"/>
              </a:spcAft>
              <a:buNone/>
            </a:pPr>
            <a:r>
              <a:rPr lang="en-US" sz="1500" dirty="0">
                <a:solidFill>
                  <a:srgbClr val="000000"/>
                </a:solidFill>
                <a:effectLst/>
                <a:latin typeface="Arial" panose="020B0604020202020204" pitchFamily="34" charset="0"/>
                <a:ea typeface="Times New Roman" panose="02020603050405020304" pitchFamily="18" charset="0"/>
              </a:rPr>
              <a:t>[4]  </a:t>
            </a:r>
            <a:r>
              <a:rPr lang="en-US" sz="1500" dirty="0" err="1">
                <a:solidFill>
                  <a:srgbClr val="000000"/>
                </a:solidFill>
                <a:effectLst/>
                <a:latin typeface="Arial" panose="020B0604020202020204" pitchFamily="34" charset="0"/>
                <a:ea typeface="Times New Roman" panose="02020603050405020304" pitchFamily="18" charset="0"/>
              </a:rPr>
              <a:t>Zhipeng</a:t>
            </a:r>
            <a:r>
              <a:rPr lang="en-US" sz="1500" dirty="0">
                <a:solidFill>
                  <a:srgbClr val="000000"/>
                </a:solidFill>
                <a:effectLst/>
                <a:latin typeface="Arial" panose="020B0604020202020204" pitchFamily="34" charset="0"/>
                <a:ea typeface="Times New Roman" panose="02020603050405020304" pitchFamily="18" charset="0"/>
              </a:rPr>
              <a:t> Li, </a:t>
            </a:r>
            <a:r>
              <a:rPr lang="en-US" sz="1500" dirty="0" err="1">
                <a:solidFill>
                  <a:srgbClr val="000000"/>
                </a:solidFill>
                <a:effectLst/>
                <a:latin typeface="Arial" panose="020B0604020202020204" pitchFamily="34" charset="0"/>
                <a:ea typeface="Times New Roman" panose="02020603050405020304" pitchFamily="18" charset="0"/>
              </a:rPr>
              <a:t>Xiaofen</a:t>
            </a:r>
            <a:r>
              <a:rPr lang="en-US" sz="1500" dirty="0">
                <a:solidFill>
                  <a:srgbClr val="000000"/>
                </a:solidFill>
                <a:effectLst/>
                <a:latin typeface="Arial" panose="020B0604020202020204" pitchFamily="34" charset="0"/>
                <a:ea typeface="Times New Roman" panose="02020603050405020304" pitchFamily="18" charset="0"/>
              </a:rPr>
              <a:t> Xing, </a:t>
            </a:r>
            <a:r>
              <a:rPr lang="en-US" sz="1500" dirty="0" err="1">
                <a:solidFill>
                  <a:srgbClr val="000000"/>
                </a:solidFill>
                <a:effectLst/>
                <a:latin typeface="Arial" panose="020B0604020202020204" pitchFamily="34" charset="0"/>
                <a:ea typeface="Times New Roman" panose="02020603050405020304" pitchFamily="18" charset="0"/>
              </a:rPr>
              <a:t>Yuanbo</a:t>
            </a:r>
            <a:r>
              <a:rPr lang="en-US" sz="1500" dirty="0">
                <a:solidFill>
                  <a:srgbClr val="000000"/>
                </a:solidFill>
                <a:effectLst/>
                <a:latin typeface="Arial" panose="020B0604020202020204" pitchFamily="34" charset="0"/>
                <a:ea typeface="Times New Roman" panose="02020603050405020304" pitchFamily="18" charset="0"/>
              </a:rPr>
              <a:t> Fang, </a:t>
            </a:r>
            <a:r>
              <a:rPr lang="en-US" sz="1500" dirty="0" err="1">
                <a:solidFill>
                  <a:srgbClr val="000000"/>
                </a:solidFill>
                <a:effectLst/>
                <a:latin typeface="Arial" panose="020B0604020202020204" pitchFamily="34" charset="0"/>
                <a:ea typeface="Times New Roman" panose="02020603050405020304" pitchFamily="18" charset="0"/>
              </a:rPr>
              <a:t>Weibin</a:t>
            </a:r>
            <a:r>
              <a:rPr lang="en-US" sz="1500" dirty="0">
                <a:solidFill>
                  <a:srgbClr val="000000"/>
                </a:solidFill>
                <a:effectLst/>
                <a:latin typeface="Arial" panose="020B0604020202020204" pitchFamily="34" charset="0"/>
                <a:ea typeface="Times New Roman" panose="02020603050405020304" pitchFamily="18" charset="0"/>
              </a:rPr>
              <a:t> Zhang, </a:t>
            </a:r>
            <a:r>
              <a:rPr lang="en-US" sz="1500" dirty="0" err="1">
                <a:solidFill>
                  <a:srgbClr val="000000"/>
                </a:solidFill>
                <a:effectLst/>
                <a:latin typeface="Arial" panose="020B0604020202020204" pitchFamily="34" charset="0"/>
                <a:ea typeface="Times New Roman" panose="02020603050405020304" pitchFamily="18" charset="0"/>
              </a:rPr>
              <a:t>Hengsheng</a:t>
            </a:r>
            <a:r>
              <a:rPr lang="en-US" sz="1500" dirty="0">
                <a:solidFill>
                  <a:srgbClr val="000000"/>
                </a:solidFill>
                <a:effectLst/>
                <a:latin typeface="Arial" panose="020B0604020202020204" pitchFamily="34" charset="0"/>
                <a:ea typeface="Times New Roman" panose="02020603050405020304" pitchFamily="18" charset="0"/>
              </a:rPr>
              <a:t> Fan, </a:t>
            </a:r>
            <a:r>
              <a:rPr lang="en-US" sz="1500" dirty="0" err="1">
                <a:solidFill>
                  <a:srgbClr val="000000"/>
                </a:solidFill>
                <a:effectLst/>
                <a:latin typeface="Arial" panose="020B0604020202020204" pitchFamily="34" charset="0"/>
                <a:ea typeface="Times New Roman" panose="02020603050405020304" pitchFamily="18" charset="0"/>
              </a:rPr>
              <a:t>Xiangmin</a:t>
            </a:r>
            <a:r>
              <a:rPr lang="en-US" sz="1500" dirty="0">
                <a:solidFill>
                  <a:srgbClr val="000000"/>
                </a:solidFill>
                <a:effectLst/>
                <a:latin typeface="Arial" panose="020B0604020202020204" pitchFamily="34" charset="0"/>
                <a:ea typeface="Times New Roman" panose="02020603050405020304" pitchFamily="18" charset="0"/>
              </a:rPr>
              <a:t> Xu : Multi-Scale Temporal Transformer For Speech Emotion Recognition, 2024.</a:t>
            </a:r>
          </a:p>
          <a:p>
            <a:pPr marL="114300" indent="0">
              <a:buNone/>
            </a:pPr>
            <a:endParaRPr lang="en-US" sz="1400" dirty="0">
              <a:solidFill>
                <a:srgbClr val="000000"/>
              </a:solidFill>
              <a:effectLst/>
              <a:latin typeface="Arial" panose="020B0604020202020204" pitchFamily="34" charset="0"/>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lvl="0" indent="0" algn="l" rtl="0">
              <a:spcBef>
                <a:spcPts val="0"/>
              </a:spcBef>
              <a:spcAft>
                <a:spcPts val="1200"/>
              </a:spcAft>
              <a:buNone/>
            </a:pPr>
            <a:endParaRPr sz="1200" b="1" dirty="0">
              <a:latin typeface="Comfortaa"/>
              <a:ea typeface="Comfortaa"/>
              <a:cs typeface="Comfortaa"/>
              <a:sym typeface="Comfortaa"/>
            </a:endParaRPr>
          </a:p>
        </p:txBody>
      </p:sp>
      <p:sp>
        <p:nvSpPr>
          <p:cNvPr id="125" name="Google Shape;125;p19"/>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26" name="Google Shape;126;p19"/>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27</a:t>
            </a:r>
            <a:endParaRPr sz="1100" b="1" dirty="0">
              <a:latin typeface="Comfortaa"/>
              <a:ea typeface="Comfortaa"/>
              <a:cs typeface="Comfortaa"/>
              <a:sym typeface="Comfortaa"/>
            </a:endParaRPr>
          </a:p>
        </p:txBody>
      </p:sp>
      <p:sp>
        <p:nvSpPr>
          <p:cNvPr id="4" name="Google Shape;110;p18">
            <a:extLst>
              <a:ext uri="{FF2B5EF4-FFF2-40B4-BE49-F238E27FC236}">
                <a16:creationId xmlns:a16="http://schemas.microsoft.com/office/drawing/2014/main" id="{9473871B-A8B6-53D2-4DA9-666B586175DE}"/>
              </a:ext>
            </a:extLst>
          </p:cNvPr>
          <p:cNvSpPr txBox="1">
            <a:spLocks/>
          </p:cNvSpPr>
          <p:nvPr/>
        </p:nvSpPr>
        <p:spPr>
          <a:xfrm>
            <a:off x="2830025" y="4686600"/>
            <a:ext cx="3327000" cy="456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r>
              <a:rPr lang="en-IN" sz="600" dirty="0">
                <a:latin typeface="+mj-lt"/>
              </a:rPr>
              <a:t>Speech Emotion Recognition using</a:t>
            </a:r>
          </a:p>
          <a:p>
            <a:pPr marL="0" lvl="0" indent="0" algn="ctr" rtl="0">
              <a:spcBef>
                <a:spcPts val="0"/>
              </a:spcBef>
              <a:spcAft>
                <a:spcPts val="0"/>
              </a:spcAft>
              <a:buNone/>
            </a:pPr>
            <a:r>
              <a:rPr lang="en-IN" sz="600" dirty="0">
                <a:latin typeface="+mj-lt"/>
              </a:rPr>
              <a:t> Constant-Q Transform and RNN</a:t>
            </a:r>
            <a:endParaRPr lang="en-IN" sz="600" dirty="0">
              <a:latin typeface="+mj-lt"/>
              <a:ea typeface="Comfortaa"/>
              <a:cs typeface="Comfortaa"/>
              <a:sym typeface="Comfortaa"/>
            </a:endParaRPr>
          </a:p>
        </p:txBody>
      </p:sp>
      <p:pic>
        <p:nvPicPr>
          <p:cNvPr id="2" name="Google Shape;58;p13">
            <a:extLst>
              <a:ext uri="{FF2B5EF4-FFF2-40B4-BE49-F238E27FC236}">
                <a16:creationId xmlns:a16="http://schemas.microsoft.com/office/drawing/2014/main" id="{930A6D9C-A152-1563-5E82-7198C2B9D37C}"/>
              </a:ext>
            </a:extLst>
          </p:cNvPr>
          <p:cNvPicPr preferRelativeResize="0"/>
          <p:nvPr/>
        </p:nvPicPr>
        <p:blipFill>
          <a:blip r:embed="rId3">
            <a:alphaModFix/>
          </a:blip>
          <a:stretch>
            <a:fillRect/>
          </a:stretch>
        </p:blipFill>
        <p:spPr>
          <a:xfrm>
            <a:off x="6992250" y="267825"/>
            <a:ext cx="2073075" cy="535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subTitle" idx="4294967295"/>
          </p:nvPr>
        </p:nvSpPr>
        <p:spPr>
          <a:xfrm>
            <a:off x="185800" y="350650"/>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sz="2800" b="1" dirty="0">
                <a:latin typeface="Comfortaa"/>
                <a:ea typeface="Comfortaa"/>
                <a:cs typeface="Comfortaa"/>
                <a:sym typeface="Comfortaa"/>
              </a:rPr>
              <a:t>REFERENCE WORK</a:t>
            </a:r>
            <a:endParaRPr sz="2800" b="1" dirty="0">
              <a:latin typeface="Comfortaa"/>
              <a:ea typeface="Comfortaa"/>
              <a:cs typeface="Comfortaa"/>
              <a:sym typeface="Comfortaa"/>
            </a:endParaRPr>
          </a:p>
        </p:txBody>
      </p:sp>
      <p:sp>
        <p:nvSpPr>
          <p:cNvPr id="118" name="Google Shape;118;p19"/>
          <p:cNvSpPr txBox="1">
            <a:spLocks noGrp="1"/>
          </p:cNvSpPr>
          <p:nvPr>
            <p:ph type="subTitle" idx="4294967295"/>
          </p:nvPr>
        </p:nvSpPr>
        <p:spPr>
          <a:xfrm>
            <a:off x="185800" y="886450"/>
            <a:ext cx="8879525" cy="4024509"/>
          </a:xfrm>
          <a:prstGeom prst="rect">
            <a:avLst/>
          </a:prstGeom>
        </p:spPr>
        <p:txBody>
          <a:bodyPr spcFirstLastPara="1" wrap="square" lIns="91425" tIns="91425" rIns="91425" bIns="91425" anchor="t" anchorCtr="0">
            <a:normAutofit fontScale="47500" lnSpcReduction="20000"/>
          </a:bodyPr>
          <a:lstStyle/>
          <a:p>
            <a:pPr marL="171450" indent="-171450">
              <a:buClr>
                <a:schemeClr val="dk1"/>
              </a:buClr>
              <a:buSzPts val="1100"/>
            </a:pPr>
            <a:endParaRPr lang="en-GB" sz="2500" b="1" dirty="0">
              <a:latin typeface="Comfortaa"/>
              <a:ea typeface="Comfortaa"/>
              <a:cs typeface="Comfortaa"/>
              <a:sym typeface="Comfortaa"/>
            </a:endParaRPr>
          </a:p>
          <a:p>
            <a:pPr marL="0" marR="0" indent="0" algn="just">
              <a:lnSpc>
                <a:spcPct val="150000"/>
              </a:lnSpc>
              <a:spcBef>
                <a:spcPts val="0"/>
              </a:spcBef>
              <a:spcAft>
                <a:spcPts val="0"/>
              </a:spcAft>
              <a:buNone/>
            </a:pPr>
            <a:r>
              <a:rPr lang="en-US" sz="2500" dirty="0">
                <a:solidFill>
                  <a:srgbClr val="000000"/>
                </a:solidFill>
                <a:effectLst/>
                <a:latin typeface="Arial" panose="020B0604020202020204" pitchFamily="34" charset="0"/>
                <a:ea typeface="Times New Roman" panose="02020603050405020304" pitchFamily="18" charset="0"/>
              </a:rPr>
              <a:t>[5].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Siyuan</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Shen, Yu Gao, Feng Liu,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Hanyang</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Wang,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Aimin</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Zhou: Emotion Neural Transducer for Fine-Grained Speech Emotion Recognition, 2024.</a:t>
            </a:r>
          </a:p>
          <a:p>
            <a:pPr marL="0" marR="0" indent="0" algn="just">
              <a:lnSpc>
                <a:spcPct val="150000"/>
              </a:lnSpc>
              <a:spcBef>
                <a:spcPts val="0"/>
              </a:spcBef>
              <a:spcAft>
                <a:spcPts val="0"/>
              </a:spcAft>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a:t>
            </a:r>
          </a:p>
          <a:p>
            <a:pPr marL="0" marR="0" indent="0" algn="just">
              <a:lnSpc>
                <a:spcPct val="150000"/>
              </a:lnSpc>
              <a:spcBef>
                <a:spcPts val="0"/>
              </a:spcBef>
              <a:spcAft>
                <a:spcPts val="0"/>
              </a:spcAft>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[6]. Wen Wu, Chao Zhang, Philip C. Woodland: Integrating Emotion Recognition with Speech Recognition and Speaker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Diarisation</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for Conversations, 2023.</a:t>
            </a:r>
          </a:p>
          <a:p>
            <a:pPr marL="0" marR="0" indent="0" algn="just">
              <a:lnSpc>
                <a:spcPct val="150000"/>
              </a:lnSpc>
              <a:spcBef>
                <a:spcPts val="0"/>
              </a:spcBef>
              <a:spcAft>
                <a:spcPts val="0"/>
              </a:spcAft>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a:t>
            </a:r>
          </a:p>
          <a:p>
            <a:pPr marL="0" marR="0" indent="0" algn="just">
              <a:lnSpc>
                <a:spcPct val="150000"/>
              </a:lnSpc>
              <a:spcBef>
                <a:spcPts val="0"/>
              </a:spcBef>
              <a:spcAft>
                <a:spcPts val="0"/>
              </a:spcAft>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[7]. Tushar Shinde, Ritika Jain,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Avinash</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Kumar Sharma: Lightweight Neural Networks for Speech Emotion Recognition using Layer-wise Adaptive Quantization , 2024.</a:t>
            </a:r>
          </a:p>
          <a:p>
            <a:pPr marL="0" marR="0" indent="0" algn="just">
              <a:lnSpc>
                <a:spcPct val="150000"/>
              </a:lnSpc>
              <a:spcBef>
                <a:spcPts val="0"/>
              </a:spcBef>
              <a:spcAft>
                <a:spcPts val="0"/>
              </a:spcAft>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a:t>
            </a:r>
          </a:p>
          <a:p>
            <a:pPr marL="0" marR="0" indent="0" algn="just">
              <a:lnSpc>
                <a:spcPct val="150000"/>
              </a:lnSpc>
              <a:spcBef>
                <a:spcPts val="0"/>
              </a:spcBef>
              <a:spcAft>
                <a:spcPts val="0"/>
              </a:spcAft>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[8]. Zhen Wu,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Yizhe</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Lu,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Xinyu</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Dai: An Empirical Study and Improvement for Speech Emotion Recognition, 2023.</a:t>
            </a:r>
          </a:p>
          <a:p>
            <a:pPr marL="0" indent="0">
              <a:buClr>
                <a:schemeClr val="dk1"/>
              </a:buClr>
              <a:buSzPts val="1100"/>
              <a:buNone/>
            </a:pPr>
            <a:endParaRPr lang="en-GB" sz="2500" b="1" dirty="0">
              <a:solidFill>
                <a:schemeClr val="tx1">
                  <a:lumMod val="95000"/>
                  <a:lumOff val="5000"/>
                </a:schemeClr>
              </a:solidFill>
              <a:latin typeface="Comfortaa"/>
              <a:ea typeface="Comfortaa"/>
              <a:cs typeface="Comfortaa"/>
              <a:sym typeface="Comfortaa"/>
            </a:endParaRPr>
          </a:p>
          <a:p>
            <a:pPr marL="0" indent="0">
              <a:buClr>
                <a:schemeClr val="dk1"/>
              </a:buClr>
              <a:buSzPts val="1100"/>
              <a:buNone/>
            </a:pPr>
            <a:endParaRPr lang="en-GB" sz="2500" b="1" dirty="0">
              <a:solidFill>
                <a:schemeClr val="tx1">
                  <a:lumMod val="95000"/>
                  <a:lumOff val="5000"/>
                </a:schemeClr>
              </a:solidFill>
              <a:latin typeface="Comfortaa"/>
              <a:ea typeface="Comfortaa"/>
              <a:cs typeface="Comfortaa"/>
              <a:sym typeface="Comfortaa"/>
            </a:endParaRPr>
          </a:p>
          <a:p>
            <a:pPr marL="0" indent="0">
              <a:buClr>
                <a:schemeClr val="dk1"/>
              </a:buClr>
              <a:buSzPts val="1100"/>
              <a:buNone/>
            </a:pP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[9]. Arjun Singh, Dr. </a:t>
            </a:r>
            <a:r>
              <a:rPr lang="en-US" sz="2500" dirty="0" err="1">
                <a:solidFill>
                  <a:schemeClr val="tx1">
                    <a:lumMod val="95000"/>
                    <a:lumOff val="5000"/>
                  </a:schemeClr>
                </a:solidFill>
                <a:effectLst/>
                <a:latin typeface="Arial" panose="020B0604020202020204" pitchFamily="34" charset="0"/>
                <a:ea typeface="Times New Roman" panose="02020603050405020304" pitchFamily="18" charset="0"/>
              </a:rPr>
              <a:t>Sachin</a:t>
            </a:r>
            <a:r>
              <a:rPr lang="en-US" sz="2500" dirty="0">
                <a:solidFill>
                  <a:schemeClr val="tx1">
                    <a:lumMod val="95000"/>
                    <a:lumOff val="5000"/>
                  </a:schemeClr>
                </a:solidFill>
                <a:effectLst/>
                <a:latin typeface="Arial" panose="020B0604020202020204" pitchFamily="34" charset="0"/>
                <a:ea typeface="Times New Roman" panose="02020603050405020304" pitchFamily="18" charset="0"/>
              </a:rPr>
              <a:t> Singh, Piyush Rastogi, Dr. Manish Kumar, Saurabh Bhardwaj, Bhuvneshwar Swaroop: Analyzing the Recent Advancements for Speech Emotion Recognition Using Machine Learning Techniques, 2024.</a:t>
            </a: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r>
              <a:rPr lang="en-GB" sz="1200" b="1" dirty="0">
                <a:latin typeface="Comfortaa"/>
                <a:ea typeface="Comfortaa"/>
                <a:cs typeface="Comfortaa"/>
                <a:sym typeface="Comfortaa"/>
              </a:rPr>
              <a:t> </a:t>
            </a:r>
          </a:p>
          <a:p>
            <a:pPr marL="171450" indent="-171450">
              <a:buClr>
                <a:schemeClr val="dk1"/>
              </a:buClr>
              <a:buSzPts val="1100"/>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lvl="0" indent="0" algn="l" rtl="0">
              <a:spcBef>
                <a:spcPts val="0"/>
              </a:spcBef>
              <a:spcAft>
                <a:spcPts val="1200"/>
              </a:spcAft>
              <a:buNone/>
            </a:pPr>
            <a:endParaRPr sz="1200" b="1" dirty="0">
              <a:latin typeface="Comfortaa"/>
              <a:ea typeface="Comfortaa"/>
              <a:cs typeface="Comfortaa"/>
              <a:sym typeface="Comfortaa"/>
            </a:endParaRPr>
          </a:p>
        </p:txBody>
      </p:sp>
      <p:sp>
        <p:nvSpPr>
          <p:cNvPr id="125" name="Google Shape;125;p19"/>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dirty="0">
                <a:latin typeface="Comfortaa"/>
                <a:ea typeface="Comfortaa"/>
                <a:cs typeface="Comfortaa"/>
                <a:sym typeface="Comfortaa"/>
              </a:rPr>
              <a:t>DEPARTMENT OF COMPUTER SCIENCE AND ENGINEERING</a:t>
            </a:r>
            <a:endParaRPr sz="1100" b="1" dirty="0">
              <a:latin typeface="Comfortaa"/>
              <a:ea typeface="Comfortaa"/>
              <a:cs typeface="Comfortaa"/>
              <a:sym typeface="Comfortaa"/>
            </a:endParaRPr>
          </a:p>
        </p:txBody>
      </p:sp>
      <p:sp>
        <p:nvSpPr>
          <p:cNvPr id="126" name="Google Shape;126;p19"/>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28</a:t>
            </a:r>
            <a:endParaRPr sz="1100" b="1" dirty="0">
              <a:latin typeface="Comfortaa"/>
              <a:ea typeface="Comfortaa"/>
              <a:cs typeface="Comfortaa"/>
              <a:sym typeface="Comfortaa"/>
            </a:endParaRPr>
          </a:p>
        </p:txBody>
      </p:sp>
      <p:sp>
        <p:nvSpPr>
          <p:cNvPr id="4" name="Google Shape;110;p18">
            <a:extLst>
              <a:ext uri="{FF2B5EF4-FFF2-40B4-BE49-F238E27FC236}">
                <a16:creationId xmlns:a16="http://schemas.microsoft.com/office/drawing/2014/main" id="{9473871B-A8B6-53D2-4DA9-666B586175DE}"/>
              </a:ext>
            </a:extLst>
          </p:cNvPr>
          <p:cNvSpPr txBox="1">
            <a:spLocks/>
          </p:cNvSpPr>
          <p:nvPr/>
        </p:nvSpPr>
        <p:spPr>
          <a:xfrm>
            <a:off x="2830025" y="4686600"/>
            <a:ext cx="3327000" cy="456900"/>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r>
              <a:rPr lang="en-IN" sz="1100" dirty="0">
                <a:latin typeface="+mj-lt"/>
              </a:rPr>
              <a:t>Speech Emotion Recognition using</a:t>
            </a:r>
          </a:p>
          <a:p>
            <a:pPr marL="0" lvl="0" indent="0" algn="ctr" rtl="0">
              <a:spcBef>
                <a:spcPts val="0"/>
              </a:spcBef>
              <a:spcAft>
                <a:spcPts val="0"/>
              </a:spcAft>
              <a:buNone/>
            </a:pPr>
            <a:r>
              <a:rPr lang="en-IN" sz="1100" dirty="0">
                <a:latin typeface="+mj-lt"/>
              </a:rPr>
              <a:t> Constant-Q Transform and RNN</a:t>
            </a:r>
            <a:endParaRPr lang="en-IN" sz="1100" dirty="0">
              <a:latin typeface="+mj-lt"/>
              <a:ea typeface="Comfortaa"/>
              <a:cs typeface="Comfortaa"/>
              <a:sym typeface="Comfortaa"/>
            </a:endParaRPr>
          </a:p>
        </p:txBody>
      </p:sp>
      <p:pic>
        <p:nvPicPr>
          <p:cNvPr id="2" name="Google Shape;58;p13">
            <a:extLst>
              <a:ext uri="{FF2B5EF4-FFF2-40B4-BE49-F238E27FC236}">
                <a16:creationId xmlns:a16="http://schemas.microsoft.com/office/drawing/2014/main" id="{590DF850-8DFF-546C-1EB0-D7645EF44E01}"/>
              </a:ext>
            </a:extLst>
          </p:cNvPr>
          <p:cNvPicPr preferRelativeResize="0"/>
          <p:nvPr/>
        </p:nvPicPr>
        <p:blipFill>
          <a:blip r:embed="rId3">
            <a:alphaModFix/>
          </a:blip>
          <a:stretch>
            <a:fillRect/>
          </a:stretch>
        </p:blipFill>
        <p:spPr>
          <a:xfrm>
            <a:off x="6992250" y="125627"/>
            <a:ext cx="2073075" cy="535925"/>
          </a:xfrm>
          <a:prstGeom prst="rect">
            <a:avLst/>
          </a:prstGeom>
          <a:noFill/>
          <a:ln>
            <a:noFill/>
          </a:ln>
        </p:spPr>
      </p:pic>
    </p:spTree>
    <p:extLst>
      <p:ext uri="{BB962C8B-B14F-4D97-AF65-F5344CB8AC3E}">
        <p14:creationId xmlns:p14="http://schemas.microsoft.com/office/powerpoint/2010/main" val="3136367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subTitle" idx="4294967295"/>
          </p:nvPr>
        </p:nvSpPr>
        <p:spPr>
          <a:xfrm>
            <a:off x="185800" y="350650"/>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sz="2800" b="1">
                <a:latin typeface="Comfortaa"/>
                <a:ea typeface="Comfortaa"/>
                <a:cs typeface="Comfortaa"/>
                <a:sym typeface="Comfortaa"/>
              </a:rPr>
              <a:t>REFERENCE WORK</a:t>
            </a:r>
            <a:endParaRPr sz="2800" b="1">
              <a:latin typeface="Comfortaa"/>
              <a:ea typeface="Comfortaa"/>
              <a:cs typeface="Comfortaa"/>
              <a:sym typeface="Comfortaa"/>
            </a:endParaRPr>
          </a:p>
        </p:txBody>
      </p:sp>
      <p:sp>
        <p:nvSpPr>
          <p:cNvPr id="118" name="Google Shape;118;p19"/>
          <p:cNvSpPr txBox="1">
            <a:spLocks noGrp="1"/>
          </p:cNvSpPr>
          <p:nvPr>
            <p:ph type="subTitle" idx="4294967295"/>
          </p:nvPr>
        </p:nvSpPr>
        <p:spPr>
          <a:xfrm>
            <a:off x="185800" y="886450"/>
            <a:ext cx="8879525" cy="4024509"/>
          </a:xfrm>
          <a:prstGeom prst="rect">
            <a:avLst/>
          </a:prstGeom>
        </p:spPr>
        <p:txBody>
          <a:bodyPr spcFirstLastPara="1" wrap="square" lIns="91425" tIns="91425" rIns="91425" bIns="91425" anchor="t" anchorCtr="0">
            <a:normAutofit fontScale="92500" lnSpcReduction="10000"/>
          </a:bodyPr>
          <a:lstStyle/>
          <a:p>
            <a:pPr marL="0" marR="0" indent="0" algn="just">
              <a:lnSpc>
                <a:spcPct val="15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[10</a:t>
            </a:r>
            <a:r>
              <a:rPr lang="en-US" sz="1400" dirty="0">
                <a:solidFill>
                  <a:schemeClr val="tx1">
                    <a:lumMod val="95000"/>
                    <a:lumOff val="5000"/>
                  </a:schemeClr>
                </a:solidFill>
                <a:effectLst/>
                <a:latin typeface="Arial" panose="020B0604020202020204" pitchFamily="34" charset="0"/>
                <a:ea typeface="Times New Roman" panose="02020603050405020304" pitchFamily="18" charset="0"/>
              </a:rPr>
              <a:t>]. </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Ziyang Ma,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Zhisheng</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Zheng,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Jiaxin</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Ye,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Jinchao</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Li,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Zhifu</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Gao,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Shiliang</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Zhang,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Xie</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Chen: emotion2vec: Self-Supervised Pre-Training for Speech Emotion Representation, 2023.</a:t>
            </a:r>
          </a:p>
          <a:p>
            <a:pPr marL="0" marR="0" indent="0" algn="just">
              <a:lnSpc>
                <a:spcPct val="150000"/>
              </a:lnSpc>
              <a:spcBef>
                <a:spcPts val="0"/>
              </a:spcBef>
              <a:spcAft>
                <a:spcPts val="0"/>
              </a:spcAft>
              <a:buNone/>
            </a:pPr>
            <a:endParaRPr lang="en-US" sz="1500" dirty="0">
              <a:solidFill>
                <a:schemeClr val="tx1">
                  <a:lumMod val="95000"/>
                  <a:lumOff val="5000"/>
                </a:schemeClr>
              </a:solidFill>
              <a:effectLst/>
              <a:latin typeface="Arial" panose="020B0604020202020204" pitchFamily="34" charset="0"/>
              <a:ea typeface="Times New Roman" panose="02020603050405020304" pitchFamily="18" charset="0"/>
            </a:endParaRPr>
          </a:p>
          <a:p>
            <a:pPr marL="0" marR="0" indent="0" algn="just">
              <a:lnSpc>
                <a:spcPct val="150000"/>
              </a:lnSpc>
              <a:spcBef>
                <a:spcPts val="0"/>
              </a:spcBef>
              <a:spcAft>
                <a:spcPts val="0"/>
              </a:spcAft>
              <a:buNone/>
            </a:pP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[11]. Federico Costa, Miquel India, Javier Hernando: Double Multi-Head Attention Multimodal System for Odyssey 2024 Speech Emotion Recognition Challenge, 2024</a:t>
            </a:r>
          </a:p>
          <a:p>
            <a:pPr marL="0" marR="0" indent="0" algn="just">
              <a:lnSpc>
                <a:spcPct val="150000"/>
              </a:lnSpc>
              <a:spcBef>
                <a:spcPts val="0"/>
              </a:spcBef>
              <a:spcAft>
                <a:spcPts val="0"/>
              </a:spcAft>
              <a:buNone/>
            </a:pPr>
            <a:endParaRPr lang="en-US" sz="1500" dirty="0">
              <a:solidFill>
                <a:schemeClr val="tx1">
                  <a:lumMod val="95000"/>
                  <a:lumOff val="5000"/>
                </a:schemeClr>
              </a:solidFill>
              <a:effectLst/>
              <a:latin typeface="Arial" panose="020B0604020202020204" pitchFamily="34" charset="0"/>
              <a:ea typeface="Times New Roman" panose="02020603050405020304" pitchFamily="18" charset="0"/>
            </a:endParaRPr>
          </a:p>
          <a:p>
            <a:pPr marL="0" marR="0" indent="0" algn="just">
              <a:lnSpc>
                <a:spcPct val="150000"/>
              </a:lnSpc>
              <a:spcBef>
                <a:spcPts val="0"/>
              </a:spcBef>
              <a:spcAft>
                <a:spcPts val="0"/>
              </a:spcAft>
              <a:buNone/>
            </a:pP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[12].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Debaditya</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Shome</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Ali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Etemad</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Speech Emotion Recognition with Distilled Prosodic and Linguistic Affect Representations, 2023</a:t>
            </a:r>
          </a:p>
          <a:p>
            <a:pPr marL="0" marR="0" indent="0" algn="just">
              <a:lnSpc>
                <a:spcPct val="150000"/>
              </a:lnSpc>
              <a:spcBef>
                <a:spcPts val="0"/>
              </a:spcBef>
              <a:spcAft>
                <a:spcPts val="0"/>
              </a:spcAft>
              <a:buNone/>
            </a:pPr>
            <a:endParaRPr lang="en-US" sz="1500" dirty="0">
              <a:solidFill>
                <a:schemeClr val="tx1">
                  <a:lumMod val="95000"/>
                  <a:lumOff val="5000"/>
                </a:schemeClr>
              </a:solidFill>
              <a:latin typeface="Arial" panose="020B0604020202020204" pitchFamily="34" charset="0"/>
              <a:ea typeface="Times New Roman" panose="02020603050405020304" pitchFamily="18" charset="0"/>
            </a:endParaRPr>
          </a:p>
          <a:p>
            <a:pPr marL="0" marR="0" indent="0" algn="just">
              <a:lnSpc>
                <a:spcPct val="150000"/>
              </a:lnSpc>
              <a:spcBef>
                <a:spcPts val="0"/>
              </a:spcBef>
              <a:spcAft>
                <a:spcPts val="0"/>
              </a:spcAft>
              <a:buNone/>
            </a:pP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[13].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Thejan</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Rajapakshe</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Rajib</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Rana, Sara Khalifa,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Berrak</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a:t>
            </a:r>
            <a:r>
              <a:rPr lang="en-US" sz="1500" dirty="0" err="1">
                <a:solidFill>
                  <a:schemeClr val="tx1">
                    <a:lumMod val="95000"/>
                    <a:lumOff val="5000"/>
                  </a:schemeClr>
                </a:solidFill>
                <a:effectLst/>
                <a:latin typeface="Arial" panose="020B0604020202020204" pitchFamily="34" charset="0"/>
                <a:ea typeface="Times New Roman" panose="02020603050405020304" pitchFamily="18" charset="0"/>
              </a:rPr>
              <a:t>Sisman</a:t>
            </a:r>
            <a:r>
              <a:rPr lang="en-US" sz="1500" dirty="0">
                <a:solidFill>
                  <a:schemeClr val="tx1">
                    <a:lumMod val="95000"/>
                    <a:lumOff val="5000"/>
                  </a:schemeClr>
                </a:solidFill>
                <a:effectLst/>
                <a:latin typeface="Arial" panose="020B0604020202020204" pitchFamily="34" charset="0"/>
                <a:ea typeface="Times New Roman" panose="02020603050405020304" pitchFamily="18" charset="0"/>
              </a:rPr>
              <a:t>, Björn Schuller: Enhancing Speech Emotion Recognition Through Differentiable Architecture Search, 2023</a:t>
            </a:r>
          </a:p>
          <a:p>
            <a:pPr marL="0" marR="0" indent="0" algn="just">
              <a:lnSpc>
                <a:spcPct val="150000"/>
              </a:lnSpc>
              <a:spcBef>
                <a:spcPts val="0"/>
              </a:spcBef>
              <a:spcAft>
                <a:spcPts val="0"/>
              </a:spcAft>
              <a:buNone/>
            </a:pPr>
            <a:endParaRPr lang="en-US" sz="1400" dirty="0">
              <a:solidFill>
                <a:srgbClr val="000000"/>
              </a:solidFill>
              <a:effectLst/>
              <a:latin typeface="Arial" panose="020B0604020202020204" pitchFamily="34" charset="0"/>
              <a:ea typeface="Times New Roman" panose="02020603050405020304" pitchFamily="18" charset="0"/>
            </a:endParaRPr>
          </a:p>
          <a:p>
            <a:pPr marL="0" marR="0" indent="0" algn="just">
              <a:lnSpc>
                <a:spcPct val="15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 </a:t>
            </a:r>
          </a:p>
          <a:p>
            <a:pPr marL="114300" indent="0">
              <a:buNone/>
            </a:pPr>
            <a:endParaRPr lang="en-US" sz="1400" dirty="0">
              <a:solidFill>
                <a:srgbClr val="000000"/>
              </a:solidFill>
              <a:effectLst/>
              <a:latin typeface="Arial" panose="020B0604020202020204" pitchFamily="34" charset="0"/>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lvl="0" indent="0" algn="l" rtl="0">
              <a:spcBef>
                <a:spcPts val="0"/>
              </a:spcBef>
              <a:spcAft>
                <a:spcPts val="1200"/>
              </a:spcAft>
              <a:buNone/>
            </a:pPr>
            <a:endParaRPr sz="1200" b="1" dirty="0">
              <a:latin typeface="Comfortaa"/>
              <a:ea typeface="Comfortaa"/>
              <a:cs typeface="Comfortaa"/>
              <a:sym typeface="Comfortaa"/>
            </a:endParaRPr>
          </a:p>
        </p:txBody>
      </p:sp>
      <p:sp>
        <p:nvSpPr>
          <p:cNvPr id="125" name="Google Shape;125;p19"/>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26" name="Google Shape;126;p19"/>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29</a:t>
            </a:r>
            <a:endParaRPr sz="1100" b="1" dirty="0">
              <a:latin typeface="Comfortaa"/>
              <a:ea typeface="Comfortaa"/>
              <a:cs typeface="Comfortaa"/>
              <a:sym typeface="Comfortaa"/>
            </a:endParaRPr>
          </a:p>
        </p:txBody>
      </p:sp>
      <p:sp>
        <p:nvSpPr>
          <p:cNvPr id="4" name="Google Shape;110;p18">
            <a:extLst>
              <a:ext uri="{FF2B5EF4-FFF2-40B4-BE49-F238E27FC236}">
                <a16:creationId xmlns:a16="http://schemas.microsoft.com/office/drawing/2014/main" id="{9473871B-A8B6-53D2-4DA9-666B586175DE}"/>
              </a:ext>
            </a:extLst>
          </p:cNvPr>
          <p:cNvSpPr txBox="1">
            <a:spLocks/>
          </p:cNvSpPr>
          <p:nvPr/>
        </p:nvSpPr>
        <p:spPr>
          <a:xfrm>
            <a:off x="2830025" y="4686600"/>
            <a:ext cx="3327000" cy="456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r>
              <a:rPr lang="en-IN" sz="600" dirty="0">
                <a:latin typeface="+mj-lt"/>
              </a:rPr>
              <a:t>Speech Emotion Recognition using</a:t>
            </a:r>
          </a:p>
          <a:p>
            <a:pPr marL="0" lvl="0" indent="0" algn="ctr" rtl="0">
              <a:spcBef>
                <a:spcPts val="0"/>
              </a:spcBef>
              <a:spcAft>
                <a:spcPts val="0"/>
              </a:spcAft>
              <a:buNone/>
            </a:pPr>
            <a:r>
              <a:rPr lang="en-IN" sz="600" dirty="0">
                <a:latin typeface="+mj-lt"/>
              </a:rPr>
              <a:t> Constant-Q Transform and RNN</a:t>
            </a:r>
            <a:endParaRPr lang="en-IN" sz="600" dirty="0">
              <a:latin typeface="+mj-lt"/>
              <a:ea typeface="Comfortaa"/>
              <a:cs typeface="Comfortaa"/>
              <a:sym typeface="Comfortaa"/>
            </a:endParaRPr>
          </a:p>
        </p:txBody>
      </p:sp>
      <p:pic>
        <p:nvPicPr>
          <p:cNvPr id="2" name="Google Shape;58;p13">
            <a:extLst>
              <a:ext uri="{FF2B5EF4-FFF2-40B4-BE49-F238E27FC236}">
                <a16:creationId xmlns:a16="http://schemas.microsoft.com/office/drawing/2014/main" id="{930A6D9C-A152-1563-5E82-7198C2B9D37C}"/>
              </a:ext>
            </a:extLst>
          </p:cNvPr>
          <p:cNvPicPr preferRelativeResize="0"/>
          <p:nvPr/>
        </p:nvPicPr>
        <p:blipFill>
          <a:blip r:embed="rId3">
            <a:alphaModFix/>
          </a:blip>
          <a:stretch>
            <a:fillRect/>
          </a:stretch>
        </p:blipFill>
        <p:spPr>
          <a:xfrm>
            <a:off x="6992250" y="267825"/>
            <a:ext cx="2073075" cy="535925"/>
          </a:xfrm>
          <a:prstGeom prst="rect">
            <a:avLst/>
          </a:prstGeom>
          <a:noFill/>
          <a:ln>
            <a:noFill/>
          </a:ln>
        </p:spPr>
      </p:pic>
    </p:spTree>
    <p:extLst>
      <p:ext uri="{BB962C8B-B14F-4D97-AF65-F5344CB8AC3E}">
        <p14:creationId xmlns:p14="http://schemas.microsoft.com/office/powerpoint/2010/main" val="3103363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subTitle" idx="4294967295"/>
          </p:nvPr>
        </p:nvSpPr>
        <p:spPr>
          <a:xfrm>
            <a:off x="185800" y="350650"/>
            <a:ext cx="3666300" cy="769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sz="2800" b="1">
                <a:latin typeface="Comfortaa"/>
                <a:ea typeface="Comfortaa"/>
                <a:cs typeface="Comfortaa"/>
                <a:sym typeface="Comfortaa"/>
              </a:rPr>
              <a:t>REFERENCE WORK</a:t>
            </a:r>
            <a:endParaRPr sz="2800" b="1">
              <a:latin typeface="Comfortaa"/>
              <a:ea typeface="Comfortaa"/>
              <a:cs typeface="Comfortaa"/>
              <a:sym typeface="Comfortaa"/>
            </a:endParaRPr>
          </a:p>
        </p:txBody>
      </p:sp>
      <p:sp>
        <p:nvSpPr>
          <p:cNvPr id="118" name="Google Shape;118;p19"/>
          <p:cNvSpPr txBox="1">
            <a:spLocks noGrp="1"/>
          </p:cNvSpPr>
          <p:nvPr>
            <p:ph type="subTitle" idx="4294967295"/>
          </p:nvPr>
        </p:nvSpPr>
        <p:spPr>
          <a:xfrm>
            <a:off x="185800" y="886450"/>
            <a:ext cx="8879525" cy="4024509"/>
          </a:xfrm>
          <a:prstGeom prst="rect">
            <a:avLst/>
          </a:prstGeom>
        </p:spPr>
        <p:txBody>
          <a:bodyPr spcFirstLastPara="1" wrap="square" lIns="91425" tIns="91425" rIns="91425" bIns="91425" anchor="t" anchorCtr="0">
            <a:normAutofit/>
          </a:bodyPr>
          <a:lstStyle/>
          <a:p>
            <a:pPr marL="0" marR="0" indent="0" algn="just">
              <a:lnSpc>
                <a:spcPct val="15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[14]. Juan M. Martín-</a:t>
            </a:r>
            <a:r>
              <a:rPr lang="en-US" sz="1400" dirty="0" err="1">
                <a:solidFill>
                  <a:srgbClr val="000000"/>
                </a:solidFill>
                <a:effectLst/>
                <a:latin typeface="Arial" panose="020B0604020202020204" pitchFamily="34" charset="0"/>
                <a:ea typeface="Times New Roman" panose="02020603050405020304" pitchFamily="18" charset="0"/>
              </a:rPr>
              <a:t>Doñas</a:t>
            </a:r>
            <a:r>
              <a:rPr lang="en-US" sz="1400" dirty="0">
                <a:solidFill>
                  <a:srgbClr val="000000"/>
                </a:solidFill>
                <a:effectLst/>
                <a:latin typeface="Arial" panose="020B0604020202020204" pitchFamily="34" charset="0"/>
                <a:ea typeface="Times New Roman" panose="02020603050405020304" pitchFamily="18" charset="0"/>
              </a:rPr>
              <a:t>, </a:t>
            </a:r>
            <a:r>
              <a:rPr lang="en-US" sz="1400" dirty="0" err="1">
                <a:solidFill>
                  <a:srgbClr val="000000"/>
                </a:solidFill>
                <a:effectLst/>
                <a:latin typeface="Arial" panose="020B0604020202020204" pitchFamily="34" charset="0"/>
                <a:ea typeface="Times New Roman" panose="02020603050405020304" pitchFamily="18" charset="0"/>
              </a:rPr>
              <a:t>Asier</a:t>
            </a:r>
            <a:r>
              <a:rPr lang="en-US" sz="1400" dirty="0">
                <a:solidFill>
                  <a:srgbClr val="000000"/>
                </a:solidFill>
                <a:effectLst/>
                <a:latin typeface="Arial" panose="020B0604020202020204" pitchFamily="34" charset="0"/>
                <a:ea typeface="Times New Roman" panose="02020603050405020304" pitchFamily="18" charset="0"/>
              </a:rPr>
              <a:t> López </a:t>
            </a:r>
            <a:r>
              <a:rPr lang="en-US" sz="1400" dirty="0" err="1">
                <a:solidFill>
                  <a:srgbClr val="000000"/>
                </a:solidFill>
                <a:effectLst/>
                <a:latin typeface="Arial" panose="020B0604020202020204" pitchFamily="34" charset="0"/>
                <a:ea typeface="Times New Roman" panose="02020603050405020304" pitchFamily="18" charset="0"/>
              </a:rPr>
              <a:t>Zorrilla</a:t>
            </a:r>
            <a:r>
              <a:rPr lang="en-US" sz="1400" dirty="0">
                <a:solidFill>
                  <a:srgbClr val="000000"/>
                </a:solidFill>
                <a:effectLst/>
                <a:latin typeface="Arial" panose="020B0604020202020204" pitchFamily="34" charset="0"/>
                <a:ea typeface="Times New Roman" panose="02020603050405020304" pitchFamily="18" charset="0"/>
              </a:rPr>
              <a:t>, Mikel </a:t>
            </a:r>
            <a:r>
              <a:rPr lang="en-US" sz="1400" dirty="0" err="1">
                <a:solidFill>
                  <a:srgbClr val="000000"/>
                </a:solidFill>
                <a:effectLst/>
                <a:latin typeface="Arial" panose="020B0604020202020204" pitchFamily="34" charset="0"/>
                <a:ea typeface="Times New Roman" panose="02020603050405020304" pitchFamily="18" charset="0"/>
              </a:rPr>
              <a:t>deVelasco</a:t>
            </a:r>
            <a:r>
              <a:rPr lang="en-US" sz="1400" dirty="0">
                <a:solidFill>
                  <a:srgbClr val="000000"/>
                </a:solidFill>
                <a:effectLst/>
                <a:latin typeface="Arial" panose="020B0604020202020204" pitchFamily="34" charset="0"/>
                <a:ea typeface="Times New Roman" panose="02020603050405020304" pitchFamily="18" charset="0"/>
              </a:rPr>
              <a:t>, Juan Camilo Vasquez-Correa, </a:t>
            </a:r>
            <a:r>
              <a:rPr lang="en-US" sz="1400" dirty="0" err="1">
                <a:solidFill>
                  <a:srgbClr val="000000"/>
                </a:solidFill>
                <a:effectLst/>
                <a:latin typeface="Arial" panose="020B0604020202020204" pitchFamily="34" charset="0"/>
                <a:ea typeface="Times New Roman" panose="02020603050405020304" pitchFamily="18" charset="0"/>
              </a:rPr>
              <a:t>Aitor</a:t>
            </a:r>
            <a:r>
              <a:rPr lang="en-US" sz="1400" dirty="0">
                <a:solidFill>
                  <a:srgbClr val="000000"/>
                </a:solidFill>
                <a:effectLst/>
                <a:latin typeface="Arial" panose="020B0604020202020204" pitchFamily="34" charset="0"/>
                <a:ea typeface="Times New Roman" panose="02020603050405020304" pitchFamily="18" charset="0"/>
              </a:rPr>
              <a:t> Álvarez, Maria Inés Torres, Paz Delgado, </a:t>
            </a:r>
            <a:r>
              <a:rPr lang="en-US" sz="1400" dirty="0" err="1">
                <a:solidFill>
                  <a:srgbClr val="000000"/>
                </a:solidFill>
                <a:effectLst/>
                <a:latin typeface="Arial" panose="020B0604020202020204" pitchFamily="34" charset="0"/>
                <a:ea typeface="Times New Roman" panose="02020603050405020304" pitchFamily="18" charset="0"/>
              </a:rPr>
              <a:t>Ane</a:t>
            </a:r>
            <a:r>
              <a:rPr lang="en-US" sz="1400" dirty="0">
                <a:solidFill>
                  <a:srgbClr val="000000"/>
                </a:solidFill>
                <a:effectLst/>
                <a:latin typeface="Arial" panose="020B0604020202020204" pitchFamily="34" charset="0"/>
                <a:ea typeface="Times New Roman" panose="02020603050405020304" pitchFamily="18" charset="0"/>
              </a:rPr>
              <a:t> </a:t>
            </a:r>
            <a:r>
              <a:rPr lang="en-US" sz="1400" dirty="0" err="1">
                <a:solidFill>
                  <a:srgbClr val="000000"/>
                </a:solidFill>
                <a:effectLst/>
                <a:latin typeface="Arial" panose="020B0604020202020204" pitchFamily="34" charset="0"/>
                <a:ea typeface="Times New Roman" panose="02020603050405020304" pitchFamily="18" charset="0"/>
              </a:rPr>
              <a:t>Lazpiur</a:t>
            </a:r>
            <a:r>
              <a:rPr lang="en-US" sz="1400" dirty="0">
                <a:solidFill>
                  <a:srgbClr val="000000"/>
                </a:solidFill>
                <a:effectLst/>
                <a:latin typeface="Arial" panose="020B0604020202020204" pitchFamily="34" charset="0"/>
                <a:ea typeface="Times New Roman" panose="02020603050405020304" pitchFamily="18" charset="0"/>
              </a:rPr>
              <a:t>, Blanca Romero, </a:t>
            </a:r>
            <a:r>
              <a:rPr lang="en-US" sz="1400" dirty="0" err="1">
                <a:solidFill>
                  <a:srgbClr val="000000"/>
                </a:solidFill>
                <a:effectLst/>
                <a:latin typeface="Arial" panose="020B0604020202020204" pitchFamily="34" charset="0"/>
                <a:ea typeface="Times New Roman" panose="02020603050405020304" pitchFamily="18" charset="0"/>
              </a:rPr>
              <a:t>Irati</a:t>
            </a:r>
            <a:r>
              <a:rPr lang="en-US" sz="1400" dirty="0">
                <a:solidFill>
                  <a:srgbClr val="000000"/>
                </a:solidFill>
                <a:effectLst/>
                <a:latin typeface="Arial" panose="020B0604020202020204" pitchFamily="34" charset="0"/>
                <a:ea typeface="Times New Roman" panose="02020603050405020304" pitchFamily="18" charset="0"/>
              </a:rPr>
              <a:t> </a:t>
            </a:r>
            <a:r>
              <a:rPr lang="en-US" sz="1400" dirty="0" err="1">
                <a:solidFill>
                  <a:srgbClr val="000000"/>
                </a:solidFill>
                <a:effectLst/>
                <a:latin typeface="Arial" panose="020B0604020202020204" pitchFamily="34" charset="0"/>
                <a:ea typeface="Times New Roman" panose="02020603050405020304" pitchFamily="18" charset="0"/>
              </a:rPr>
              <a:t>Alkorta</a:t>
            </a:r>
            <a:r>
              <a:rPr lang="en-US" sz="1400" dirty="0">
                <a:solidFill>
                  <a:srgbClr val="000000"/>
                </a:solidFill>
                <a:effectLst/>
                <a:latin typeface="Arial" panose="020B0604020202020204" pitchFamily="34" charset="0"/>
                <a:ea typeface="Times New Roman" panose="02020603050405020304" pitchFamily="18" charset="0"/>
              </a:rPr>
              <a:t>: Speech Emotion Recognition for Call Centers using Self-supervised Models: A Complete Pipeline for Industrial Applications, 2024</a:t>
            </a:r>
          </a:p>
          <a:p>
            <a:pPr marL="0" marR="0" indent="0" algn="just">
              <a:lnSpc>
                <a:spcPct val="15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 </a:t>
            </a:r>
          </a:p>
          <a:p>
            <a:pPr marL="0" marR="0" indent="0" algn="just">
              <a:lnSpc>
                <a:spcPct val="15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[15]. </a:t>
            </a:r>
            <a:r>
              <a:rPr lang="en-US" sz="1400" dirty="0" err="1">
                <a:solidFill>
                  <a:srgbClr val="000000"/>
                </a:solidFill>
                <a:effectLst/>
                <a:latin typeface="Arial" panose="020B0604020202020204" pitchFamily="34" charset="0"/>
                <a:ea typeface="Times New Roman" panose="02020603050405020304" pitchFamily="18" charset="0"/>
              </a:rPr>
              <a:t>Shaokai</a:t>
            </a:r>
            <a:r>
              <a:rPr lang="en-US" sz="1400" dirty="0">
                <a:solidFill>
                  <a:srgbClr val="000000"/>
                </a:solidFill>
                <a:effectLst/>
                <a:latin typeface="Arial" panose="020B0604020202020204" pitchFamily="34" charset="0"/>
                <a:ea typeface="Times New Roman" panose="02020603050405020304" pitchFamily="18" charset="0"/>
              </a:rPr>
              <a:t> Li, </a:t>
            </a:r>
            <a:r>
              <a:rPr lang="en-US" sz="1400" dirty="0" err="1">
                <a:solidFill>
                  <a:srgbClr val="000000"/>
                </a:solidFill>
                <a:effectLst/>
                <a:latin typeface="Arial" panose="020B0604020202020204" pitchFamily="34" charset="0"/>
                <a:ea typeface="Times New Roman" panose="02020603050405020304" pitchFamily="18" charset="0"/>
              </a:rPr>
              <a:t>Yixuan</a:t>
            </a:r>
            <a:r>
              <a:rPr lang="en-US" sz="1400" dirty="0">
                <a:solidFill>
                  <a:srgbClr val="000000"/>
                </a:solidFill>
                <a:effectLst/>
                <a:latin typeface="Arial" panose="020B0604020202020204" pitchFamily="34" charset="0"/>
                <a:ea typeface="Times New Roman" panose="02020603050405020304" pitchFamily="18" charset="0"/>
              </a:rPr>
              <a:t> Ji, Peng Song, </a:t>
            </a:r>
            <a:r>
              <a:rPr lang="en-US" sz="1400" dirty="0" err="1">
                <a:solidFill>
                  <a:srgbClr val="000000"/>
                </a:solidFill>
                <a:effectLst/>
                <a:latin typeface="Arial" panose="020B0604020202020204" pitchFamily="34" charset="0"/>
                <a:ea typeface="Times New Roman" panose="02020603050405020304" pitchFamily="18" charset="0"/>
              </a:rPr>
              <a:t>Haoqin</a:t>
            </a:r>
            <a:r>
              <a:rPr lang="en-US" sz="1400" dirty="0">
                <a:solidFill>
                  <a:srgbClr val="000000"/>
                </a:solidFill>
                <a:effectLst/>
                <a:latin typeface="Arial" panose="020B0604020202020204" pitchFamily="34" charset="0"/>
                <a:ea typeface="Times New Roman" panose="02020603050405020304" pitchFamily="18" charset="0"/>
              </a:rPr>
              <a:t> Sun, </a:t>
            </a:r>
            <a:r>
              <a:rPr lang="en-US" sz="1400" dirty="0" err="1">
                <a:solidFill>
                  <a:srgbClr val="000000"/>
                </a:solidFill>
                <a:effectLst/>
                <a:latin typeface="Arial" panose="020B0604020202020204" pitchFamily="34" charset="0"/>
                <a:ea typeface="Times New Roman" panose="02020603050405020304" pitchFamily="18" charset="0"/>
              </a:rPr>
              <a:t>Wenming</a:t>
            </a:r>
            <a:r>
              <a:rPr lang="en-US" sz="1400" dirty="0">
                <a:solidFill>
                  <a:srgbClr val="000000"/>
                </a:solidFill>
                <a:effectLst/>
                <a:latin typeface="Arial" panose="020B0604020202020204" pitchFamily="34" charset="0"/>
                <a:ea typeface="Times New Roman" panose="02020603050405020304" pitchFamily="18" charset="0"/>
              </a:rPr>
              <a:t> Zheng: Multi-modal Speech Emotion Recognition via Feature Distribution Adaptation Network, 2024</a:t>
            </a:r>
          </a:p>
          <a:p>
            <a:pPr marL="0" marR="0" indent="0" algn="just">
              <a:lnSpc>
                <a:spcPct val="150000"/>
              </a:lnSpc>
              <a:spcBef>
                <a:spcPts val="0"/>
              </a:spcBef>
              <a:spcAft>
                <a:spcPts val="0"/>
              </a:spcAft>
              <a:buNone/>
            </a:pPr>
            <a:endParaRPr lang="en-US" sz="1400" dirty="0">
              <a:solidFill>
                <a:srgbClr val="000000"/>
              </a:solidFill>
              <a:effectLst/>
              <a:latin typeface="Arial" panose="020B0604020202020204" pitchFamily="34" charset="0"/>
              <a:ea typeface="Times New Roman" panose="02020603050405020304" pitchFamily="18" charset="0"/>
            </a:endParaRPr>
          </a:p>
          <a:p>
            <a:pPr marL="0" marR="0" indent="0" algn="just">
              <a:lnSpc>
                <a:spcPct val="15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 </a:t>
            </a:r>
          </a:p>
          <a:p>
            <a:pPr marL="114300" indent="0">
              <a:buNone/>
            </a:pPr>
            <a:endParaRPr lang="en-US" sz="1400" dirty="0">
              <a:solidFill>
                <a:srgbClr val="000000"/>
              </a:solidFill>
              <a:effectLst/>
              <a:latin typeface="Arial" panose="020B0604020202020204" pitchFamily="34" charset="0"/>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171450" indent="-171450">
              <a:buClr>
                <a:schemeClr val="dk1"/>
              </a:buClr>
              <a:buSzPts val="1100"/>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indent="0">
              <a:buClr>
                <a:schemeClr val="dk1"/>
              </a:buClr>
              <a:buSzPts val="1100"/>
              <a:buNone/>
            </a:pPr>
            <a:endParaRPr lang="en-GB" sz="1200" b="1" dirty="0">
              <a:latin typeface="Comfortaa"/>
              <a:ea typeface="Comfortaa"/>
              <a:cs typeface="Comfortaa"/>
              <a:sym typeface="Comfortaa"/>
            </a:endParaRPr>
          </a:p>
          <a:p>
            <a:pPr marL="0" lvl="0" indent="0" algn="l" rtl="0">
              <a:spcBef>
                <a:spcPts val="0"/>
              </a:spcBef>
              <a:spcAft>
                <a:spcPts val="1200"/>
              </a:spcAft>
              <a:buNone/>
            </a:pPr>
            <a:endParaRPr sz="1200" b="1" dirty="0">
              <a:latin typeface="Comfortaa"/>
              <a:ea typeface="Comfortaa"/>
              <a:cs typeface="Comfortaa"/>
              <a:sym typeface="Comfortaa"/>
            </a:endParaRPr>
          </a:p>
        </p:txBody>
      </p:sp>
      <p:sp>
        <p:nvSpPr>
          <p:cNvPr id="125" name="Google Shape;125;p19"/>
          <p:cNvSpPr txBox="1">
            <a:spLocks noGrp="1"/>
          </p:cNvSpPr>
          <p:nvPr>
            <p:ph type="subTitle" idx="4294967295"/>
          </p:nvPr>
        </p:nvSpPr>
        <p:spPr>
          <a:xfrm>
            <a:off x="2303100" y="-12"/>
            <a:ext cx="4537800" cy="53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latin typeface="Comfortaa"/>
                <a:ea typeface="Comfortaa"/>
                <a:cs typeface="Comfortaa"/>
                <a:sym typeface="Comfortaa"/>
              </a:rPr>
              <a:t>DEPARTMENT OF COMPUTER SCIENCE AND ENGINEERING</a:t>
            </a:r>
            <a:endParaRPr sz="1100" b="1">
              <a:latin typeface="Comfortaa"/>
              <a:ea typeface="Comfortaa"/>
              <a:cs typeface="Comfortaa"/>
              <a:sym typeface="Comfortaa"/>
            </a:endParaRPr>
          </a:p>
        </p:txBody>
      </p:sp>
      <p:sp>
        <p:nvSpPr>
          <p:cNvPr id="126" name="Google Shape;126;p19"/>
          <p:cNvSpPr txBox="1">
            <a:spLocks noGrp="1"/>
          </p:cNvSpPr>
          <p:nvPr>
            <p:ph type="subTitle" idx="4294967295"/>
          </p:nvPr>
        </p:nvSpPr>
        <p:spPr>
          <a:xfrm>
            <a:off x="8589000" y="4686600"/>
            <a:ext cx="555000" cy="456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GB" sz="1100" b="1" dirty="0">
                <a:latin typeface="Comfortaa"/>
                <a:ea typeface="Comfortaa"/>
                <a:cs typeface="Comfortaa"/>
                <a:sym typeface="Comfortaa"/>
              </a:rPr>
              <a:t>30</a:t>
            </a:r>
            <a:endParaRPr sz="1100" b="1" dirty="0">
              <a:latin typeface="Comfortaa"/>
              <a:ea typeface="Comfortaa"/>
              <a:cs typeface="Comfortaa"/>
              <a:sym typeface="Comfortaa"/>
            </a:endParaRPr>
          </a:p>
        </p:txBody>
      </p:sp>
      <p:sp>
        <p:nvSpPr>
          <p:cNvPr id="4" name="Google Shape;110;p18">
            <a:extLst>
              <a:ext uri="{FF2B5EF4-FFF2-40B4-BE49-F238E27FC236}">
                <a16:creationId xmlns:a16="http://schemas.microsoft.com/office/drawing/2014/main" id="{9473871B-A8B6-53D2-4DA9-666B586175DE}"/>
              </a:ext>
            </a:extLst>
          </p:cNvPr>
          <p:cNvSpPr txBox="1">
            <a:spLocks/>
          </p:cNvSpPr>
          <p:nvPr/>
        </p:nvSpPr>
        <p:spPr>
          <a:xfrm>
            <a:off x="2830025" y="4686600"/>
            <a:ext cx="3327000" cy="456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r>
              <a:rPr lang="en-IN" sz="600" dirty="0">
                <a:latin typeface="+mj-lt"/>
              </a:rPr>
              <a:t>Speech Emotion Recognition using</a:t>
            </a:r>
          </a:p>
          <a:p>
            <a:pPr marL="0" lvl="0" indent="0" algn="ctr" rtl="0">
              <a:spcBef>
                <a:spcPts val="0"/>
              </a:spcBef>
              <a:spcAft>
                <a:spcPts val="0"/>
              </a:spcAft>
              <a:buNone/>
            </a:pPr>
            <a:r>
              <a:rPr lang="en-IN" sz="600" dirty="0">
                <a:latin typeface="+mj-lt"/>
              </a:rPr>
              <a:t> Constant-Q Transform and RNN</a:t>
            </a:r>
            <a:endParaRPr lang="en-IN" sz="600" dirty="0">
              <a:latin typeface="+mj-lt"/>
              <a:ea typeface="Comfortaa"/>
              <a:cs typeface="Comfortaa"/>
              <a:sym typeface="Comfortaa"/>
            </a:endParaRPr>
          </a:p>
        </p:txBody>
      </p:sp>
      <p:pic>
        <p:nvPicPr>
          <p:cNvPr id="2" name="Google Shape;58;p13">
            <a:extLst>
              <a:ext uri="{FF2B5EF4-FFF2-40B4-BE49-F238E27FC236}">
                <a16:creationId xmlns:a16="http://schemas.microsoft.com/office/drawing/2014/main" id="{930A6D9C-A152-1563-5E82-7198C2B9D37C}"/>
              </a:ext>
            </a:extLst>
          </p:cNvPr>
          <p:cNvPicPr preferRelativeResize="0"/>
          <p:nvPr/>
        </p:nvPicPr>
        <p:blipFill>
          <a:blip r:embed="rId3">
            <a:alphaModFix/>
          </a:blip>
          <a:stretch>
            <a:fillRect/>
          </a:stretch>
        </p:blipFill>
        <p:spPr>
          <a:xfrm>
            <a:off x="6992250" y="267825"/>
            <a:ext cx="2073075" cy="535925"/>
          </a:xfrm>
          <a:prstGeom prst="rect">
            <a:avLst/>
          </a:prstGeom>
          <a:noFill/>
          <a:ln>
            <a:noFill/>
          </a:ln>
        </p:spPr>
      </p:pic>
    </p:spTree>
    <p:extLst>
      <p:ext uri="{BB962C8B-B14F-4D97-AF65-F5344CB8AC3E}">
        <p14:creationId xmlns:p14="http://schemas.microsoft.com/office/powerpoint/2010/main" val="72074254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1770</TotalTime>
  <Words>3103</Words>
  <Application>Microsoft Macintosh PowerPoint</Application>
  <PresentationFormat>On-screen Show (16:9)</PresentationFormat>
  <Paragraphs>527</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Comfortaa</vt:lpstr>
      <vt:lpstr>Times New Roman</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sallurox115@gmail.com</cp:lastModifiedBy>
  <cp:revision>74</cp:revision>
  <dcterms:modified xsi:type="dcterms:W3CDTF">2025-04-21T18:37:15Z</dcterms:modified>
</cp:coreProperties>
</file>